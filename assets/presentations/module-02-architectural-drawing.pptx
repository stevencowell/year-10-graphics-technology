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74fee7af014d41" /><Relationship Type="http://schemas.openxmlformats.org/officeDocument/2006/relationships/extended-properties" Target="/docProps/app.xml" Id="R97341deb678a4bae" /><Relationship Type="http://schemas.openxmlformats.org/officeDocument/2006/relationships/officeDocument" Target="/ppt/presentation.xml" Id="R9280b75f5598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01e2bcf42a4eca"/>
  </p:sldMasterIdLst>
  <p:notesMasterIdLst>
    <p:notesMasterId xmlns:r="http://schemas.openxmlformats.org/officeDocument/2006/relationships" r:id="Rc6616646b8654fdd"/>
  </p:notesMasterIdLst>
  <p:sldIdLst>
    <p:sldId xmlns:r="http://schemas.openxmlformats.org/officeDocument/2006/relationships" id="256" r:id="R2809592a22e047bf"/>
    <p:sldId xmlns:r="http://schemas.openxmlformats.org/officeDocument/2006/relationships" id="257" r:id="R72db10d009c84cda"/>
    <p:sldId xmlns:r="http://schemas.openxmlformats.org/officeDocument/2006/relationships" id="258" r:id="R7344d6bebb5e439a"/>
    <p:sldId xmlns:r="http://schemas.openxmlformats.org/officeDocument/2006/relationships" id="259" r:id="R7e1295500c2e4e7b"/>
    <p:sldId xmlns:r="http://schemas.openxmlformats.org/officeDocument/2006/relationships" id="260" r:id="Rb7e0399e2a0346c6"/>
    <p:sldId xmlns:r="http://schemas.openxmlformats.org/officeDocument/2006/relationships" id="261" r:id="R55cdf63a5f0d404b"/>
    <p:sldId xmlns:r="http://schemas.openxmlformats.org/officeDocument/2006/relationships" id="262" r:id="Rf1ef6914ea324e74"/>
    <p:sldId xmlns:r="http://schemas.openxmlformats.org/officeDocument/2006/relationships" id="263" r:id="Reb08f1a5b7d1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7e7fa84c304e7c" /><Relationship Type="http://schemas.openxmlformats.org/officeDocument/2006/relationships/slideMaster" Target="/ppt/slideMasters/slideMaster1.xml" Id="R6701e2bcf42a4eca" /><Relationship Type="http://schemas.openxmlformats.org/officeDocument/2006/relationships/notesMaster" Target="/ppt/notesMasters/notesMaster1.xml" Id="Rc6616646b8654fdd" /><Relationship Type="http://schemas.openxmlformats.org/officeDocument/2006/relationships/presProps" Target="/ppt/presProps.xml" Id="Ra58bd14ab53749bd" /><Relationship Type="http://schemas.openxmlformats.org/officeDocument/2006/relationships/tableStyles" Target="/ppt/tableStyles.xml" Id="R250dc8b58e18425c" /><Relationship Type="http://schemas.openxmlformats.org/officeDocument/2006/relationships/slide" Target="/ppt/slides/slide1.xml" Id="R2809592a22e047bf" /><Relationship Type="http://schemas.openxmlformats.org/officeDocument/2006/relationships/slide" Target="/ppt/slides/slide2.xml" Id="R72db10d009c84cda" /><Relationship Type="http://schemas.openxmlformats.org/officeDocument/2006/relationships/slide" Target="/ppt/slides/slide3.xml" Id="R7344d6bebb5e439a" /><Relationship Type="http://schemas.openxmlformats.org/officeDocument/2006/relationships/slide" Target="/ppt/slides/slide4.xml" Id="R7e1295500c2e4e7b" /><Relationship Type="http://schemas.openxmlformats.org/officeDocument/2006/relationships/slide" Target="/ppt/slides/slide5.xml" Id="Rb7e0399e2a0346c6" /><Relationship Type="http://schemas.openxmlformats.org/officeDocument/2006/relationships/slide" Target="/ppt/slides/slide6.xml" Id="R55cdf63a5f0d404b" /><Relationship Type="http://schemas.openxmlformats.org/officeDocument/2006/relationships/slide" Target="/ppt/slides/slide7.xml" Id="Rf1ef6914ea324e74" /><Relationship Type="http://schemas.openxmlformats.org/officeDocument/2006/relationships/slide" Target="/ppt/slides/slide8.xml" Id="Reb08f1a5b7d1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35bcd07064b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76fc1cec440f9" /><Relationship Type="http://schemas.openxmlformats.org/officeDocument/2006/relationships/notesMaster" Target="/ppt/notesMasters/notesMaster1.xml" Id="Rc765110886c1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6c80259db47b1" /><Relationship Type="http://schemas.openxmlformats.org/officeDocument/2006/relationships/notesMaster" Target="/ppt/notesMasters/notesMaster1.xml" Id="R46d9a04cc6ed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15628c78d4c20" /><Relationship Type="http://schemas.openxmlformats.org/officeDocument/2006/relationships/notesMaster" Target="/ppt/notesMasters/notesMaster1.xml" Id="Red961f57757c40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683bdbfe24fc8" /><Relationship Type="http://schemas.openxmlformats.org/officeDocument/2006/relationships/notesMaster" Target="/ppt/notesMasters/notesMaster1.xml" Id="Rc7d4e6cfbcff47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02e468a47436b" /><Relationship Type="http://schemas.openxmlformats.org/officeDocument/2006/relationships/notesMaster" Target="/ppt/notesMasters/notesMaster1.xml" Id="R1a9ec29c6d0d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228178e99144e5" /><Relationship Type="http://schemas.openxmlformats.org/officeDocument/2006/relationships/notesMaster" Target="/ppt/notesMasters/notesMaster1.xml" Id="R4ae2de76938b46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a0d0d665d94fe0" /><Relationship Type="http://schemas.openxmlformats.org/officeDocument/2006/relationships/notesMaster" Target="/ppt/notesMasters/notesMaster1.xml" Id="R5c7c7f651821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d88599ebbf4f22" /><Relationship Type="http://schemas.openxmlformats.org/officeDocument/2006/relationships/notesMaster" Target="/ppt/notesMasters/notesMaster1.xml" Id="Rbf32a8ddebee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Establish the module as a connected communication problem, not three isolated topics.</a:t>
            </a:r>
          </a:p>
          <a:p xmlns:a="http://schemas.openxmlformats.org/drawingml/2006/main">
            <a:r>
              <a:t>- Read the outcome aloud and ask students to identify the decision word in each sentence.</a:t>
            </a:r>
          </a:p>
          <a:p xmlns:a="http://schemas.openxmlformats.org/drawingml/2006/main">
            <a:r>
              <a:t>Likely misconception: A polished image is enough evidence of successful graphical communication.</a:t>
            </a:r>
          </a:p>
          <a:p xmlns:a="http://schemas.openxmlformats.org/drawingml/2006/main">
            <a:r>
              <a:t>Prompt: What must a viewer understand or decide because of your graphic?</a:t>
            </a:r>
          </a:p>
          <a:p xmlns:a="http://schemas.openxmlformats.org/drawingml/2006/main">
            <a:r>
              <a:t>Transition: Map the three ideas that will build this outcome.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classroom-topic-sequence-2026-08-30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graphics-technology-syllabus-2019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Name the three sections exactly as they appear on the course site.</a:t>
            </a:r>
          </a:p>
          <a:p xmlns:a="http://schemas.openxmlformats.org/drawingml/2006/main">
            <a:r>
              <a:t>- Ask for one predicted connection before teaching the detail.</a:t>
            </a:r>
          </a:p>
          <a:p xmlns:a="http://schemas.openxmlformats.org/drawingml/2006/main">
            <a:r>
              <a:t>Likely misconception: The three topics can be completed independently without cross-checking.</a:t>
            </a:r>
          </a:p>
          <a:p xmlns:a="http://schemas.openxmlformats.org/drawingml/2006/main">
            <a:r>
              <a:t>Prompt: Which connection on this pathway seems most important, and why?</a:t>
            </a:r>
          </a:p>
          <a:p xmlns:a="http://schemas.openxmlformats.org/drawingml/2006/main">
            <a:r>
              <a:t>Transition: Move from the pathway into the first precise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classroom-topic-sequence-2026-08-30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graphics-technology-syllabus-2019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Describe what students are looking at before interpreting it.</a:t>
            </a:r>
          </a:p>
          <a:p xmlns:a="http://schemas.openxmlformats.org/drawingml/2006/main">
            <a:r>
              <a:t>- Point to the exact feature named in the caption.</a:t>
            </a:r>
          </a:p>
          <a:p xmlns:a="http://schemas.openxmlformats.org/drawingml/2006/main">
            <a:r>
              <a:t>- Require a decision or explanation, not a description alone.</a:t>
            </a:r>
          </a:p>
          <a:p xmlns:a="http://schemas.openxmlformats.org/drawingml/2006/main">
            <a:r>
              <a:t>Likely misconception: The visual convention or view is meaningful without context.</a:t>
            </a:r>
          </a:p>
          <a:p xmlns:a="http://schemas.openxmlformats.org/drawingml/2006/main">
            <a:r>
              <a:t>Prompt: Trace → Follow one movement path through the plan. What relationship helps or hinders the intended use?</a:t>
            </a:r>
          </a:p>
          <a:p xmlns:a="http://schemas.openxmlformats.org/drawingml/2006/main">
            <a:r>
              <a:t>Transition: Connect this decision to coordinated views describe one proposal from different directions.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stage-08-m02s01-spatial-zones-v2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NESA Graphics Technology 7–10 (2019)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Orient students to the enlarged complete elevation before asking them to compare it.</a:t>
            </a:r>
          </a:p>
          <a:p xmlns:a="http://schemas.openxmlformats.org/drawingml/2006/main">
            <a:r>
              <a:t>- Point to one opening and the ground line as cross-view reference features.</a:t>
            </a:r>
          </a:p>
          <a:p xmlns:a="http://schemas.openxmlformats.org/drawingml/2006/main">
            <a:r>
              <a:t>- Open the complete source drawing when another elevation is required.</a:t>
            </a:r>
          </a:p>
          <a:p xmlns:a="http://schemas.openxmlformats.org/drawingml/2006/main">
            <a:r>
              <a:t>Likely misconception: The drawing software coordinates every view automatically.</a:t>
            </a:r>
          </a:p>
          <a:p xmlns:a="http://schemas.openxmlformats.org/drawingml/2006/main">
            <a:r>
              <a:t>Prompt: Cross-check → Which feature should appear consistently in both this elevation and the related plan?</a:t>
            </a:r>
          </a:p>
          <a:p xmlns:a="http://schemas.openxmlformats.org/drawingml/2006/main">
            <a:r>
              <a:t>Transition: Connect this cross-check to sustainability claims need evidence and coordinated professional input.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Autodesk AutoCAD foundations and layers</a:t>
            </a:r>
          </a:p>
          <a:p xmlns:a="http://schemas.openxmlformats.org/drawingml/2006/main">
            <a:r>
              <a:t>- NESA Graphics Technology 7–10 (2019)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Describe what students are looking at before interpreting it.</a:t>
            </a:r>
          </a:p>
          <a:p xmlns:a="http://schemas.openxmlformats.org/drawingml/2006/main">
            <a:r>
              <a:t>- Point to the exact feature named in the caption.</a:t>
            </a:r>
          </a:p>
          <a:p xmlns:a="http://schemas.openxmlformats.org/drawingml/2006/main">
            <a:r>
              <a:t>- Require a decision or explanation, not a description alone.</a:t>
            </a:r>
          </a:p>
          <a:p xmlns:a="http://schemas.openxmlformats.org/drawingml/2006/main">
            <a:r>
              <a:t>Likely misconception: A polished output proves that every criterion, right or real-world condition is resolved.</a:t>
            </a:r>
          </a:p>
          <a:p xmlns:a="http://schemas.openxmlformats.org/drawingml/2006/main">
            <a:r>
              <a:t>Prompt: Evaluate → What site or drawing evidence would you need before defending one sustainability claim?</a:t>
            </a:r>
          </a:p>
          <a:p xmlns:a="http://schemas.openxmlformats.org/drawingml/2006/main">
            <a:r>
              <a:t>Transition: Retrieve across all three taught ideas.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stage-08-m02s03-sustainable-context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NSW Planning Portal BASIX</a:t>
            </a:r>
          </a:p>
          <a:p xmlns:a="http://schemas.openxmlformats.org/drawingml/2006/main">
            <a:r>
              <a:t>- National Construction Code</a:t>
            </a:r>
          </a:p>
          <a:p xmlns:a="http://schemas.openxmlformats.org/drawingml/2006/main">
            <a:r>
              <a:t>- NESA Graphics Technology 7–10 (2019)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Give silent retrieval time before discussion.</a:t>
            </a:r>
          </a:p>
          <a:p xmlns:a="http://schemas.openxmlformats.org/drawingml/2006/main">
            <a:r>
              <a:t>- Ask students to point back to the visual or explanation that supports each answer.</a:t>
            </a:r>
          </a:p>
          <a:p xmlns:a="http://schemas.openxmlformats.org/drawingml/2006/main">
            <a:r>
              <a:t>- Correct the reasoning, not only the missing term.</a:t>
            </a:r>
          </a:p>
          <a:p xmlns:a="http://schemas.openxmlformats.org/drawingml/2006/main">
            <a:r>
              <a:t>Likely misconception: Recognition after re-reading is the same as retrieval from memory.</a:t>
            </a:r>
          </a:p>
          <a:p xmlns:a="http://schemas.openxmlformats.org/drawingml/2006/main">
            <a:r>
              <a:t>Prompt: Which answer can you support most confidently, and what evidence supports it?</a:t>
            </a:r>
          </a:p>
          <a:p xmlns:a="http://schemas.openxmlformats.org/drawingml/2006/main">
            <a:r>
              <a:t>Transition: Use one retrieved idea to construct a durable folio response.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classroom-topic-sequence-2026-08-30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graphics-technology-syllabus-2019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Model the four moves with one familiar example.</a:t>
            </a:r>
          </a:p>
          <a:p xmlns:a="http://schemas.openxmlformats.org/drawingml/2006/main">
            <a:r>
              <a:t>- Keep the explanation tied to a visible artifact or decision.</a:t>
            </a:r>
          </a:p>
          <a:p xmlns:a="http://schemas.openxmlformats.org/drawingml/2006/main">
            <a:r>
              <a:t>- Make the final check explicit: what does this evidence not prove?</a:t>
            </a:r>
          </a:p>
          <a:p xmlns:a="http://schemas.openxmlformats.org/drawingml/2006/main">
            <a:r>
              <a:t>Likely misconception: A long description automatically counts as strong evidence.</a:t>
            </a:r>
          </a:p>
          <a:p xmlns:a="http://schemas.openxmlformats.org/drawingml/2006/main">
            <a:r>
              <a:t>Prompt: Which selected artifact gives you the clearest because statement?</a:t>
            </a:r>
          </a:p>
          <a:p xmlns:a="http://schemas.openxmlformats.org/drawingml/2006/main">
            <a:r>
              <a:t>Transition: Close with a small exit ticket and an exact saving action.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classroom-topic-sequence-2026-08-30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graphics-technology-syllabus-2019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Collect one response for each numbered line.</a:t>
            </a:r>
          </a:p>
          <a:p xmlns:a="http://schemas.openxmlformats.org/drawingml/2006/main">
            <a:r>
              <a:t>- Remind students that the folio holds selected evidence, not every quiz answer.</a:t>
            </a:r>
          </a:p>
          <a:p xmlns:a="http://schemas.openxmlformats.org/drawingml/2006/main">
            <a:r>
              <a:t>- Point students to the matching section package and the exact folio route.</a:t>
            </a:r>
          </a:p>
          <a:p xmlns:a="http://schemas.openxmlformats.org/drawingml/2006/main">
            <a:r>
              <a:t>Likely misconception: Saving more files is automatically stronger evidence.</a:t>
            </a:r>
          </a:p>
          <a:p xmlns:a="http://schemas.openxmlformats.org/drawingml/2006/main">
            <a:r>
              <a:t>Prompt: What single artifact best demonstrates today’s decision or learning?</a:t>
            </a:r>
          </a:p>
          <a:p xmlns:a="http://schemas.openxmlformats.org/drawingml/2006/main">
            <a:r>
              <a:t>Transition: Students move to the matching course section and My folio.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classroom-topic-sequence-2026-08-30</a:t>
            </a:r>
          </a:p>
          <a:p xmlns:a="http://schemas.openxmlformats.org/drawingml/2006/main">
            <a:r>
              <a:t>- t2-assessment-architectural-drawing-2025</a:t>
            </a:r>
          </a:p>
          <a:p xmlns:a="http://schemas.openxmlformats.org/drawingml/2006/main">
            <a:r>
              <a:t>- autocad-floorplan-guide</a:t>
            </a:r>
          </a:p>
          <a:p xmlns:a="http://schemas.openxmlformats.org/drawingml/2006/main">
            <a:r>
              <a:t>- teacher-source-drawing-set</a:t>
            </a:r>
          </a:p>
          <a:p xmlns:a="http://schemas.openxmlformats.org/drawingml/2006/main">
            <a:r>
              <a:t>- graphics-technology-syllabus-2019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0b8e2f1ed48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b6ae9f5c64f79" /><Relationship Type="http://schemas.openxmlformats.org/officeDocument/2006/relationships/slideLayout" Target="/ppt/slideLayouts/slideLayout1.xml" Id="R8c8fb9f9e0704a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fb9f9e0704a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1a04edf2e4c90" /><Relationship Type="http://schemas.openxmlformats.org/officeDocument/2006/relationships/image" Target="/ppt/media/image.bin" Id="Rcb390189e27446bd" /><Relationship Type="http://schemas.openxmlformats.org/officeDocument/2006/relationships/notesSlide" Target="/ppt/notesSlides/notesSlide1.xml" Id="R43d7617ab22b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b66a2825e497c" /><Relationship Type="http://schemas.openxmlformats.org/officeDocument/2006/relationships/notesSlide" Target="/ppt/notesSlides/notesSlide2.xml" Id="R28d8f4a001e5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26e3206864dd5" /><Relationship Type="http://schemas.openxmlformats.org/officeDocument/2006/relationships/image" Target="/ppt/media/image.png" Id="R109180a24a3343e2" /><Relationship Type="http://schemas.openxmlformats.org/officeDocument/2006/relationships/notesSlide" Target="/ppt/notesSlides/notesSlide3.xml" Id="Rf304082cbdee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5bbfe4b045ba" /><Relationship Type="http://schemas.openxmlformats.org/officeDocument/2006/relationships/image" Target="/ppt/media/image2.bin" Id="R631e43b4d2c34b8b" /><Relationship Type="http://schemas.openxmlformats.org/officeDocument/2006/relationships/notesSlide" Target="/ppt/notesSlides/notesSlide4.xml" Id="R26ce3661ce37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0ab10c51d4c66" /><Relationship Type="http://schemas.openxmlformats.org/officeDocument/2006/relationships/image" Target="/ppt/media/image2.png" Id="Rbe3500f963df47ab" /><Relationship Type="http://schemas.openxmlformats.org/officeDocument/2006/relationships/notesSlide" Target="/ppt/notesSlides/notesSlide5.xml" Id="Rdebad9493e6843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f87083abc48aa" /><Relationship Type="http://schemas.openxmlformats.org/officeDocument/2006/relationships/notesSlide" Target="/ppt/notesSlides/notesSlide6.xml" Id="R7d4739c888114d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d2aacf78f4bc7" /><Relationship Type="http://schemas.openxmlformats.org/officeDocument/2006/relationships/notesSlide" Target="/ppt/notesSlides/notesSlide7.xml" Id="R19c1f9f980e54d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3586bbc1e42d6" /><Relationship Type="http://schemas.openxmlformats.org/officeDocument/2006/relationships/notesSlide" Target="/ppt/notesSlides/notesSlide8.xml" Id="R0a24051cb28444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90189e27446bd"/>
          <a:srcRect xmlns:a="http://schemas.openxmlformats.org/drawingml/2006/main" l="0" t="5040" r="0" b="5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0"/>
            <a:ext cx="53911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2D1D3-5131-4098-AE3D-58BC323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BD87-5A16-4910-B535-F89A8BD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MODULE 2</a:t>
            </a:r>
          </a:p>
        </p:txBody>
      </p:sp>
      <p:sp>
        <p:nvSpPr>
          <p:cNvPr id="4" name="m2-title">
            <a:extLst xmlns:a="http://schemas.openxmlformats.org/drawingml/2006/main">
              <a:ext uri="{FF2B5EF4-FFF2-40B4-BE49-F238E27FC236}">
                <a16:creationId xmlns:a16="http://schemas.microsoft.com/office/drawing/2014/main" id="{44826D32-CFE0-45EB-B220-5C2A649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429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B1118"/>
                </a:solidFill>
              </a:defRPr>
            </a:pPr>
            <a:r>
              <a:rPr sz="4050" b="1">
                <a:solidFill>
                  <a:srgbClr val="3B1118"/>
                </a:solidFill>
              </a:rPr>
              <a:t>Architectural Drawing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90589-8CBF-4FF1-9B1C-7AA8B63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1351-782F-4896-BA96-49B5CD0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5171A"/>
                </a:solidFill>
              </a:defRPr>
            </a:pPr>
            <a:r>
              <a:rPr sz="1800">
                <a:solidFill>
                  <a:srgbClr val="25171A"/>
                </a:solidFill>
              </a:rPr>
              <a:t>Read spatial needs, coordinate architectural views and use evidence to explain sustainable, professional design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2A79C-F2E7-4AA7-9479-84989E41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85B"/>
                </a:solidFill>
              </a:defRPr>
            </a:pPr>
            <a:r>
              <a:rPr sz="1275" b="1">
                <a:solidFill>
                  <a:srgbClr val="66585B"/>
                </a:solidFill>
              </a:rPr>
              <a:t>Read the visuals. Explain the decision. Save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84824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D27C0-E9BE-4E2E-8FEB-E3712BA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B1118"/>
                </a:solidFill>
              </a:defRPr>
            </a:pPr>
            <a:r>
              <a:rPr sz="2850" b="1">
                <a:solidFill>
                  <a:srgbClr val="3B1118"/>
                </a:solidFill>
              </a:rPr>
              <a:t>Three ideas build one communication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EE3B7-7BC4-4666-89D8-2AD3396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585B"/>
                </a:solidFill>
              </a:defRPr>
            </a:pPr>
            <a:r>
              <a:rPr sz="1500">
                <a:solidFill>
                  <a:srgbClr val="66585B"/>
                </a:solidFill>
              </a:rPr>
              <a:t>Keep this sequence in mind: understand the context, make a controlled representation, then justify what the evidence means.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7A84C-B175-4376-9D22-CDEE2B5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977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A5AA-334D-491A-96DC-E9742D7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71100-7975-44D0-B262-89AD0ED0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37AED-7410-4D82-ACB4-E8C7A7C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Spatial planning and architectural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A2D6-5CF6-4C58-9CA5-AB5DB90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44A83-2BC8-46AD-AFD1-E688ED5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1EF94-2F14-497E-8589-5AAD3FEE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CAD drafting, drawing views and conventions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CCAE9-BF6F-4D13-A49E-EC868E1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92EE4-42DC-4D25-BEC1-AE5EF36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2802F-83B8-4365-8891-E858DAE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Sustainability, building context and professional 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4736F-B77B-409C-91D6-4BC480A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2433"/>
                </a:solidFill>
              </a:defRPr>
            </a:pPr>
            <a:r>
              <a:rPr sz="1500" b="1">
                <a:solidFill>
                  <a:srgbClr val="8B2433"/>
                </a:solidFill>
              </a:rPr>
              <a:t>Retrieval prompt  •  Which idea depends most on the one before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B771E-D1C4-4D9A-83B9-1091BF2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D98F-16AF-4DCF-A0D6-60947BD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FC31C-B407-4E49-81D8-21B7B3D2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8357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180a24a3343e2"/>
          <a:stretch xmlns:a="http://schemas.openxmlformats.org/drawingml/2006/main"/>
        </p:blipFill>
        <p:spPr>
          <a:xfrm xmlns:a="http://schemas.openxmlformats.org/drawingml/2006/main">
            <a:off x="685800" y="1878160"/>
            <a:ext cx="4953000" cy="2834980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5C805-322B-4F5F-BF31-0C318BE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4038600"/>
          </a:xfrm>
          <a:prstGeom xmlns:a="http://schemas.openxmlformats.org/drawingml/2006/main" prst="roundRect">
            <a:avLst>
              <a:gd name="adj" fmla="val 28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4F55-DDA5-4EEB-A1E9-787FDBE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B1118"/>
                </a:solidFill>
              </a:defRPr>
            </a:pPr>
            <a:r>
              <a:rPr sz="2700" b="1">
                <a:solidFill>
                  <a:srgbClr val="3B1118"/>
                </a:solidFill>
              </a:rPr>
              <a:t>A plan translates activities into relationships between 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A057F-98E4-45A9-ACDF-DF6A33F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410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171A"/>
                </a:solidFill>
              </a:defRPr>
            </a:pPr>
            <a:r>
              <a:rPr sz="1500">
                <a:solidFill>
                  <a:srgbClr val="25171A"/>
                </a:solidFill>
              </a:rPr>
              <a:t>Spatial planning begins with people, activities, movement and connections. A room list is not yet a plan. Adjacency, circulation, privacy, orientation and access must work together. Research is useful when it reveals a principle you can test against the brief; copying a famous building or a convenient floor plan does not prove suitability.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F2CD9-A3C7-4089-BB7F-AF0DB96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AAF21-E004-42A0-A642-3EFBAC1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41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B2433"/>
                </a:solidFill>
              </a:defRPr>
            </a:pPr>
            <a:r>
              <a:rPr sz="1575" b="1">
                <a:solidFill>
                  <a:srgbClr val="8B2433"/>
                </a:solidFill>
              </a:rPr>
              <a:t>Trace → Follow one movement path through the plan. What relationship helps or hinders the intended use?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89806-FBD1-4ECE-8CB4-4F45DD2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85B"/>
                </a:solidFill>
              </a:defRPr>
            </a:pPr>
            <a:r>
              <a:rPr sz="1200">
                <a:solidFill>
                  <a:srgbClr val="66585B"/>
                </a:solidFill>
              </a:rPr>
              <a:t>Trace the arrows through the zoned sketch. Notice how adjacency and circulation turn a room list into connected spatial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677BB-BF30-44EC-AAE8-7391A7F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3154-298F-4C89-B909-F45AE41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35B10-CB3D-41EC-85D2-8A180F2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949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CE08-6C63-4607-8A35-BD3BC84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B1118"/>
                </a:solidFill>
              </a:defRPr>
            </a:pPr>
            <a:r>
              <a:rPr sz="2700" b="1">
                <a:solidFill>
                  <a:srgbClr val="3B1118"/>
                </a:solidFill>
              </a:rPr>
              <a:t>Coordinated views describe one proposal from different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23DED-14CA-45FD-850A-35C5371F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00150"/>
            <a:ext cx="9715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e43b4d2c34b8b"/>
          <a:srcRect xmlns:a="http://schemas.openxmlformats.org/drawingml/2006/main" l="0" t="37526" r="0" b="37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1238250" y="1200150"/>
            <a:ext cx="9715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84867-9493-4F2D-8912-60FBE5A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171A"/>
                </a:solidFill>
              </a:defRPr>
            </a:pPr>
            <a:r>
              <a:rPr sz="1275">
                <a:solidFill>
                  <a:srgbClr val="25171A"/>
                </a:solidFill>
              </a:rPr>
              <a:t>Each view answers a different question about the same proposal. A change in one view creates a checking job across the others before the set can be trusted.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FAC19-B7AE-4BB2-9AF6-DF5ED91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B2433"/>
                </a:solidFill>
              </a:defRPr>
            </a:pPr>
            <a:r>
              <a:rPr sz="1425" b="1">
                <a:solidFill>
                  <a:srgbClr val="8B2433"/>
                </a:solidFill>
              </a:rPr>
              <a:t>Cross-check → Which feature should appear consistently in both this elevation and the related plan?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B485-2808-473D-9A92-2385179C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585B"/>
                </a:solidFill>
              </a:defRPr>
            </a:pPr>
            <a:r>
              <a:rPr sz="1050">
                <a:solidFill>
                  <a:srgbClr val="66585B"/>
                </a:solidFill>
              </a:rPr>
              <a:t>The West elevation is enlarged for projection. Compare its openings and ground line with the matching plan; open the full drawing set for the other views.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2ACF6-67B1-41F8-81F5-CAB39DF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01E57-72FF-49EB-8C25-B0FA2A2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C9394-69A6-454C-9A33-7A565C5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3589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500f963df47ab"/>
          <a:srcRect xmlns:a="http://schemas.openxmlformats.org/drawingml/2006/main" l="0" t="30078" r="0" b="30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238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3EF01-04FE-47A6-8727-642716F9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28950"/>
            <a:ext cx="12192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7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EDAB9-DF12-42DD-BFE2-BEDC2C1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Sustainability claims need evidence and coordinated professional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1B85-B174-4BE1-BDC2-5CE9BF6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838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7EDEF"/>
                </a:solidFill>
              </a:defRPr>
            </a:pPr>
            <a:r>
              <a:rPr sz="1425">
                <a:solidFill>
                  <a:srgbClr val="F7EDEF"/>
                </a:solidFill>
              </a:rPr>
              <a:t>Orientation, site conditions, daylight, ventilation, water, materials and energy use can shape a proposal, but none should be claimed from appearance alone. Different professionals supply different evidence. BASIX and the NCC provide context; they do not turn a school concept into an approved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9D98-D0AB-4FF4-8E6B-CE1C8B6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543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8DF"/>
                </a:solidFill>
              </a:defRPr>
            </a:pPr>
            <a:r>
              <a:rPr sz="1575" b="1">
                <a:solidFill>
                  <a:srgbClr val="FFD8DF"/>
                </a:solidFill>
              </a:rPr>
              <a:t>Evaluate → What site or drawing evidence would you need before defending one sustainability claim?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B9E3-F723-4AA3-9C0E-337600E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673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C9CC"/>
                </a:solidFill>
              </a:defRPr>
            </a:pPr>
            <a:r>
              <a:rPr sz="1200">
                <a:solidFill>
                  <a:srgbClr val="D7C9CC"/>
                </a:solidFill>
              </a:rPr>
              <a:t>Visible features suggest questions to investigate; they do not prove performance. Name the drawing, calculation or professional evidence needed for one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22C0B-0D7A-4E19-B26D-AAA35AE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CB11-6888-4506-B280-12E9E41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427DE-CF37-42E6-A2CA-06FF64E0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0288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94345-76F1-47B2-B4A4-966C43B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Retrieve before you look 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F1823-D8BF-4BAA-9626-1905A7F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1D8DE"/>
                </a:solidFill>
              </a:defRPr>
            </a:pPr>
            <a:r>
              <a:rPr sz="1500">
                <a:solidFill>
                  <a:srgbClr val="F1D8DE"/>
                </a:solidFill>
              </a:rPr>
              <a:t>Answer in a phrase first. Then add the because.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9A7F-1F5D-43AE-B692-5918EE7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E30B3-1B07-444D-A0BA-6C3A70A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Why is a list of rooms not yet a spatial plan?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F104-994F-4204-B2B5-06F9718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B55E-4C7D-47D3-8986-2EBEB4C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What different question does a section answer compared with a floor plan?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E365B-3A0C-4623-97AE-BBF7A9A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1D6A-A94E-4B54-BC9A-467BDB39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How can one CAD change create a coordination problem?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3B130-C2A4-44B8-9347-CD7E4DA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8C952-B25D-4789-A68E-DEE0A6A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01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What evidence would make a sustainability claim more credible?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C7A05-95D8-4CD6-93A6-CD34BA79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902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A9B8"/>
                </a:solidFill>
              </a:defRPr>
            </a:pPr>
            <a:r>
              <a:rPr sz="1350" b="1">
                <a:solidFill>
                  <a:srgbClr val="F4A9B8"/>
                </a:solidFill>
              </a:rPr>
              <a:t>Check: can your partner point to the slide evidence that supports the answer?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2EAAE-A1BA-4A50-912B-59C1AF4E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DAF4A-549B-45FC-9AB2-9C878B5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14E99-ED01-4075-88D5-D30D2E0C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3519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B7B38-EFB2-4E85-9114-DECBDDB5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B1118"/>
                </a:solidFill>
              </a:defRPr>
            </a:pPr>
            <a:r>
              <a:rPr sz="2850" b="1">
                <a:solidFill>
                  <a:srgbClr val="3B1118"/>
                </a:solidFill>
              </a:rPr>
              <a:t>Build evidence: Read → Select → Explain →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53B5-AB43-4A63-8411-7345464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44E-EFE5-40B8-A7E8-DEDC66C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471D-67C8-4FE4-A34D-425688E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Name the brief, source or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2EDB5-E00F-4087-B3D3-2F8E82F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26945-D736-48F2-B39E-733402E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9B6D8-E0D1-4F5A-85AD-AC07AC5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SELECT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9F120-BB7B-4663-87B5-AB8ABE9C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Choose one drawing, image or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D421C-1836-4F29-A52B-DF2BE6F5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277FC-1F9C-43EB-B987-8BF6260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8B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C5158-6563-4785-9AB8-6F83B76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7ADEF-90C1-4BF3-B06C-8DE9224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State what it proves and why it matters.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05246-9A9E-4D2F-817E-0E59BD5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642BE-A821-4364-BE86-34882E0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5553-54B3-4429-9474-49FB0AA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340C1-B7FD-4C8E-B631-6A5A99EF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Limit the claim to the actual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41119-2EF4-4547-97BD-EDA80452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96774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B1911-D082-4B49-B237-1BCC258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A9B8"/>
                </a:solidFill>
              </a:defRPr>
            </a:pPr>
            <a:r>
              <a:rPr sz="1350" b="1">
                <a:solidFill>
                  <a:srgbClr val="F4A9B8"/>
                </a:solidFill>
              </a:rPr>
              <a:t>Sentence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536FD-B912-41E6-A3E4-8AC0165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drawing relationship I checked was ___ across ___. It matters because ___. The evidence supports ___, but it does not yet prove ___.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F4CC6-081B-4106-846F-17D6BA51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2FA12-04DD-45D9-80CE-3E6AEE77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42FEA-41B5-43E5-BD5F-67CFE574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3289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E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BA005-E0A2-483B-9C26-F50D269E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81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F3719-42A8-4163-B7C4-7F15BAB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D8DF"/>
                </a:solidFill>
              </a:defRPr>
            </a:pPr>
            <a:r>
              <a:rPr sz="1275" b="1">
                <a:solidFill>
                  <a:srgbClr val="FFD8DF"/>
                </a:solidFill>
              </a:rPr>
              <a:t>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5495B-C333-44DE-B935-95B1DF8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080E-46F6-4DD4-8034-3E3E790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05142-8BFE-4AA7-BDB2-B80C0AD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9715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1  One idea I can now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D5B50-AA24-421C-83A7-8E50858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478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2  One visual feature or relationship I can point 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FFB5-13EA-4FB9-A443-663B405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3  One claim I must keep within the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A26C4-A5A8-431D-9728-F60A1C7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75057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BEFCE-2F0B-4C4F-9954-6E9ED564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SAVE TO MY 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0B3D-1C09-4C7E-9CA8-E954A41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67250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171A"/>
                </a:solidFill>
              </a:defRPr>
            </a:pPr>
            <a:r>
              <a:rPr sz="1500">
                <a:solidFill>
                  <a:srgbClr val="25171A"/>
                </a:solidFill>
              </a:rPr>
              <a:t>One dated drawing, process image or decision record; a caption explaining what it proves; and your reasoned reflection.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F8002-88FF-47B7-AC83-E0C513C6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91200"/>
            <a:ext cx="750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85B"/>
                </a:solidFill>
              </a:defRPr>
            </a:pPr>
            <a:r>
              <a:rPr sz="1350" b="1">
                <a:solidFill>
                  <a:srgbClr val="66585B"/>
                </a:solidFill>
              </a:rPr>
              <a:t>Next: open the matching section package for feedback, then save the stronger response—not every draft.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A281A-399D-426B-A922-627C2A9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01553-1606-4880-8D96-E3DE1D1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10 GRAPHICS  • 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885A6-9897-4CAE-8795-1BE7079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9387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2026-08-30T01:40:57.8160000Z</dcterms:created>
  <dcterms:modified xsi:type="dcterms:W3CDTF">2026-08-30T01:40:57.8160000Z</dcterms:modified>
</coreProperties>
</file>