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122e201b7214f30" /><Relationship Type="http://schemas.openxmlformats.org/officeDocument/2006/relationships/extended-properties" Target="/docProps/app.xml" Id="Rb81f2dd5845d4419" /><Relationship Type="http://schemas.openxmlformats.org/officeDocument/2006/relationships/officeDocument" Target="/ppt/presentation.xml" Id="R1e0b1f187f254717" /></Relationships>
</file>

<file path=ppt/presentation.xml><?xml version="1.0" encoding="utf-8"?>
<p:presentation xmlns:p="http://schemas.openxmlformats.org/presentationml/2006/main">
  <p:sldMasterIdLst>
    <p:sldMasterId xmlns:r="http://schemas.openxmlformats.org/officeDocument/2006/relationships" id="2147483648" r:id="Rb43fae45879541b6"/>
  </p:sldMasterIdLst>
  <p:notesMasterIdLst>
    <p:notesMasterId xmlns:r="http://schemas.openxmlformats.org/officeDocument/2006/relationships" r:id="R2273dd37b08548f0"/>
  </p:notesMasterIdLst>
  <p:sldIdLst>
    <p:sldId xmlns:r="http://schemas.openxmlformats.org/officeDocument/2006/relationships" id="256" r:id="Ra9f0fa75b12544ea"/>
    <p:sldId xmlns:r="http://schemas.openxmlformats.org/officeDocument/2006/relationships" id="257" r:id="Rd28c4953808a4093"/>
    <p:sldId xmlns:r="http://schemas.openxmlformats.org/officeDocument/2006/relationships" id="258" r:id="R79af0e4ec8644358"/>
    <p:sldId xmlns:r="http://schemas.openxmlformats.org/officeDocument/2006/relationships" id="259" r:id="R0d049866443249ae"/>
    <p:sldId xmlns:r="http://schemas.openxmlformats.org/officeDocument/2006/relationships" id="260" r:id="R2a31fc4ef6e8434c"/>
    <p:sldId xmlns:r="http://schemas.openxmlformats.org/officeDocument/2006/relationships" id="261" r:id="R76500f0f6acb49ea"/>
    <p:sldId xmlns:r="http://schemas.openxmlformats.org/officeDocument/2006/relationships" id="262" r:id="R03c23955d43d4915"/>
    <p:sldId xmlns:r="http://schemas.openxmlformats.org/officeDocument/2006/relationships" id="263" r:id="R71dbea12982342e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652c76e3eda4e4d" /><Relationship Type="http://schemas.openxmlformats.org/officeDocument/2006/relationships/slideMaster" Target="/ppt/slideMasters/slideMaster1.xml" Id="Rb43fae45879541b6" /><Relationship Type="http://schemas.openxmlformats.org/officeDocument/2006/relationships/notesMaster" Target="/ppt/notesMasters/notesMaster1.xml" Id="R2273dd37b08548f0" /><Relationship Type="http://schemas.openxmlformats.org/officeDocument/2006/relationships/presProps" Target="/ppt/presProps.xml" Id="R5380ed561d6e41e3" /><Relationship Type="http://schemas.openxmlformats.org/officeDocument/2006/relationships/tableStyles" Target="/ppt/tableStyles.xml" Id="R557ce91e695940db" /><Relationship Type="http://schemas.openxmlformats.org/officeDocument/2006/relationships/slide" Target="/ppt/slides/slide1.xml" Id="Ra9f0fa75b12544ea" /><Relationship Type="http://schemas.openxmlformats.org/officeDocument/2006/relationships/slide" Target="/ppt/slides/slide2.xml" Id="Rd28c4953808a4093" /><Relationship Type="http://schemas.openxmlformats.org/officeDocument/2006/relationships/slide" Target="/ppt/slides/slide3.xml" Id="R79af0e4ec8644358" /><Relationship Type="http://schemas.openxmlformats.org/officeDocument/2006/relationships/slide" Target="/ppt/slides/slide4.xml" Id="R0d049866443249ae" /><Relationship Type="http://schemas.openxmlformats.org/officeDocument/2006/relationships/slide" Target="/ppt/slides/slide5.xml" Id="R2a31fc4ef6e8434c" /><Relationship Type="http://schemas.openxmlformats.org/officeDocument/2006/relationships/slide" Target="/ppt/slides/slide6.xml" Id="R76500f0f6acb49ea" /><Relationship Type="http://schemas.openxmlformats.org/officeDocument/2006/relationships/slide" Target="/ppt/slides/slide7.xml" Id="R03c23955d43d4915" /><Relationship Type="http://schemas.openxmlformats.org/officeDocument/2006/relationships/slide" Target="/ppt/slides/slide8.xml" Id="R71dbea12982342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925a66fe5040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ca6e6f584543b2" /><Relationship Type="http://schemas.openxmlformats.org/officeDocument/2006/relationships/notesMaster" Target="/ppt/notesMasters/notesMaster1.xml" Id="R9c38254976a84b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bad37df1c64631" /><Relationship Type="http://schemas.openxmlformats.org/officeDocument/2006/relationships/notesMaster" Target="/ppt/notesMasters/notesMaster1.xml" Id="Re6549dbf20404f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a6bbae4b6a42d9" /><Relationship Type="http://schemas.openxmlformats.org/officeDocument/2006/relationships/notesMaster" Target="/ppt/notesMasters/notesMaster1.xml" Id="R2296f7b6424a4de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dbca1db63f545fa" /><Relationship Type="http://schemas.openxmlformats.org/officeDocument/2006/relationships/notesMaster" Target="/ppt/notesMasters/notesMaster1.xml" Id="Rfac04d74d84644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c66718316f404b" /><Relationship Type="http://schemas.openxmlformats.org/officeDocument/2006/relationships/notesMaster" Target="/ppt/notesMasters/notesMaster1.xml" Id="R8a1a90f7324c44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088057f8024f28" /><Relationship Type="http://schemas.openxmlformats.org/officeDocument/2006/relationships/notesMaster" Target="/ppt/notesMasters/notesMaster1.xml" Id="R46fd80647d4244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c3050cfc5248f7" /><Relationship Type="http://schemas.openxmlformats.org/officeDocument/2006/relationships/notesMaster" Target="/ppt/notesMasters/notesMaster1.xml" Id="R67959901a8c841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99be9be272aa4b88" /><Relationship Type="http://schemas.openxmlformats.org/officeDocument/2006/relationships/notesMaster" Target="/ppt/notesMasters/notesMaster1.xml" Id="Rbf2e5f8d4e264a2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Establish the module as a connected communication problem, not three isolated topics.</a:t>
            </a:r>
          </a:p>
          <a:p xmlns:a="http://schemas.openxmlformats.org/drawingml/2006/main">
            <a:r>
              <a:t>- Read the outcome aloud and ask students to identify the decision word in each sentence.</a:t>
            </a:r>
          </a:p>
          <a:p xmlns:a="http://schemas.openxmlformats.org/drawingml/2006/main">
            <a:r>
              <a:t>Likely misconception: A polished image is enough evidence of successful graphical communication.</a:t>
            </a:r>
          </a:p>
          <a:p xmlns:a="http://schemas.openxmlformats.org/drawingml/2006/main">
            <a:r>
              <a:t>Prompt: What must a viewer understand or decide because of your graphic?</a:t>
            </a:r>
          </a:p>
          <a:p xmlns:a="http://schemas.openxmlformats.org/drawingml/2006/main">
            <a:r>
              <a:t>Transition: Map the three ideas that will build this outcome.</a:t>
            </a:r>
          </a:p>
          <a:p xmlns:a="http://schemas.openxmlformats.org/drawingml/2006/main">
            <a:r>
              <a:t>[Sources]</a:t>
            </a:r>
          </a:p>
          <a:p xmlns:a="http://schemas.openxmlformats.org/drawingml/2006/main">
            <a:r>
              <a:t>- classroom-topic-sequence-2026-08-30</a:t>
            </a:r>
          </a:p>
          <a:p xmlns:a="http://schemas.openxmlformats.org/drawingml/2006/main">
            <a:r>
              <a:t>- t1-assessment-graphic-design-2025</a:t>
            </a:r>
          </a:p>
          <a:p xmlns:a="http://schemas.openxmlformats.org/drawingml/2006/main">
            <a:r>
              <a:t>- graphics-technology-syllabus-2019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Name the three sections exactly as they appear on the course site.</a:t>
            </a:r>
          </a:p>
          <a:p xmlns:a="http://schemas.openxmlformats.org/drawingml/2006/main">
            <a:r>
              <a:t>- Ask for one predicted connection before teaching the detail.</a:t>
            </a:r>
          </a:p>
          <a:p xmlns:a="http://schemas.openxmlformats.org/drawingml/2006/main">
            <a:r>
              <a:t>Likely misconception: The three topics can be completed independently without cross-checking.</a:t>
            </a:r>
          </a:p>
          <a:p xmlns:a="http://schemas.openxmlformats.org/drawingml/2006/main">
            <a:r>
              <a:t>Prompt: Which connection on this pathway seems most important, and why?</a:t>
            </a:r>
          </a:p>
          <a:p xmlns:a="http://schemas.openxmlformats.org/drawingml/2006/main">
            <a:r>
              <a:t>Transition: Move from the pathway into the first precise idea.</a:t>
            </a:r>
          </a:p>
          <a:p xmlns:a="http://schemas.openxmlformats.org/drawingml/2006/main">
            <a:r>
              <a:t>[Sources]</a:t>
            </a:r>
          </a:p>
          <a:p xmlns:a="http://schemas.openxmlformats.org/drawingml/2006/main">
            <a:r>
              <a:t>- classroom-topic-sequence-2026-08-30</a:t>
            </a:r>
          </a:p>
          <a:p xmlns:a="http://schemas.openxmlformats.org/drawingml/2006/main">
            <a:r>
              <a:t>- t1-assessment-graphic-design-2025</a:t>
            </a:r>
          </a:p>
          <a:p xmlns:a="http://schemas.openxmlformats.org/drawingml/2006/main">
            <a:r>
              <a:t>- graphics-technology-syllabus-2019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Describe what students are looking at before interpreting it.</a:t>
            </a:r>
          </a:p>
          <a:p xmlns:a="http://schemas.openxmlformats.org/drawingml/2006/main">
            <a:r>
              <a:t>- Point to the exact feature named in the caption.</a:t>
            </a:r>
          </a:p>
          <a:p xmlns:a="http://schemas.openxmlformats.org/drawingml/2006/main">
            <a:r>
              <a:t>- Require a decision or explanation, not a description alone.</a:t>
            </a:r>
          </a:p>
          <a:p xmlns:a="http://schemas.openxmlformats.org/drawingml/2006/main">
            <a:r>
              <a:t>Likely misconception: The visual convention or view is meaningful without context.</a:t>
            </a:r>
          </a:p>
          <a:p xmlns:a="http://schemas.openxmlformats.org/drawingml/2006/main">
            <a:r>
              <a:t>Prompt: Notice → Which feature establishes the message first? Explain why context still controls the decision.</a:t>
            </a:r>
          </a:p>
          <a:p xmlns:a="http://schemas.openxmlformats.org/drawingml/2006/main">
            <a:r>
              <a:t>Transition: Connect this decision to vectors store construction logic, not a fixed grid of pixels.</a:t>
            </a:r>
          </a:p>
          <a:p xmlns:a="http://schemas.openxmlformats.org/drawingml/2006/main">
            <a:r>
              <a:t>[Sources]</a:t>
            </a:r>
          </a:p>
          <a:p xmlns:a="http://schemas.openxmlformats.org/drawingml/2006/main">
            <a:r>
              <a:t>- safety-signs-template</a:t>
            </a:r>
          </a:p>
          <a:p xmlns:a="http://schemas.openxmlformats.org/drawingml/2006/main">
            <a:r>
              <a:t>- ten-safety-signs-template</a:t>
            </a:r>
          </a:p>
          <a:p xmlns:a="http://schemas.openxmlformats.org/drawingml/2006/main">
            <a:r>
              <a:t>- SafeWork NSW safety-sign guidance</a:t>
            </a:r>
          </a:p>
          <a:p xmlns:a="http://schemas.openxmlformats.org/drawingml/2006/main">
            <a:r>
              <a:t>- NESA Graphics Technology 7–10 (2019)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Describe what students are looking at before interpreting it.</a:t>
            </a:r>
          </a:p>
          <a:p xmlns:a="http://schemas.openxmlformats.org/drawingml/2006/main">
            <a:r>
              <a:t>- Point to the exact feature named in the caption.</a:t>
            </a:r>
          </a:p>
          <a:p xmlns:a="http://schemas.openxmlformats.org/drawingml/2006/main">
            <a:r>
              <a:t>- Require a decision or explanation, not a description alone.</a:t>
            </a:r>
          </a:p>
          <a:p xmlns:a="http://schemas.openxmlformats.org/drawingml/2006/main">
            <a:r>
              <a:t>Likely misconception: The software or drawing automatically makes the communication correct.</a:t>
            </a:r>
          </a:p>
          <a:p xmlns:a="http://schemas.openxmlformats.org/drawingml/2006/main">
            <a:r>
              <a:t>Prompt: Compare → Which changes remain clean when the graphic is enlarged, and which quality checks still require judgement?</a:t>
            </a:r>
          </a:p>
          <a:p xmlns:a="http://schemas.openxmlformats.org/drawingml/2006/main">
            <a:r>
              <a:t>Transition: Connect this decision to good design directs attention and respects the people it reaches.</a:t>
            </a:r>
          </a:p>
          <a:p xmlns:a="http://schemas.openxmlformats.org/drawingml/2006/main">
            <a:r>
              <a:t>[Sources]</a:t>
            </a:r>
          </a:p>
          <a:p xmlns:a="http://schemas.openxmlformats.org/drawingml/2006/main">
            <a:r>
              <a:t>- t1-assessment-graphic-design-2025</a:t>
            </a:r>
          </a:p>
          <a:p xmlns:a="http://schemas.openxmlformats.org/drawingml/2006/main">
            <a:r>
              <a:t>- Adobe Illustrator live shapes</a:t>
            </a:r>
          </a:p>
          <a:p xmlns:a="http://schemas.openxmlformats.org/drawingml/2006/main">
            <a:r>
              <a:t>- Adobe Illustrator colour workflow</a:t>
            </a:r>
          </a:p>
          <a:p xmlns:a="http://schemas.openxmlformats.org/drawingml/2006/main">
            <a:r>
              <a:t>- NESA Graphics Technology 7–10 (2019)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Describe what students are looking at before interpreting it.</a:t>
            </a:r>
          </a:p>
          <a:p xmlns:a="http://schemas.openxmlformats.org/drawingml/2006/main">
            <a:r>
              <a:t>- Point to the exact feature named in the caption.</a:t>
            </a:r>
          </a:p>
          <a:p xmlns:a="http://schemas.openxmlformats.org/drawingml/2006/main">
            <a:r>
              <a:t>- Require a decision or explanation, not a description alone.</a:t>
            </a:r>
          </a:p>
          <a:p xmlns:a="http://schemas.openxmlformats.org/drawingml/2006/main">
            <a:r>
              <a:t>Likely misconception: A polished output proves that every criterion, right or real-world condition is resolved.</a:t>
            </a:r>
          </a:p>
          <a:p xmlns:a="http://schemas.openxmlformats.org/drawingml/2006/main">
            <a:r>
              <a:t>Prompt: Decide → What should the audience notice first, and what rights or cultural checks must be resolved before release?</a:t>
            </a:r>
          </a:p>
          <a:p xmlns:a="http://schemas.openxmlformats.org/drawingml/2006/main">
            <a:r>
              <a:t>Transition: Retrieve across all three taught ideas.</a:t>
            </a:r>
          </a:p>
          <a:p xmlns:a="http://schemas.openxmlformats.org/drawingml/2006/main">
            <a:r>
              <a:t>[Sources]</a:t>
            </a:r>
          </a:p>
          <a:p xmlns:a="http://schemas.openxmlformats.org/drawingml/2006/main">
            <a:r>
              <a:t>- t1-assessment-graphic-design-2025</a:t>
            </a:r>
          </a:p>
          <a:p xmlns:a="http://schemas.openxmlformats.org/drawingml/2006/main">
            <a:r>
              <a:t>- Australian Government Office for the Arts ICIP guidance</a:t>
            </a:r>
          </a:p>
          <a:p xmlns:a="http://schemas.openxmlformats.org/drawingml/2006/main">
            <a:r>
              <a:t>- NESA Graphics Technology 7–10 (2019)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Give silent retrieval time before discussion.</a:t>
            </a:r>
          </a:p>
          <a:p xmlns:a="http://schemas.openxmlformats.org/drawingml/2006/main">
            <a:r>
              <a:t>- Ask students to point back to the visual or explanation that supports each answer.</a:t>
            </a:r>
          </a:p>
          <a:p xmlns:a="http://schemas.openxmlformats.org/drawingml/2006/main">
            <a:r>
              <a:t>- Correct the reasoning, not only the missing term.</a:t>
            </a:r>
          </a:p>
          <a:p xmlns:a="http://schemas.openxmlformats.org/drawingml/2006/main">
            <a:r>
              <a:t>Likely misconception: Recognition after re-reading is the same as retrieval from memory.</a:t>
            </a:r>
          </a:p>
          <a:p xmlns:a="http://schemas.openxmlformats.org/drawingml/2006/main">
            <a:r>
              <a:t>Prompt: Which answer can you support most confidently, and what evidence supports it?</a:t>
            </a:r>
          </a:p>
          <a:p xmlns:a="http://schemas.openxmlformats.org/drawingml/2006/main">
            <a:r>
              <a:t>Transition: Use one retrieved idea to construct a durable folio response.</a:t>
            </a:r>
          </a:p>
          <a:p xmlns:a="http://schemas.openxmlformats.org/drawingml/2006/main">
            <a:r>
              <a:t>[Sources]</a:t>
            </a:r>
          </a:p>
          <a:p xmlns:a="http://schemas.openxmlformats.org/drawingml/2006/main">
            <a:r>
              <a:t>- classroom-topic-sequence-2026-08-30</a:t>
            </a:r>
          </a:p>
          <a:p xmlns:a="http://schemas.openxmlformats.org/drawingml/2006/main">
            <a:r>
              <a:t>- t1-assessment-graphic-design-2025</a:t>
            </a:r>
          </a:p>
          <a:p xmlns:a="http://schemas.openxmlformats.org/drawingml/2006/main">
            <a:r>
              <a:t>- graphics-technology-syllabus-2019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Model the four moves with one familiar example.</a:t>
            </a:r>
          </a:p>
          <a:p xmlns:a="http://schemas.openxmlformats.org/drawingml/2006/main">
            <a:r>
              <a:t>- Keep the explanation tied to a visible artifact or decision.</a:t>
            </a:r>
          </a:p>
          <a:p xmlns:a="http://schemas.openxmlformats.org/drawingml/2006/main">
            <a:r>
              <a:t>- Make the final check explicit: what does this evidence not prove?</a:t>
            </a:r>
          </a:p>
          <a:p xmlns:a="http://schemas.openxmlformats.org/drawingml/2006/main">
            <a:r>
              <a:t>Likely misconception: A long description automatically counts as strong evidence.</a:t>
            </a:r>
          </a:p>
          <a:p xmlns:a="http://schemas.openxmlformats.org/drawingml/2006/main">
            <a:r>
              <a:t>Prompt: Which selected artifact gives you the clearest because statement?</a:t>
            </a:r>
          </a:p>
          <a:p xmlns:a="http://schemas.openxmlformats.org/drawingml/2006/main">
            <a:r>
              <a:t>Transition: Close with a small exit ticket and an exact saving action.</a:t>
            </a:r>
          </a:p>
          <a:p xmlns:a="http://schemas.openxmlformats.org/drawingml/2006/main">
            <a:r>
              <a:t>[Sources]</a:t>
            </a:r>
          </a:p>
          <a:p xmlns:a="http://schemas.openxmlformats.org/drawingml/2006/main">
            <a:r>
              <a:t>- classroom-topic-sequence-2026-08-30</a:t>
            </a:r>
          </a:p>
          <a:p xmlns:a="http://schemas.openxmlformats.org/drawingml/2006/main">
            <a:r>
              <a:t>- t1-assessment-graphic-design-2025</a:t>
            </a:r>
          </a:p>
          <a:p xmlns:a="http://schemas.openxmlformats.org/drawingml/2006/main">
            <a:r>
              <a:t>- graphics-technology-syllabus-2019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Collect one response for each numbered line.</a:t>
            </a:r>
          </a:p>
          <a:p xmlns:a="http://schemas.openxmlformats.org/drawingml/2006/main">
            <a:r>
              <a:t>- Remind students that the folio holds selected evidence, not every quiz answer.</a:t>
            </a:r>
          </a:p>
          <a:p xmlns:a="http://schemas.openxmlformats.org/drawingml/2006/main">
            <a:r>
              <a:t>- Point students to the matching section package and the exact folio route.</a:t>
            </a:r>
          </a:p>
          <a:p xmlns:a="http://schemas.openxmlformats.org/drawingml/2006/main">
            <a:r>
              <a:t>Likely misconception: Saving more files is automatically stronger evidence.</a:t>
            </a:r>
          </a:p>
          <a:p xmlns:a="http://schemas.openxmlformats.org/drawingml/2006/main">
            <a:r>
              <a:t>Prompt: What single artifact best demonstrates today’s decision or learning?</a:t>
            </a:r>
          </a:p>
          <a:p xmlns:a="http://schemas.openxmlformats.org/drawingml/2006/main">
            <a:r>
              <a:t>Transition: Students move to the matching course section and My folio.</a:t>
            </a:r>
          </a:p>
          <a:p xmlns:a="http://schemas.openxmlformats.org/drawingml/2006/main">
            <a:r>
              <a:t>[Sources]</a:t>
            </a:r>
          </a:p>
          <a:p xmlns:a="http://schemas.openxmlformats.org/drawingml/2006/main">
            <a:r>
              <a:t>- classroom-topic-sequence-2026-08-30</a:t>
            </a:r>
          </a:p>
          <a:p xmlns:a="http://schemas.openxmlformats.org/drawingml/2006/main">
            <a:r>
              <a:t>- t1-assessment-graphic-design-2025</a:t>
            </a:r>
          </a:p>
          <a:p xmlns:a="http://schemas.openxmlformats.org/drawingml/2006/main">
            <a:r>
              <a:t>- graphics-technology-syllabus-2019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4245b50f8645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dd4c4a0ef5463a" /><Relationship Type="http://schemas.openxmlformats.org/officeDocument/2006/relationships/slideLayout" Target="/ppt/slideLayouts/slideLayout1.xml" Id="Rc30a4bfa780845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0a4bfa780845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dca64cf59604674" /><Relationship Type="http://schemas.openxmlformats.org/officeDocument/2006/relationships/image" Target="/ppt/media/image.png" Id="Rcc8b9a9e18bf4fe6" /><Relationship Type="http://schemas.openxmlformats.org/officeDocument/2006/relationships/notesSlide" Target="/ppt/notesSlides/notesSlide1.xml" Id="Rb09ebc5eaf9d44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9d620d91afa42e4" /><Relationship Type="http://schemas.openxmlformats.org/officeDocument/2006/relationships/notesSlide" Target="/ppt/notesSlides/notesSlide2.xml" Id="Red361811751c40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1be2085f40e409d" /><Relationship Type="http://schemas.openxmlformats.org/officeDocument/2006/relationships/image" Target="/ppt/media/image2.png" Id="Rbccce1faeadd420d" /><Relationship Type="http://schemas.openxmlformats.org/officeDocument/2006/relationships/notesSlide" Target="/ppt/notesSlides/notesSlide3.xml" Id="R95fa708f38f648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463393999d84739" /><Relationship Type="http://schemas.openxmlformats.org/officeDocument/2006/relationships/image" Target="/ppt/media/image3.png" Id="Rf66949564731498e" /><Relationship Type="http://schemas.openxmlformats.org/officeDocument/2006/relationships/notesSlide" Target="/ppt/notesSlides/notesSlide4.xml" Id="Rfcd3ecf59dd94e9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ebeef8316664ae9" /><Relationship Type="http://schemas.openxmlformats.org/officeDocument/2006/relationships/image" Target="/ppt/media/image4.png" Id="R04f1c373cca84e2b" /><Relationship Type="http://schemas.openxmlformats.org/officeDocument/2006/relationships/notesSlide" Target="/ppt/notesSlides/notesSlide5.xml" Id="Rf6ca68d3dad04e2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98b4729ebf64c41" /><Relationship Type="http://schemas.openxmlformats.org/officeDocument/2006/relationships/notesSlide" Target="/ppt/notesSlides/notesSlide6.xml" Id="R2deeb0b8fa20433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43d393389c84e1e" /><Relationship Type="http://schemas.openxmlformats.org/officeDocument/2006/relationships/notesSlide" Target="/ppt/notesSlides/notesSlide7.xml" Id="R7774e2b1f7f643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99857f44c2e4cde" /><Relationship Type="http://schemas.openxmlformats.org/officeDocument/2006/relationships/notesSlide" Target="/ppt/notesSlides/notesSlide8.xml" Id="Rc556e2fbd2cf4bc8" /></Relationships>
</file>

<file path=ppt/slides/slide1.xml><?xml version="1.0" encoding="utf-8"?>
<p:sld xmlns:p="http://schemas.openxmlformats.org/presentationml/2006/main">
  <p:cSld>
    <p:bg>
      <p:bgPr>
        <a:solidFill xmlns:a="http://schemas.openxmlformats.org/drawingml/2006/main">
          <a:srgbClr val="FCFAF8"/>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c8b9a9e18bf4fe6"/>
          <a:srcRect xmlns:a="http://schemas.openxmlformats.org/drawingml/2006/main" l="23796" t="0" r="23796" b="0"/>
          <a:stretch xmlns:a="http://schemas.openxmlformats.org/drawingml/2006/main">
            <a:fillRect l="0" t="0" r="0" b="0"/>
          </a:stretch>
        </p:blipFill>
        <p:spPr>
          <a:xfrm xmlns:a="http://schemas.openxmlformats.org/drawingml/2006/main">
            <a:off x="6800850" y="0"/>
            <a:ext cx="53911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919E26C-1A54-46BB-9E6D-0CA3877E4BD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0CECE5B-9672-4959-B387-FA4FDCBAD9D1}"/>
              </a:ext>
            </a:extLst>
          </p:cNvPr>
          <p:cNvSpPr>
            <a:spLocks xmlns:a="http://schemas.openxmlformats.org/drawingml/2006/main" noGrp="1"/>
          </p:cNvSpPr>
          <p:nvPr/>
        </p:nvSpPr>
        <p:spPr>
          <a:xfrm xmlns:a="http://schemas.openxmlformats.org/drawingml/2006/main">
            <a:off x="742950" y="8763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8B2433"/>
                </a:solidFill>
              </a:defRPr>
            </a:pPr>
            <a:r>
              <a:rPr sz="1350" b="1">
                <a:solidFill>
                  <a:srgbClr val="8B2433"/>
                </a:solidFill>
              </a:rPr>
              <a:t>MODULE 1</a:t>
            </a:r>
          </a:p>
        </p:txBody>
      </p:sp>
      <p:sp>
        <p:nvSpPr>
          <p:cNvPr id="4" name="m1-title">
            <a:extLst xmlns:a="http://schemas.openxmlformats.org/drawingml/2006/main">
              <a:ext uri="{FF2B5EF4-FFF2-40B4-BE49-F238E27FC236}">
                <a16:creationId xmlns:a16="http://schemas.microsoft.com/office/drawing/2014/main" id="{4666A1E8-2E9E-4FB9-AE32-FF64AFDEE96F}"/>
              </a:ext>
            </a:extLst>
          </p:cNvPr>
          <p:cNvSpPr>
            <a:spLocks xmlns:a="http://schemas.openxmlformats.org/drawingml/2006/main" noGrp="1"/>
          </p:cNvSpPr>
          <p:nvPr/>
        </p:nvSpPr>
        <p:spPr>
          <a:xfrm xmlns:a="http://schemas.openxmlformats.org/drawingml/2006/main">
            <a:off x="742950" y="1485900"/>
            <a:ext cx="54292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050" b="1">
                <a:solidFill>
                  <a:srgbClr val="3B1118"/>
                </a:solidFill>
              </a:defRPr>
            </a:pPr>
            <a:r>
              <a:rPr sz="4050" b="1">
                <a:solidFill>
                  <a:srgbClr val="3B1118"/>
                </a:solidFill>
              </a:rPr>
              <a:t>Graphic Design &amp; Communication</a:t>
            </a:r>
          </a:p>
        </p:txBody>
      </p:sp>
      <p:sp>
        <p:nvSpPr>
          <p:cNvPr id="5" name="">
            <a:extLst xmlns:a="http://schemas.openxmlformats.org/drawingml/2006/main">
              <a:ext uri="{FF2B5EF4-FFF2-40B4-BE49-F238E27FC236}">
                <a16:creationId xmlns:a16="http://schemas.microsoft.com/office/drawing/2014/main" id="{20DC0488-F9D3-4CB8-A497-6EB9BCCB18B1}"/>
              </a:ext>
            </a:extLst>
          </p:cNvPr>
          <p:cNvSpPr>
            <a:spLocks xmlns:a="http://schemas.openxmlformats.org/drawingml/2006/main" noGrp="1"/>
          </p:cNvSpPr>
          <p:nvPr/>
        </p:nvSpPr>
        <p:spPr>
          <a:xfrm xmlns:a="http://schemas.openxmlformats.org/drawingml/2006/main">
            <a:off x="742950" y="3295650"/>
            <a:ext cx="1028700" cy="47625"/>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9421D8F-DEC3-4AC0-99F1-405410C427F7}"/>
              </a:ext>
            </a:extLst>
          </p:cNvPr>
          <p:cNvSpPr>
            <a:spLocks xmlns:a="http://schemas.openxmlformats.org/drawingml/2006/main" noGrp="1"/>
          </p:cNvSpPr>
          <p:nvPr/>
        </p:nvSpPr>
        <p:spPr>
          <a:xfrm xmlns:a="http://schemas.openxmlformats.org/drawingml/2006/main">
            <a:off x="742950" y="3676650"/>
            <a:ext cx="533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25171A"/>
                </a:solidFill>
              </a:defRPr>
            </a:pPr>
            <a:r>
              <a:rPr sz="1800">
                <a:solidFill>
                  <a:srgbClr val="25171A"/>
                </a:solidFill>
              </a:rPr>
              <a:t>Use visual conventions, vector workflows and ethical design decisions to make graphics that communicate quickly and responsibly.</a:t>
            </a:r>
          </a:p>
        </p:txBody>
      </p:sp>
      <p:sp>
        <p:nvSpPr>
          <p:cNvPr id="7" name="">
            <a:extLst xmlns:a="http://schemas.openxmlformats.org/drawingml/2006/main">
              <a:ext uri="{FF2B5EF4-FFF2-40B4-BE49-F238E27FC236}">
                <a16:creationId xmlns:a16="http://schemas.microsoft.com/office/drawing/2014/main" id="{B17F6392-FE0A-40EE-A729-BC602BF5E2A4}"/>
              </a:ext>
            </a:extLst>
          </p:cNvPr>
          <p:cNvSpPr>
            <a:spLocks xmlns:a="http://schemas.openxmlformats.org/drawingml/2006/main" noGrp="1"/>
          </p:cNvSpPr>
          <p:nvPr/>
        </p:nvSpPr>
        <p:spPr>
          <a:xfrm xmlns:a="http://schemas.openxmlformats.org/drawingml/2006/main">
            <a:off x="742950" y="5676900"/>
            <a:ext cx="533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66585B"/>
                </a:solidFill>
              </a:defRPr>
            </a:pPr>
            <a:r>
              <a:rPr sz="1275" b="1">
                <a:solidFill>
                  <a:srgbClr val="66585B"/>
                </a:solidFill>
              </a:rPr>
              <a:t>Read the visuals. Explain the decision. Save the evidence.</a:t>
            </a:r>
          </a:p>
        </p:txBody>
      </p:sp>
    </p:spTree>
    <p:extLst>
      <p:ext uri="{BB962C8B-B14F-4D97-AF65-F5344CB8AC3E}">
        <p14:creationId xmlns:p14="http://schemas.microsoft.com/office/powerpoint/2010/main" val="80420943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522B23F-3878-4C9E-8C23-FF09659DDB0C}"/>
              </a:ext>
            </a:extLst>
          </p:cNvPr>
          <p:cNvSpPr>
            <a:spLocks xmlns:a="http://schemas.openxmlformats.org/drawingml/2006/main" noGrp="1"/>
          </p:cNvSpPr>
          <p:nvPr/>
        </p:nvSpPr>
        <p:spPr>
          <a:xfrm xmlns:a="http://schemas.openxmlformats.org/drawingml/2006/main">
            <a:off x="685800" y="53340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3B1118"/>
                </a:solidFill>
              </a:defRPr>
            </a:pPr>
            <a:r>
              <a:rPr sz="2850" b="1">
                <a:solidFill>
                  <a:srgbClr val="3B1118"/>
                </a:solidFill>
              </a:rPr>
              <a:t>Three ideas build one communication workflow</a:t>
            </a:r>
          </a:p>
        </p:txBody>
      </p:sp>
      <p:sp>
        <p:nvSpPr>
          <p:cNvPr id="2" name="">
            <a:extLst xmlns:a="http://schemas.openxmlformats.org/drawingml/2006/main">
              <a:ext uri="{FF2B5EF4-FFF2-40B4-BE49-F238E27FC236}">
                <a16:creationId xmlns:a16="http://schemas.microsoft.com/office/drawing/2014/main" id="{27F065B7-0DE6-4F4C-8474-D638F2D5CBC1}"/>
              </a:ext>
            </a:extLst>
          </p:cNvPr>
          <p:cNvSpPr>
            <a:spLocks xmlns:a="http://schemas.openxmlformats.org/drawingml/2006/main" noGrp="1"/>
          </p:cNvSpPr>
          <p:nvPr/>
        </p:nvSpPr>
        <p:spPr>
          <a:xfrm xmlns:a="http://schemas.openxmlformats.org/drawingml/2006/main">
            <a:off x="685800" y="120015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a:solidFill>
                  <a:srgbClr val="66585B"/>
                </a:solidFill>
              </a:defRPr>
            </a:pPr>
            <a:r>
              <a:rPr sz="1500">
                <a:solidFill>
                  <a:srgbClr val="66585B"/>
                </a:solidFill>
              </a:rPr>
              <a:t>Keep this sequence in mind: understand the context, make a controlled representation, then justify what the evidence means.</a:t>
            </a:r>
          </a:p>
        </p:txBody>
      </p:sp>
      <p:sp>
        <p:nvSpPr>
          <p:cNvPr id="3" name="">
            <a:extLst xmlns:a="http://schemas.openxmlformats.org/drawingml/2006/main">
              <a:ext uri="{FF2B5EF4-FFF2-40B4-BE49-F238E27FC236}">
                <a16:creationId xmlns:a16="http://schemas.microsoft.com/office/drawing/2014/main" id="{CABCF32A-0228-42A3-B8C3-7D7CF5C1C939}"/>
              </a:ext>
            </a:extLst>
          </p:cNvPr>
          <p:cNvSpPr>
            <a:spLocks xmlns:a="http://schemas.openxmlformats.org/drawingml/2006/main" noGrp="1"/>
          </p:cNvSpPr>
          <p:nvPr/>
        </p:nvSpPr>
        <p:spPr>
          <a:xfrm xmlns:a="http://schemas.openxmlformats.org/drawingml/2006/main">
            <a:off x="1200150" y="3028950"/>
            <a:ext cx="9772650" cy="38100"/>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7532233-01F2-40AC-9FF3-1E08787C184D}"/>
              </a:ext>
            </a:extLst>
          </p:cNvPr>
          <p:cNvSpPr>
            <a:spLocks xmlns:a="http://schemas.openxmlformats.org/drawingml/2006/main" noGrp="1"/>
          </p:cNvSpPr>
          <p:nvPr/>
        </p:nvSpPr>
        <p:spPr>
          <a:xfrm xmlns:a="http://schemas.openxmlformats.org/drawingml/2006/main">
            <a:off x="1371600" y="2619375"/>
            <a:ext cx="800100" cy="800100"/>
          </a:xfrm>
          <a:prstGeom xmlns:a="http://schemas.openxmlformats.org/drawingml/2006/main" prst="roundRect">
            <a:avLst>
              <a:gd name="adj" fmla="val 50000"/>
            </a:avLst>
          </a:prstGeom>
          <a:solidFill xmlns:a="http://schemas.openxmlformats.org/drawingml/2006/main">
            <a:srgbClr val="3B111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915D7E3-13A6-4347-A941-99BD517D15F7}"/>
              </a:ext>
            </a:extLst>
          </p:cNvPr>
          <p:cNvSpPr>
            <a:spLocks xmlns:a="http://schemas.openxmlformats.org/drawingml/2006/main" noGrp="1"/>
          </p:cNvSpPr>
          <p:nvPr/>
        </p:nvSpPr>
        <p:spPr>
          <a:xfrm xmlns:a="http://schemas.openxmlformats.org/drawingml/2006/main">
            <a:off x="1371600" y="2800350"/>
            <a:ext cx="800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FFFFFF"/>
                </a:solidFill>
              </a:defRPr>
            </a:pPr>
            <a:r>
              <a:rPr sz="2100" b="1">
                <a:solidFill>
                  <a:srgbClr val="FFFFFF"/>
                </a:solidFill>
              </a:rPr>
              <a:t>1</a:t>
            </a:r>
          </a:p>
        </p:txBody>
      </p:sp>
      <p:sp>
        <p:nvSpPr>
          <p:cNvPr id="6" name="">
            <a:extLst xmlns:a="http://schemas.openxmlformats.org/drawingml/2006/main">
              <a:ext uri="{FF2B5EF4-FFF2-40B4-BE49-F238E27FC236}">
                <a16:creationId xmlns:a16="http://schemas.microsoft.com/office/drawing/2014/main" id="{FC9DCEFF-EE8C-4BBF-9809-68770CCD66FC}"/>
              </a:ext>
            </a:extLst>
          </p:cNvPr>
          <p:cNvSpPr>
            <a:spLocks xmlns:a="http://schemas.openxmlformats.org/drawingml/2006/main" noGrp="1"/>
          </p:cNvSpPr>
          <p:nvPr/>
        </p:nvSpPr>
        <p:spPr>
          <a:xfrm xmlns:a="http://schemas.openxmlformats.org/drawingml/2006/main">
            <a:off x="876300" y="3714750"/>
            <a:ext cx="2857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25171A"/>
                </a:solidFill>
              </a:defRPr>
            </a:pPr>
            <a:r>
              <a:rPr sz="1725" b="1">
                <a:solidFill>
                  <a:srgbClr val="25171A"/>
                </a:solidFill>
              </a:rPr>
              <a:t>Safety signs and visual conventions</a:t>
            </a:r>
          </a:p>
        </p:txBody>
      </p:sp>
      <p:sp>
        <p:nvSpPr>
          <p:cNvPr id="7" name="">
            <a:extLst xmlns:a="http://schemas.openxmlformats.org/drawingml/2006/main">
              <a:ext uri="{FF2B5EF4-FFF2-40B4-BE49-F238E27FC236}">
                <a16:creationId xmlns:a16="http://schemas.microsoft.com/office/drawing/2014/main" id="{4558C4E3-D360-40B9-9CB4-B87841957C5F}"/>
              </a:ext>
            </a:extLst>
          </p:cNvPr>
          <p:cNvSpPr>
            <a:spLocks xmlns:a="http://schemas.openxmlformats.org/drawingml/2006/main" noGrp="1"/>
          </p:cNvSpPr>
          <p:nvPr/>
        </p:nvSpPr>
        <p:spPr>
          <a:xfrm xmlns:a="http://schemas.openxmlformats.org/drawingml/2006/main">
            <a:off x="5029200" y="2619375"/>
            <a:ext cx="800100" cy="800100"/>
          </a:xfrm>
          <a:prstGeom xmlns:a="http://schemas.openxmlformats.org/drawingml/2006/main" prst="roundRect">
            <a:avLst>
              <a:gd name="adj" fmla="val 50000"/>
            </a:avLst>
          </a:prstGeom>
          <a:solidFill xmlns:a="http://schemas.openxmlformats.org/drawingml/2006/main">
            <a:srgbClr val="8B243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5509493-324D-421A-85C3-72B72C64587C}"/>
              </a:ext>
            </a:extLst>
          </p:cNvPr>
          <p:cNvSpPr>
            <a:spLocks xmlns:a="http://schemas.openxmlformats.org/drawingml/2006/main" noGrp="1"/>
          </p:cNvSpPr>
          <p:nvPr/>
        </p:nvSpPr>
        <p:spPr>
          <a:xfrm xmlns:a="http://schemas.openxmlformats.org/drawingml/2006/main">
            <a:off x="5029200" y="2800350"/>
            <a:ext cx="800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FFFFFF"/>
                </a:solidFill>
              </a:defRPr>
            </a:pPr>
            <a:r>
              <a:rPr sz="2100" b="1">
                <a:solidFill>
                  <a:srgbClr val="FFFFFF"/>
                </a:solidFill>
              </a:rPr>
              <a:t>2</a:t>
            </a:r>
          </a:p>
        </p:txBody>
      </p:sp>
      <p:sp>
        <p:nvSpPr>
          <p:cNvPr id="9" name="">
            <a:extLst xmlns:a="http://schemas.openxmlformats.org/drawingml/2006/main">
              <a:ext uri="{FF2B5EF4-FFF2-40B4-BE49-F238E27FC236}">
                <a16:creationId xmlns:a16="http://schemas.microsoft.com/office/drawing/2014/main" id="{79C0FBA1-CDA5-4B81-B4C9-388EF18FD5CB}"/>
              </a:ext>
            </a:extLst>
          </p:cNvPr>
          <p:cNvSpPr>
            <a:spLocks xmlns:a="http://schemas.openxmlformats.org/drawingml/2006/main" noGrp="1"/>
          </p:cNvSpPr>
          <p:nvPr/>
        </p:nvSpPr>
        <p:spPr>
          <a:xfrm xmlns:a="http://schemas.openxmlformats.org/drawingml/2006/main">
            <a:off x="4533900" y="3714750"/>
            <a:ext cx="2857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25171A"/>
                </a:solidFill>
              </a:defRPr>
            </a:pPr>
            <a:r>
              <a:rPr sz="1725" b="1">
                <a:solidFill>
                  <a:srgbClr val="25171A"/>
                </a:solidFill>
              </a:rPr>
              <a:t>Vector graphics and Illustrator workflows</a:t>
            </a:r>
          </a:p>
        </p:txBody>
      </p:sp>
      <p:sp>
        <p:nvSpPr>
          <p:cNvPr id="10" name="">
            <a:extLst xmlns:a="http://schemas.openxmlformats.org/drawingml/2006/main">
              <a:ext uri="{FF2B5EF4-FFF2-40B4-BE49-F238E27FC236}">
                <a16:creationId xmlns:a16="http://schemas.microsoft.com/office/drawing/2014/main" id="{1C567ECB-744D-4F0A-AB8F-E24F764FA059}"/>
              </a:ext>
            </a:extLst>
          </p:cNvPr>
          <p:cNvSpPr>
            <a:spLocks xmlns:a="http://schemas.openxmlformats.org/drawingml/2006/main" noGrp="1"/>
          </p:cNvSpPr>
          <p:nvPr/>
        </p:nvSpPr>
        <p:spPr>
          <a:xfrm xmlns:a="http://schemas.openxmlformats.org/drawingml/2006/main">
            <a:off x="8686800" y="2619375"/>
            <a:ext cx="800100" cy="800100"/>
          </a:xfrm>
          <a:prstGeom xmlns:a="http://schemas.openxmlformats.org/drawingml/2006/main" prst="roundRect">
            <a:avLst>
              <a:gd name="adj" fmla="val 50000"/>
            </a:avLst>
          </a:prstGeom>
          <a:solidFill xmlns:a="http://schemas.openxmlformats.org/drawingml/2006/main">
            <a:srgbClr val="3B111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7B01593-0E26-4635-9AD8-02EDF493279F}"/>
              </a:ext>
            </a:extLst>
          </p:cNvPr>
          <p:cNvSpPr>
            <a:spLocks xmlns:a="http://schemas.openxmlformats.org/drawingml/2006/main" noGrp="1"/>
          </p:cNvSpPr>
          <p:nvPr/>
        </p:nvSpPr>
        <p:spPr>
          <a:xfrm xmlns:a="http://schemas.openxmlformats.org/drawingml/2006/main">
            <a:off x="8686800" y="2800350"/>
            <a:ext cx="800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FFFFFF"/>
                </a:solidFill>
              </a:defRPr>
            </a:pPr>
            <a:r>
              <a:rPr sz="2100" b="1">
                <a:solidFill>
                  <a:srgbClr val="FFFFFF"/>
                </a:solidFill>
              </a:rPr>
              <a:t>3</a:t>
            </a:r>
          </a:p>
        </p:txBody>
      </p:sp>
      <p:sp>
        <p:nvSpPr>
          <p:cNvPr id="12" name="">
            <a:extLst xmlns:a="http://schemas.openxmlformats.org/drawingml/2006/main">
              <a:ext uri="{FF2B5EF4-FFF2-40B4-BE49-F238E27FC236}">
                <a16:creationId xmlns:a16="http://schemas.microsoft.com/office/drawing/2014/main" id="{A3098271-3A28-4B25-AF52-D9AAE8F70B07}"/>
              </a:ext>
            </a:extLst>
          </p:cNvPr>
          <p:cNvSpPr>
            <a:spLocks xmlns:a="http://schemas.openxmlformats.org/drawingml/2006/main" noGrp="1"/>
          </p:cNvSpPr>
          <p:nvPr/>
        </p:nvSpPr>
        <p:spPr>
          <a:xfrm xmlns:a="http://schemas.openxmlformats.org/drawingml/2006/main">
            <a:off x="8191500" y="3714750"/>
            <a:ext cx="2857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25171A"/>
                </a:solidFill>
              </a:defRPr>
            </a:pPr>
            <a:r>
              <a:rPr sz="1725" b="1">
                <a:solidFill>
                  <a:srgbClr val="25171A"/>
                </a:solidFill>
              </a:rPr>
              <a:t>Design principles, audience, culture and intellectual property</a:t>
            </a:r>
          </a:p>
        </p:txBody>
      </p:sp>
      <p:sp>
        <p:nvSpPr>
          <p:cNvPr id="13" name="">
            <a:extLst xmlns:a="http://schemas.openxmlformats.org/drawingml/2006/main">
              <a:ext uri="{FF2B5EF4-FFF2-40B4-BE49-F238E27FC236}">
                <a16:creationId xmlns:a16="http://schemas.microsoft.com/office/drawing/2014/main" id="{95C62AF0-3B1A-4399-B863-0B893D6EB3C0}"/>
              </a:ext>
            </a:extLst>
          </p:cNvPr>
          <p:cNvSpPr>
            <a:spLocks xmlns:a="http://schemas.openxmlformats.org/drawingml/2006/main" noGrp="1"/>
          </p:cNvSpPr>
          <p:nvPr/>
        </p:nvSpPr>
        <p:spPr>
          <a:xfrm xmlns:a="http://schemas.openxmlformats.org/drawingml/2006/main">
            <a:off x="2381250" y="5467350"/>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8B2433"/>
                </a:solidFill>
              </a:defRPr>
            </a:pPr>
            <a:r>
              <a:rPr sz="1500" b="1">
                <a:solidFill>
                  <a:srgbClr val="8B2433"/>
                </a:solidFill>
              </a:rPr>
              <a:t>Retrieval prompt  •  Which idea depends most on the one before it?</a:t>
            </a:r>
          </a:p>
        </p:txBody>
      </p:sp>
      <p:sp>
        <p:nvSpPr>
          <p:cNvPr id="14" name="">
            <a:extLst xmlns:a="http://schemas.openxmlformats.org/drawingml/2006/main">
              <a:ext uri="{FF2B5EF4-FFF2-40B4-BE49-F238E27FC236}">
                <a16:creationId xmlns:a16="http://schemas.microsoft.com/office/drawing/2014/main" id="{3B74C1AF-26DB-4593-8A63-5EFA2DB319AA}"/>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63D9ABE-15DC-4611-A17F-341D759A782F}"/>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585B"/>
                </a:solidFill>
              </a:defRPr>
            </a:pPr>
            <a:r>
              <a:rPr sz="900" b="1">
                <a:solidFill>
                  <a:srgbClr val="66585B"/>
                </a:solidFill>
              </a:rPr>
              <a:t>YEAR 10 GRAPHICS  •  MODULE 1</a:t>
            </a:r>
          </a:p>
        </p:txBody>
      </p:sp>
      <p:sp>
        <p:nvSpPr>
          <p:cNvPr id="16" name="">
            <a:extLst xmlns:a="http://schemas.openxmlformats.org/drawingml/2006/main">
              <a:ext uri="{FF2B5EF4-FFF2-40B4-BE49-F238E27FC236}">
                <a16:creationId xmlns:a16="http://schemas.microsoft.com/office/drawing/2014/main" id="{EFB18680-9473-4BFA-9573-94D0E5878DAE}"/>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8B2433"/>
                </a:solidFill>
              </a:defRPr>
            </a:pPr>
            <a:r>
              <a:rPr sz="900" b="1">
                <a:solidFill>
                  <a:srgbClr val="8B2433"/>
                </a:solidFill>
              </a:rPr>
              <a:t>02</a:t>
            </a:r>
          </a:p>
        </p:txBody>
      </p:sp>
    </p:spTree>
    <p:extLst>
      <p:ext uri="{BB962C8B-B14F-4D97-AF65-F5344CB8AC3E}">
        <p14:creationId xmlns:p14="http://schemas.microsoft.com/office/powerpoint/2010/main" val="735900430"/>
      </p:ext>
    </p:extLst>
  </p:cSld>
</p:sld>
</file>

<file path=ppt/slides/slide3.xml><?xml version="1.0" encoding="utf-8"?>
<p:sld xmlns:p="http://schemas.openxmlformats.org/presentationml/2006/main">
  <p:cSld>
    <p:bg>
      <p:bgPr>
        <a:solidFill xmlns:a="http://schemas.openxmlformats.org/drawingml/2006/main">
          <a:srgbClr val="FCFAF8"/>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ccce1faeadd420d"/>
          <a:stretch xmlns:a="http://schemas.openxmlformats.org/drawingml/2006/main"/>
        </p:blipFill>
        <p:spPr>
          <a:xfrm xmlns:a="http://schemas.openxmlformats.org/drawingml/2006/main">
            <a:off x="685800" y="1644650"/>
            <a:ext cx="4953000" cy="3302000"/>
          </a:xfrm>
          <a:prstGeom xmlns:a="http://schemas.openxmlformats.org/drawingml/2006/main" prst="roundRect">
            <a:avLst>
              <a:gd name="adj" fmla="val 2830"/>
            </a:avLst>
          </a:prstGeom>
        </p:spPr>
      </p:pic>
      <p:sp>
        <p:nvSpPr>
          <p:cNvPr id="2" name="">
            <a:extLst xmlns:a="http://schemas.openxmlformats.org/drawingml/2006/main">
              <a:ext uri="{FF2B5EF4-FFF2-40B4-BE49-F238E27FC236}">
                <a16:creationId xmlns:a16="http://schemas.microsoft.com/office/drawing/2014/main" id="{A3936BE1-D350-4479-95A7-93797E2E4DF7}"/>
              </a:ext>
            </a:extLst>
          </p:cNvPr>
          <p:cNvSpPr>
            <a:spLocks xmlns:a="http://schemas.openxmlformats.org/drawingml/2006/main" noGrp="1"/>
          </p:cNvSpPr>
          <p:nvPr/>
        </p:nvSpPr>
        <p:spPr>
          <a:xfrm xmlns:a="http://schemas.openxmlformats.org/drawingml/2006/main">
            <a:off x="685800" y="1276350"/>
            <a:ext cx="4953000" cy="4038600"/>
          </a:xfrm>
          <a:prstGeom xmlns:a="http://schemas.openxmlformats.org/drawingml/2006/main" prst="roundRect">
            <a:avLst>
              <a:gd name="adj" fmla="val 2830"/>
            </a:avLst>
          </a:prstGeom>
          <a:noFill xmlns:a="http://schemas.openxmlformats.org/drawingml/2006/main"/>
          <a:ln xmlns:a="http://schemas.openxmlformats.org/drawingml/2006/main" w="19050">
            <a:solidFill>
              <a:srgbClr val="D8C9CC"/>
            </a:solidFill>
            <a:prstDash val="solid"/>
          </a:ln>
        </p:spPr>
      </p:sp>
      <p:sp>
        <p:nvSpPr>
          <p:cNvPr id="3" name="">
            <a:extLst xmlns:a="http://schemas.openxmlformats.org/drawingml/2006/main">
              <a:ext uri="{FF2B5EF4-FFF2-40B4-BE49-F238E27FC236}">
                <a16:creationId xmlns:a16="http://schemas.microsoft.com/office/drawing/2014/main" id="{67755844-7317-4C5E-87A1-631A880B83D8}"/>
              </a:ext>
            </a:extLst>
          </p:cNvPr>
          <p:cNvSpPr>
            <a:spLocks xmlns:a="http://schemas.openxmlformats.org/drawingml/2006/main" noGrp="1"/>
          </p:cNvSpPr>
          <p:nvPr/>
        </p:nvSpPr>
        <p:spPr>
          <a:xfrm xmlns:a="http://schemas.openxmlformats.org/drawingml/2006/main">
            <a:off x="685800" y="4953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3B1118"/>
                </a:solidFill>
              </a:defRPr>
            </a:pPr>
            <a:r>
              <a:rPr sz="2700" b="1">
                <a:solidFill>
                  <a:srgbClr val="3B1118"/>
                </a:solidFill>
              </a:rPr>
              <a:t>A sign works only when its meaning survives the glance</a:t>
            </a:r>
          </a:p>
        </p:txBody>
      </p:sp>
      <p:sp>
        <p:nvSpPr>
          <p:cNvPr id="4" name="">
            <a:extLst xmlns:a="http://schemas.openxmlformats.org/drawingml/2006/main">
              <a:ext uri="{FF2B5EF4-FFF2-40B4-BE49-F238E27FC236}">
                <a16:creationId xmlns:a16="http://schemas.microsoft.com/office/drawing/2014/main" id="{59115FF9-F7DB-489A-9C21-320F7FAC2AD6}"/>
              </a:ext>
            </a:extLst>
          </p:cNvPr>
          <p:cNvSpPr>
            <a:spLocks xmlns:a="http://schemas.openxmlformats.org/drawingml/2006/main" noGrp="1"/>
          </p:cNvSpPr>
          <p:nvPr/>
        </p:nvSpPr>
        <p:spPr>
          <a:xfrm xmlns:a="http://schemas.openxmlformats.org/drawingml/2006/main">
            <a:off x="6096000" y="1524000"/>
            <a:ext cx="54102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a:solidFill>
                  <a:srgbClr val="25171A"/>
                </a:solidFill>
              </a:defRPr>
            </a:pPr>
            <a:r>
              <a:rPr sz="1500">
                <a:solidFill>
                  <a:srgbClr val="25171A"/>
                </a:solidFill>
              </a:rPr>
              <a:t>Shape, colour, contrast and symbol form a visual system. They help a viewer recognise the type of message before reading every word. Context still matters: a familiar form does not prove the sign is authorised, correctly placed or suitable for a new purpose. Read the whole situation before acting.</a:t>
            </a:r>
          </a:p>
        </p:txBody>
      </p:sp>
      <p:sp>
        <p:nvSpPr>
          <p:cNvPr id="5" name="">
            <a:extLst xmlns:a="http://schemas.openxmlformats.org/drawingml/2006/main">
              <a:ext uri="{FF2B5EF4-FFF2-40B4-BE49-F238E27FC236}">
                <a16:creationId xmlns:a16="http://schemas.microsoft.com/office/drawing/2014/main" id="{01C39979-2AFE-42D8-A213-36709AAC72C0}"/>
              </a:ext>
            </a:extLst>
          </p:cNvPr>
          <p:cNvSpPr>
            <a:spLocks xmlns:a="http://schemas.openxmlformats.org/drawingml/2006/main" noGrp="1"/>
          </p:cNvSpPr>
          <p:nvPr/>
        </p:nvSpPr>
        <p:spPr>
          <a:xfrm xmlns:a="http://schemas.openxmlformats.org/drawingml/2006/main">
            <a:off x="6096000" y="3676650"/>
            <a:ext cx="876300" cy="47625"/>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CF5376B-A82F-4233-8654-D15EC1FC499B}"/>
              </a:ext>
            </a:extLst>
          </p:cNvPr>
          <p:cNvSpPr>
            <a:spLocks xmlns:a="http://schemas.openxmlformats.org/drawingml/2006/main" noGrp="1"/>
          </p:cNvSpPr>
          <p:nvPr/>
        </p:nvSpPr>
        <p:spPr>
          <a:xfrm xmlns:a="http://schemas.openxmlformats.org/drawingml/2006/main">
            <a:off x="6096000" y="3962400"/>
            <a:ext cx="54102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8B2433"/>
                </a:solidFill>
              </a:defRPr>
            </a:pPr>
            <a:r>
              <a:rPr sz="1575" b="1">
                <a:solidFill>
                  <a:srgbClr val="8B2433"/>
                </a:solidFill>
              </a:rPr>
              <a:t>Notice → Which feature establishes the message first? Explain why context still controls the decision.</a:t>
            </a:r>
          </a:p>
        </p:txBody>
      </p:sp>
      <p:sp>
        <p:nvSpPr>
          <p:cNvPr id="7" name="">
            <a:extLst xmlns:a="http://schemas.openxmlformats.org/drawingml/2006/main">
              <a:ext uri="{FF2B5EF4-FFF2-40B4-BE49-F238E27FC236}">
                <a16:creationId xmlns:a16="http://schemas.microsoft.com/office/drawing/2014/main" id="{4032D004-D48F-4904-8022-FC5DA23E94FE}"/>
              </a:ext>
            </a:extLst>
          </p:cNvPr>
          <p:cNvSpPr>
            <a:spLocks xmlns:a="http://schemas.openxmlformats.org/drawingml/2006/main" noGrp="1"/>
          </p:cNvSpPr>
          <p:nvPr/>
        </p:nvSpPr>
        <p:spPr>
          <a:xfrm xmlns:a="http://schemas.openxmlformats.org/drawingml/2006/main">
            <a:off x="6096000" y="5010150"/>
            <a:ext cx="5410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6585B"/>
                </a:solidFill>
              </a:defRPr>
            </a:pPr>
            <a:r>
              <a:rPr sz="1200">
                <a:solidFill>
                  <a:srgbClr val="66585B"/>
                </a:solidFill>
              </a:rPr>
              <a:t>Look at the sign and its setting together. Meaning comes from the visual convention plus where, why and by whom it is used.</a:t>
            </a:r>
          </a:p>
        </p:txBody>
      </p:sp>
      <p:sp>
        <p:nvSpPr>
          <p:cNvPr id="8" name="">
            <a:extLst xmlns:a="http://schemas.openxmlformats.org/drawingml/2006/main">
              <a:ext uri="{FF2B5EF4-FFF2-40B4-BE49-F238E27FC236}">
                <a16:creationId xmlns:a16="http://schemas.microsoft.com/office/drawing/2014/main" id="{A2433063-EFF8-4D5D-96A2-A95F94929F97}"/>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F915B5C-F8C9-4525-AF09-77B342D1CF0B}"/>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585B"/>
                </a:solidFill>
              </a:defRPr>
            </a:pPr>
            <a:r>
              <a:rPr sz="900" b="1">
                <a:solidFill>
                  <a:srgbClr val="66585B"/>
                </a:solidFill>
              </a:rPr>
              <a:t>YEAR 10 GRAPHICS  •  MODULE 1</a:t>
            </a:r>
          </a:p>
        </p:txBody>
      </p:sp>
      <p:sp>
        <p:nvSpPr>
          <p:cNvPr id="10" name="">
            <a:extLst xmlns:a="http://schemas.openxmlformats.org/drawingml/2006/main">
              <a:ext uri="{FF2B5EF4-FFF2-40B4-BE49-F238E27FC236}">
                <a16:creationId xmlns:a16="http://schemas.microsoft.com/office/drawing/2014/main" id="{8CA9F192-D81A-4CF4-B194-B945713993B4}"/>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8B2433"/>
                </a:solidFill>
              </a:defRPr>
            </a:pPr>
            <a:r>
              <a:rPr sz="900" b="1">
                <a:solidFill>
                  <a:srgbClr val="8B2433"/>
                </a:solidFill>
              </a:rPr>
              <a:t>03</a:t>
            </a:r>
          </a:p>
        </p:txBody>
      </p:sp>
    </p:spTree>
    <p:extLst>
      <p:ext uri="{BB962C8B-B14F-4D97-AF65-F5344CB8AC3E}">
        <p14:creationId xmlns:p14="http://schemas.microsoft.com/office/powerpoint/2010/main" val="2105465841"/>
      </p:ext>
    </p:extLst>
  </p:cSld>
</p:sld>
</file>

<file path=ppt/slides/slide4.xml><?xml version="1.0" encoding="utf-8"?>
<p:sld xmlns:p="http://schemas.openxmlformats.org/presentationml/2006/main">
  <p:cSld>
    <p:bg>
      <p:bgPr>
        <a:solidFill xmlns:a="http://schemas.openxmlformats.org/drawingml/2006/main">
          <a:srgbClr val="FCFAF8"/>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66949564731498e"/>
          <a:stretch xmlns:a="http://schemas.openxmlformats.org/drawingml/2006/main"/>
        </p:blipFill>
        <p:spPr>
          <a:xfrm xmlns:a="http://schemas.openxmlformats.org/drawingml/2006/main">
            <a:off x="6553200" y="1644650"/>
            <a:ext cx="4953000" cy="3302000"/>
          </a:xfrm>
          <a:prstGeom xmlns:a="http://schemas.openxmlformats.org/drawingml/2006/main" prst="roundRect">
            <a:avLst>
              <a:gd name="adj" fmla="val 2830"/>
            </a:avLst>
          </a:prstGeom>
        </p:spPr>
      </p:pic>
      <p:sp>
        <p:nvSpPr>
          <p:cNvPr id="2" name="">
            <a:extLst xmlns:a="http://schemas.openxmlformats.org/drawingml/2006/main">
              <a:ext uri="{FF2B5EF4-FFF2-40B4-BE49-F238E27FC236}">
                <a16:creationId xmlns:a16="http://schemas.microsoft.com/office/drawing/2014/main" id="{746C002F-CF20-42E7-A25B-10C5D6068D3E}"/>
              </a:ext>
            </a:extLst>
          </p:cNvPr>
          <p:cNvSpPr>
            <a:spLocks xmlns:a="http://schemas.openxmlformats.org/drawingml/2006/main" noGrp="1"/>
          </p:cNvSpPr>
          <p:nvPr/>
        </p:nvSpPr>
        <p:spPr>
          <a:xfrm xmlns:a="http://schemas.openxmlformats.org/drawingml/2006/main">
            <a:off x="6553200" y="1276350"/>
            <a:ext cx="4953000" cy="4038600"/>
          </a:xfrm>
          <a:prstGeom xmlns:a="http://schemas.openxmlformats.org/drawingml/2006/main" prst="roundRect">
            <a:avLst>
              <a:gd name="adj" fmla="val 2830"/>
            </a:avLst>
          </a:prstGeom>
          <a:noFill xmlns:a="http://schemas.openxmlformats.org/drawingml/2006/main"/>
          <a:ln xmlns:a="http://schemas.openxmlformats.org/drawingml/2006/main" w="19050">
            <a:solidFill>
              <a:srgbClr val="D8C9CC"/>
            </a:solidFill>
            <a:prstDash val="solid"/>
          </a:ln>
        </p:spPr>
      </p:sp>
      <p:sp>
        <p:nvSpPr>
          <p:cNvPr id="3" name="">
            <a:extLst xmlns:a="http://schemas.openxmlformats.org/drawingml/2006/main">
              <a:ext uri="{FF2B5EF4-FFF2-40B4-BE49-F238E27FC236}">
                <a16:creationId xmlns:a16="http://schemas.microsoft.com/office/drawing/2014/main" id="{FB0B3FB8-29A3-4C1C-91F5-438EF5BE1F24}"/>
              </a:ext>
            </a:extLst>
          </p:cNvPr>
          <p:cNvSpPr>
            <a:spLocks xmlns:a="http://schemas.openxmlformats.org/drawingml/2006/main" noGrp="1"/>
          </p:cNvSpPr>
          <p:nvPr/>
        </p:nvSpPr>
        <p:spPr>
          <a:xfrm xmlns:a="http://schemas.openxmlformats.org/drawingml/2006/main">
            <a:off x="685800" y="4953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3B1118"/>
                </a:solidFill>
              </a:defRPr>
            </a:pPr>
            <a:r>
              <a:rPr sz="2700" b="1">
                <a:solidFill>
                  <a:srgbClr val="3B1118"/>
                </a:solidFill>
              </a:rPr>
              <a:t>Vectors store construction logic, not a fixed grid of pixels</a:t>
            </a:r>
          </a:p>
        </p:txBody>
      </p:sp>
      <p:sp>
        <p:nvSpPr>
          <p:cNvPr id="4" name="">
            <a:extLst xmlns:a="http://schemas.openxmlformats.org/drawingml/2006/main">
              <a:ext uri="{FF2B5EF4-FFF2-40B4-BE49-F238E27FC236}">
                <a16:creationId xmlns:a16="http://schemas.microsoft.com/office/drawing/2014/main" id="{84CD99FD-C2D0-4B88-B604-131233FA6EDB}"/>
              </a:ext>
            </a:extLst>
          </p:cNvPr>
          <p:cNvSpPr>
            <a:spLocks xmlns:a="http://schemas.openxmlformats.org/drawingml/2006/main" noGrp="1"/>
          </p:cNvSpPr>
          <p:nvPr/>
        </p:nvSpPr>
        <p:spPr>
          <a:xfrm xmlns:a="http://schemas.openxmlformats.org/drawingml/2006/main">
            <a:off x="685800" y="1524000"/>
            <a:ext cx="54102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a:solidFill>
                  <a:srgbClr val="25171A"/>
                </a:solidFill>
              </a:defRPr>
            </a:pPr>
            <a:r>
              <a:rPr sz="1500">
                <a:solidFill>
                  <a:srgbClr val="25171A"/>
                </a:solidFill>
              </a:rPr>
              <a:t>Vector artwork uses paths, points, fills and strokes. That structure allows clean scaling and deliberate editing, but it does not guarantee a clear design. Build simple geometry, organise related elements, check curves at useful zoom levels and export for the real communication context rather than assuming the working file is the final answer.</a:t>
            </a:r>
          </a:p>
        </p:txBody>
      </p:sp>
      <p:sp>
        <p:nvSpPr>
          <p:cNvPr id="5" name="">
            <a:extLst xmlns:a="http://schemas.openxmlformats.org/drawingml/2006/main">
              <a:ext uri="{FF2B5EF4-FFF2-40B4-BE49-F238E27FC236}">
                <a16:creationId xmlns:a16="http://schemas.microsoft.com/office/drawing/2014/main" id="{3227D40A-E67D-40D0-B67A-914020964970}"/>
              </a:ext>
            </a:extLst>
          </p:cNvPr>
          <p:cNvSpPr>
            <a:spLocks xmlns:a="http://schemas.openxmlformats.org/drawingml/2006/main" noGrp="1"/>
          </p:cNvSpPr>
          <p:nvPr/>
        </p:nvSpPr>
        <p:spPr>
          <a:xfrm xmlns:a="http://schemas.openxmlformats.org/drawingml/2006/main">
            <a:off x="685800" y="3676650"/>
            <a:ext cx="876300" cy="47625"/>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2F09510-6033-4F89-BE93-3E742820C537}"/>
              </a:ext>
            </a:extLst>
          </p:cNvPr>
          <p:cNvSpPr>
            <a:spLocks xmlns:a="http://schemas.openxmlformats.org/drawingml/2006/main" noGrp="1"/>
          </p:cNvSpPr>
          <p:nvPr/>
        </p:nvSpPr>
        <p:spPr>
          <a:xfrm xmlns:a="http://schemas.openxmlformats.org/drawingml/2006/main">
            <a:off x="685800" y="3962400"/>
            <a:ext cx="54102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8B2433"/>
                </a:solidFill>
              </a:defRPr>
            </a:pPr>
            <a:r>
              <a:rPr sz="1575" b="1">
                <a:solidFill>
                  <a:srgbClr val="8B2433"/>
                </a:solidFill>
              </a:rPr>
              <a:t>Compare → Which changes remain clean when the graphic is enlarged, and which quality checks still require judgement?</a:t>
            </a:r>
          </a:p>
        </p:txBody>
      </p:sp>
      <p:sp>
        <p:nvSpPr>
          <p:cNvPr id="7" name="">
            <a:extLst xmlns:a="http://schemas.openxmlformats.org/drawingml/2006/main">
              <a:ext uri="{FF2B5EF4-FFF2-40B4-BE49-F238E27FC236}">
                <a16:creationId xmlns:a16="http://schemas.microsoft.com/office/drawing/2014/main" id="{1C29CF56-0E1B-4E39-BD9C-DA3B365FE5EB}"/>
              </a:ext>
            </a:extLst>
          </p:cNvPr>
          <p:cNvSpPr>
            <a:spLocks xmlns:a="http://schemas.openxmlformats.org/drawingml/2006/main" noGrp="1"/>
          </p:cNvSpPr>
          <p:nvPr/>
        </p:nvSpPr>
        <p:spPr>
          <a:xfrm xmlns:a="http://schemas.openxmlformats.org/drawingml/2006/main">
            <a:off x="685800" y="5010150"/>
            <a:ext cx="5410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6585B"/>
                </a:solidFill>
              </a:defRPr>
            </a:pPr>
            <a:r>
              <a:rPr sz="1200">
                <a:solidFill>
                  <a:srgbClr val="66585B"/>
                </a:solidFill>
              </a:rPr>
              <a:t>The enlarged edge reveals how the two image structures differ. Choose the structure that suits the editing and output job.</a:t>
            </a:r>
          </a:p>
        </p:txBody>
      </p:sp>
      <p:sp>
        <p:nvSpPr>
          <p:cNvPr id="8" name="">
            <a:extLst xmlns:a="http://schemas.openxmlformats.org/drawingml/2006/main">
              <a:ext uri="{FF2B5EF4-FFF2-40B4-BE49-F238E27FC236}">
                <a16:creationId xmlns:a16="http://schemas.microsoft.com/office/drawing/2014/main" id="{A0324BB4-0C2E-4A7A-B383-8AC9AC16D7B1}"/>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9754A98-C92C-4146-BB14-FB4490DDC9E4}"/>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585B"/>
                </a:solidFill>
              </a:defRPr>
            </a:pPr>
            <a:r>
              <a:rPr sz="900" b="1">
                <a:solidFill>
                  <a:srgbClr val="66585B"/>
                </a:solidFill>
              </a:rPr>
              <a:t>YEAR 10 GRAPHICS  •  MODULE 1</a:t>
            </a:r>
          </a:p>
        </p:txBody>
      </p:sp>
      <p:sp>
        <p:nvSpPr>
          <p:cNvPr id="10" name="">
            <a:extLst xmlns:a="http://schemas.openxmlformats.org/drawingml/2006/main">
              <a:ext uri="{FF2B5EF4-FFF2-40B4-BE49-F238E27FC236}">
                <a16:creationId xmlns:a16="http://schemas.microsoft.com/office/drawing/2014/main" id="{8970657B-E61F-45E8-9DED-3B6F7AF9AC08}"/>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8B2433"/>
                </a:solidFill>
              </a:defRPr>
            </a:pPr>
            <a:r>
              <a:rPr sz="900" b="1">
                <a:solidFill>
                  <a:srgbClr val="8B2433"/>
                </a:solidFill>
              </a:rPr>
              <a:t>04</a:t>
            </a:r>
          </a:p>
        </p:txBody>
      </p:sp>
    </p:spTree>
    <p:extLst>
      <p:ext uri="{BB962C8B-B14F-4D97-AF65-F5344CB8AC3E}">
        <p14:creationId xmlns:p14="http://schemas.microsoft.com/office/powerpoint/2010/main" val="1343704588"/>
      </p:ext>
    </p:extLst>
  </p:cSld>
</p:sld>
</file>

<file path=ppt/slides/slide5.xml><?xml version="1.0" encoding="utf-8"?>
<p:sld xmlns:p="http://schemas.openxmlformats.org/presentationml/2006/main">
  <p:cSld>
    <p:bg>
      <p:bgPr>
        <a:solidFill xmlns:a="http://schemas.openxmlformats.org/drawingml/2006/main">
          <a:srgbClr val="1B1718"/>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4f1c373cca84e2b"/>
          <a:srcRect xmlns:a="http://schemas.openxmlformats.org/drawingml/2006/main" l="0" t="30078" r="0" b="30078"/>
          <a:stretch xmlns:a="http://schemas.openxmlformats.org/drawingml/2006/main">
            <a:fillRect l="0" t="0" r="0" b="0"/>
          </a:stretch>
        </p:blipFill>
        <p:spPr>
          <a:xfrm xmlns:a="http://schemas.openxmlformats.org/drawingml/2006/main">
            <a:off x="0" y="0"/>
            <a:ext cx="12192000" cy="3238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22326E7-3596-4A5D-820F-8F9642C62FF1}"/>
              </a:ext>
            </a:extLst>
          </p:cNvPr>
          <p:cNvSpPr>
            <a:spLocks xmlns:a="http://schemas.openxmlformats.org/drawingml/2006/main" noGrp="1"/>
          </p:cNvSpPr>
          <p:nvPr/>
        </p:nvSpPr>
        <p:spPr>
          <a:xfrm xmlns:a="http://schemas.openxmlformats.org/drawingml/2006/main">
            <a:off x="0" y="3028950"/>
            <a:ext cx="12192000" cy="3829050"/>
          </a:xfrm>
          <a:prstGeom xmlns:a="http://schemas.openxmlformats.org/drawingml/2006/main" prst="rect">
            <a:avLst/>
          </a:prstGeom>
          <a:solidFill xmlns:a="http://schemas.openxmlformats.org/drawingml/2006/main">
            <a:srgbClr val="1B171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A5CCB27-7E3C-486E-BED3-84858A63777D}"/>
              </a:ext>
            </a:extLst>
          </p:cNvPr>
          <p:cNvSpPr>
            <a:spLocks xmlns:a="http://schemas.openxmlformats.org/drawingml/2006/main" noGrp="1"/>
          </p:cNvSpPr>
          <p:nvPr/>
        </p:nvSpPr>
        <p:spPr>
          <a:xfrm xmlns:a="http://schemas.openxmlformats.org/drawingml/2006/main">
            <a:off x="685800" y="33528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FFFFFF"/>
                </a:solidFill>
              </a:defRPr>
            </a:pPr>
            <a:r>
              <a:rPr sz="2700" b="1">
                <a:solidFill>
                  <a:srgbClr val="FFFFFF"/>
                </a:solidFill>
              </a:rPr>
              <a:t>Good design directs attention and respects the people it reaches</a:t>
            </a:r>
          </a:p>
        </p:txBody>
      </p:sp>
      <p:sp>
        <p:nvSpPr>
          <p:cNvPr id="4" name="">
            <a:extLst xmlns:a="http://schemas.openxmlformats.org/drawingml/2006/main">
              <a:ext uri="{FF2B5EF4-FFF2-40B4-BE49-F238E27FC236}">
                <a16:creationId xmlns:a16="http://schemas.microsoft.com/office/drawing/2014/main" id="{A92E6C05-67EE-491B-88EE-2D38A6F8155F}"/>
              </a:ext>
            </a:extLst>
          </p:cNvPr>
          <p:cNvSpPr>
            <a:spLocks xmlns:a="http://schemas.openxmlformats.org/drawingml/2006/main" noGrp="1"/>
          </p:cNvSpPr>
          <p:nvPr/>
        </p:nvSpPr>
        <p:spPr>
          <a:xfrm xmlns:a="http://schemas.openxmlformats.org/drawingml/2006/main">
            <a:off x="685800" y="4114800"/>
            <a:ext cx="68389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F7EDEF"/>
                </a:solidFill>
              </a:defRPr>
            </a:pPr>
            <a:r>
              <a:rPr sz="1425">
                <a:solidFill>
                  <a:srgbClr val="F7EDEF"/>
                </a:solidFill>
              </a:rPr>
              <a:t>Hierarchy, contrast, balance, alignment and proximity shape the reading order. Their value depends on audience, purpose and context rather than a universal style recipe. Responsible communication also requires source records, attribution, permission, privacy checks and cultural authority where relevant. A polished image is not automatically an ethical one.</a:t>
            </a:r>
          </a:p>
        </p:txBody>
      </p:sp>
      <p:sp>
        <p:nvSpPr>
          <p:cNvPr id="5" name="">
            <a:extLst xmlns:a="http://schemas.openxmlformats.org/drawingml/2006/main">
              <a:ext uri="{FF2B5EF4-FFF2-40B4-BE49-F238E27FC236}">
                <a16:creationId xmlns:a16="http://schemas.microsoft.com/office/drawing/2014/main" id="{F11984AC-BA38-4E19-99BC-6C6BB3B24594}"/>
              </a:ext>
            </a:extLst>
          </p:cNvPr>
          <p:cNvSpPr>
            <a:spLocks xmlns:a="http://schemas.openxmlformats.org/drawingml/2006/main" noGrp="1"/>
          </p:cNvSpPr>
          <p:nvPr/>
        </p:nvSpPr>
        <p:spPr>
          <a:xfrm xmlns:a="http://schemas.openxmlformats.org/drawingml/2006/main">
            <a:off x="7962900" y="4114800"/>
            <a:ext cx="35433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FFD8DF"/>
                </a:solidFill>
              </a:defRPr>
            </a:pPr>
            <a:r>
              <a:rPr sz="1575" b="1">
                <a:solidFill>
                  <a:srgbClr val="FFD8DF"/>
                </a:solidFill>
              </a:rPr>
              <a:t>Decide → What should the audience notice first, and what rights or cultural checks must be resolved before release?</a:t>
            </a:r>
          </a:p>
        </p:txBody>
      </p:sp>
      <p:sp>
        <p:nvSpPr>
          <p:cNvPr id="6" name="">
            <a:extLst xmlns:a="http://schemas.openxmlformats.org/drawingml/2006/main">
              <a:ext uri="{FF2B5EF4-FFF2-40B4-BE49-F238E27FC236}">
                <a16:creationId xmlns:a16="http://schemas.microsoft.com/office/drawing/2014/main" id="{3566FA61-3C07-46E9-9972-CFD98E9BE508}"/>
              </a:ext>
            </a:extLst>
          </p:cNvPr>
          <p:cNvSpPr>
            <a:spLocks xmlns:a="http://schemas.openxmlformats.org/drawingml/2006/main" noGrp="1"/>
          </p:cNvSpPr>
          <p:nvPr/>
        </p:nvSpPr>
        <p:spPr>
          <a:xfrm xmlns:a="http://schemas.openxmlformats.org/drawingml/2006/main">
            <a:off x="7962900" y="5467350"/>
            <a:ext cx="3543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D7C9CC"/>
                </a:solidFill>
              </a:defRPr>
            </a:pPr>
            <a:r>
              <a:rPr sz="1200">
                <a:solidFill>
                  <a:srgbClr val="D7C9CC"/>
                </a:solidFill>
              </a:rPr>
              <a:t>Visual decisions and source decisions belong in the same workflow. Both affect whether a graphic is fit to share.</a:t>
            </a:r>
          </a:p>
        </p:txBody>
      </p:sp>
      <p:sp>
        <p:nvSpPr>
          <p:cNvPr id="7" name="">
            <a:extLst xmlns:a="http://schemas.openxmlformats.org/drawingml/2006/main">
              <a:ext uri="{FF2B5EF4-FFF2-40B4-BE49-F238E27FC236}">
                <a16:creationId xmlns:a16="http://schemas.microsoft.com/office/drawing/2014/main" id="{7D9079B3-8854-4508-8630-08D6DD54A5FE}"/>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25F57B0-AF87-4546-8A39-52DCC1D2AF72}"/>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585B"/>
                </a:solidFill>
              </a:defRPr>
            </a:pPr>
            <a:r>
              <a:rPr sz="900" b="1">
                <a:solidFill>
                  <a:srgbClr val="66585B"/>
                </a:solidFill>
              </a:rPr>
              <a:t>YEAR 10 GRAPHICS  •  MODULE 1</a:t>
            </a:r>
          </a:p>
        </p:txBody>
      </p:sp>
      <p:sp>
        <p:nvSpPr>
          <p:cNvPr id="9" name="">
            <a:extLst xmlns:a="http://schemas.openxmlformats.org/drawingml/2006/main">
              <a:ext uri="{FF2B5EF4-FFF2-40B4-BE49-F238E27FC236}">
                <a16:creationId xmlns:a16="http://schemas.microsoft.com/office/drawing/2014/main" id="{CBD30983-9DDC-4539-8BC9-48F13DDD729F}"/>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8B2433"/>
                </a:solidFill>
              </a:defRPr>
            </a:pPr>
            <a:r>
              <a:rPr sz="900" b="1">
                <a:solidFill>
                  <a:srgbClr val="8B2433"/>
                </a:solidFill>
              </a:rPr>
              <a:t>05</a:t>
            </a:r>
          </a:p>
        </p:txBody>
      </p:sp>
    </p:spTree>
    <p:extLst>
      <p:ext uri="{BB962C8B-B14F-4D97-AF65-F5344CB8AC3E}">
        <p14:creationId xmlns:p14="http://schemas.microsoft.com/office/powerpoint/2010/main" val="592320796"/>
      </p:ext>
    </p:extLst>
  </p:cSld>
</p:sld>
</file>

<file path=ppt/slides/slide6.xml><?xml version="1.0" encoding="utf-8"?>
<p:sld xmlns:p="http://schemas.openxmlformats.org/presentationml/2006/main">
  <p:cSld>
    <p:bg>
      <p:bgPr>
        <a:solidFill xmlns:a="http://schemas.openxmlformats.org/drawingml/2006/main">
          <a:srgbClr val="3B111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EA8E7A1-783A-4799-8D73-14ED932AC95D}"/>
              </a:ext>
            </a:extLst>
          </p:cNvPr>
          <p:cNvSpPr>
            <a:spLocks xmlns:a="http://schemas.openxmlformats.org/drawingml/2006/main" noGrp="1"/>
          </p:cNvSpPr>
          <p:nvPr/>
        </p:nvSpPr>
        <p:spPr>
          <a:xfrm xmlns:a="http://schemas.openxmlformats.org/drawingml/2006/main">
            <a:off x="685800" y="552450"/>
            <a:ext cx="7810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FFFFFF"/>
                </a:solidFill>
              </a:defRPr>
            </a:pPr>
            <a:r>
              <a:rPr sz="3000" b="1">
                <a:solidFill>
                  <a:srgbClr val="FFFFFF"/>
                </a:solidFill>
              </a:rPr>
              <a:t>Retrieve before you look back</a:t>
            </a:r>
          </a:p>
        </p:txBody>
      </p:sp>
      <p:sp>
        <p:nvSpPr>
          <p:cNvPr id="2" name="">
            <a:extLst xmlns:a="http://schemas.openxmlformats.org/drawingml/2006/main">
              <a:ext uri="{FF2B5EF4-FFF2-40B4-BE49-F238E27FC236}">
                <a16:creationId xmlns:a16="http://schemas.microsoft.com/office/drawing/2014/main" id="{C8342762-04FA-4C6A-89B0-004D2DD90ACB}"/>
              </a:ext>
            </a:extLst>
          </p:cNvPr>
          <p:cNvSpPr>
            <a:spLocks xmlns:a="http://schemas.openxmlformats.org/drawingml/2006/main" noGrp="1"/>
          </p:cNvSpPr>
          <p:nvPr/>
        </p:nvSpPr>
        <p:spPr>
          <a:xfrm xmlns:a="http://schemas.openxmlformats.org/drawingml/2006/main">
            <a:off x="685800" y="1200150"/>
            <a:ext cx="742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a:solidFill>
                  <a:srgbClr val="F1D8DE"/>
                </a:solidFill>
              </a:defRPr>
            </a:pPr>
            <a:r>
              <a:rPr sz="1500">
                <a:solidFill>
                  <a:srgbClr val="F1D8DE"/>
                </a:solidFill>
              </a:rPr>
              <a:t>Answer in a phrase first. Then add the because.</a:t>
            </a:r>
          </a:p>
        </p:txBody>
      </p:sp>
      <p:sp>
        <p:nvSpPr>
          <p:cNvPr id="3" name="">
            <a:extLst xmlns:a="http://schemas.openxmlformats.org/drawingml/2006/main">
              <a:ext uri="{FF2B5EF4-FFF2-40B4-BE49-F238E27FC236}">
                <a16:creationId xmlns:a16="http://schemas.microsoft.com/office/drawing/2014/main" id="{7C692E84-BEBB-4CF1-91BD-346F46813442}"/>
              </a:ext>
            </a:extLst>
          </p:cNvPr>
          <p:cNvSpPr>
            <a:spLocks xmlns:a="http://schemas.openxmlformats.org/drawingml/2006/main" noGrp="1"/>
          </p:cNvSpPr>
          <p:nvPr/>
        </p:nvSpPr>
        <p:spPr>
          <a:xfrm xmlns:a="http://schemas.openxmlformats.org/drawingml/2006/main">
            <a:off x="876300" y="19812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F4A9B8"/>
                </a:solidFill>
              </a:defRPr>
            </a:pPr>
            <a:r>
              <a:rPr sz="1800" b="1">
                <a:solidFill>
                  <a:srgbClr val="F4A9B8"/>
                </a:solidFill>
              </a:rPr>
              <a:t>01</a:t>
            </a:r>
          </a:p>
        </p:txBody>
      </p:sp>
      <p:sp>
        <p:nvSpPr>
          <p:cNvPr id="4" name="">
            <a:extLst xmlns:a="http://schemas.openxmlformats.org/drawingml/2006/main">
              <a:ext uri="{FF2B5EF4-FFF2-40B4-BE49-F238E27FC236}">
                <a16:creationId xmlns:a16="http://schemas.microsoft.com/office/drawing/2014/main" id="{7BF1807E-13C3-4C2E-93C6-CFDDE67ACFDF}"/>
              </a:ext>
            </a:extLst>
          </p:cNvPr>
          <p:cNvSpPr>
            <a:spLocks xmlns:a="http://schemas.openxmlformats.org/drawingml/2006/main" noGrp="1"/>
          </p:cNvSpPr>
          <p:nvPr/>
        </p:nvSpPr>
        <p:spPr>
          <a:xfrm xmlns:a="http://schemas.openxmlformats.org/drawingml/2006/main">
            <a:off x="1638300" y="1981200"/>
            <a:ext cx="9029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a:solidFill>
                  <a:srgbClr val="FFFFFF"/>
                </a:solidFill>
              </a:defRPr>
            </a:pPr>
            <a:r>
              <a:rPr sz="1725">
                <a:solidFill>
                  <a:srgbClr val="FFFFFF"/>
                </a:solidFill>
              </a:rPr>
              <a:t>How can a sign be visually familiar but still unsuitable for a particular location?</a:t>
            </a:r>
          </a:p>
        </p:txBody>
      </p:sp>
      <p:sp>
        <p:nvSpPr>
          <p:cNvPr id="5" name="">
            <a:extLst xmlns:a="http://schemas.openxmlformats.org/drawingml/2006/main">
              <a:ext uri="{FF2B5EF4-FFF2-40B4-BE49-F238E27FC236}">
                <a16:creationId xmlns:a16="http://schemas.microsoft.com/office/drawing/2014/main" id="{16A9A806-3B53-4043-A2C3-ED95228BA997}"/>
              </a:ext>
            </a:extLst>
          </p:cNvPr>
          <p:cNvSpPr>
            <a:spLocks xmlns:a="http://schemas.openxmlformats.org/drawingml/2006/main" noGrp="1"/>
          </p:cNvSpPr>
          <p:nvPr/>
        </p:nvSpPr>
        <p:spPr>
          <a:xfrm xmlns:a="http://schemas.openxmlformats.org/drawingml/2006/main">
            <a:off x="876300" y="28575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F4A9B8"/>
                </a:solidFill>
              </a:defRPr>
            </a:pPr>
            <a:r>
              <a:rPr sz="1800" b="1">
                <a:solidFill>
                  <a:srgbClr val="F4A9B8"/>
                </a:solidFill>
              </a:rPr>
              <a:t>02</a:t>
            </a:r>
          </a:p>
        </p:txBody>
      </p:sp>
      <p:sp>
        <p:nvSpPr>
          <p:cNvPr id="6" name="">
            <a:extLst xmlns:a="http://schemas.openxmlformats.org/drawingml/2006/main">
              <a:ext uri="{FF2B5EF4-FFF2-40B4-BE49-F238E27FC236}">
                <a16:creationId xmlns:a16="http://schemas.microsoft.com/office/drawing/2014/main" id="{43747A70-3E9B-4FF2-9633-0B7F200161FE}"/>
              </a:ext>
            </a:extLst>
          </p:cNvPr>
          <p:cNvSpPr>
            <a:spLocks xmlns:a="http://schemas.openxmlformats.org/drawingml/2006/main" noGrp="1"/>
          </p:cNvSpPr>
          <p:nvPr/>
        </p:nvSpPr>
        <p:spPr>
          <a:xfrm xmlns:a="http://schemas.openxmlformats.org/drawingml/2006/main">
            <a:off x="1638300" y="2857500"/>
            <a:ext cx="9029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a:solidFill>
                  <a:srgbClr val="FFFFFF"/>
                </a:solidFill>
              </a:defRPr>
            </a:pPr>
            <a:r>
              <a:rPr sz="1725">
                <a:solidFill>
                  <a:srgbClr val="FFFFFF"/>
                </a:solidFill>
              </a:rPr>
              <a:t>What structural difference lets vector artwork scale cleanly?</a:t>
            </a:r>
          </a:p>
        </p:txBody>
      </p:sp>
      <p:sp>
        <p:nvSpPr>
          <p:cNvPr id="7" name="">
            <a:extLst xmlns:a="http://schemas.openxmlformats.org/drawingml/2006/main">
              <a:ext uri="{FF2B5EF4-FFF2-40B4-BE49-F238E27FC236}">
                <a16:creationId xmlns:a16="http://schemas.microsoft.com/office/drawing/2014/main" id="{741B5521-2C78-40C9-8D98-C55BD941FEA2}"/>
              </a:ext>
            </a:extLst>
          </p:cNvPr>
          <p:cNvSpPr>
            <a:spLocks xmlns:a="http://schemas.openxmlformats.org/drawingml/2006/main" noGrp="1"/>
          </p:cNvSpPr>
          <p:nvPr/>
        </p:nvSpPr>
        <p:spPr>
          <a:xfrm xmlns:a="http://schemas.openxmlformats.org/drawingml/2006/main">
            <a:off x="876300" y="37338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F4A9B8"/>
                </a:solidFill>
              </a:defRPr>
            </a:pPr>
            <a:r>
              <a:rPr sz="1800" b="1">
                <a:solidFill>
                  <a:srgbClr val="F4A9B8"/>
                </a:solidFill>
              </a:rPr>
              <a:t>03</a:t>
            </a:r>
          </a:p>
        </p:txBody>
      </p:sp>
      <p:sp>
        <p:nvSpPr>
          <p:cNvPr id="8" name="">
            <a:extLst xmlns:a="http://schemas.openxmlformats.org/drawingml/2006/main">
              <a:ext uri="{FF2B5EF4-FFF2-40B4-BE49-F238E27FC236}">
                <a16:creationId xmlns:a16="http://schemas.microsoft.com/office/drawing/2014/main" id="{017BBC72-1D4B-4AE4-AD79-CE3A48703266}"/>
              </a:ext>
            </a:extLst>
          </p:cNvPr>
          <p:cNvSpPr>
            <a:spLocks xmlns:a="http://schemas.openxmlformats.org/drawingml/2006/main" noGrp="1"/>
          </p:cNvSpPr>
          <p:nvPr/>
        </p:nvSpPr>
        <p:spPr>
          <a:xfrm xmlns:a="http://schemas.openxmlformats.org/drawingml/2006/main">
            <a:off x="1638300" y="3733800"/>
            <a:ext cx="9029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a:solidFill>
                  <a:srgbClr val="FFFFFF"/>
                </a:solidFill>
              </a:defRPr>
            </a:pPr>
            <a:r>
              <a:rPr sz="1725">
                <a:solidFill>
                  <a:srgbClr val="FFFFFF"/>
                </a:solidFill>
              </a:rPr>
              <a:t>Name two design principles and explain the reading decision each supports.</a:t>
            </a:r>
          </a:p>
        </p:txBody>
      </p:sp>
      <p:sp>
        <p:nvSpPr>
          <p:cNvPr id="9" name="">
            <a:extLst xmlns:a="http://schemas.openxmlformats.org/drawingml/2006/main">
              <a:ext uri="{FF2B5EF4-FFF2-40B4-BE49-F238E27FC236}">
                <a16:creationId xmlns:a16="http://schemas.microsoft.com/office/drawing/2014/main" id="{466AD10E-5DE4-4D56-9624-1D29E3237E2A}"/>
              </a:ext>
            </a:extLst>
          </p:cNvPr>
          <p:cNvSpPr>
            <a:spLocks xmlns:a="http://schemas.openxmlformats.org/drawingml/2006/main" noGrp="1"/>
          </p:cNvSpPr>
          <p:nvPr/>
        </p:nvSpPr>
        <p:spPr>
          <a:xfrm xmlns:a="http://schemas.openxmlformats.org/drawingml/2006/main">
            <a:off x="876300" y="46101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F4A9B8"/>
                </a:solidFill>
              </a:defRPr>
            </a:pPr>
            <a:r>
              <a:rPr sz="1800" b="1">
                <a:solidFill>
                  <a:srgbClr val="F4A9B8"/>
                </a:solidFill>
              </a:rPr>
              <a:t>04</a:t>
            </a:r>
          </a:p>
        </p:txBody>
      </p:sp>
      <p:sp>
        <p:nvSpPr>
          <p:cNvPr id="10" name="">
            <a:extLst xmlns:a="http://schemas.openxmlformats.org/drawingml/2006/main">
              <a:ext uri="{FF2B5EF4-FFF2-40B4-BE49-F238E27FC236}">
                <a16:creationId xmlns:a16="http://schemas.microsoft.com/office/drawing/2014/main" id="{DF40B510-2FC2-4457-86B7-ABB6CF5BF00D}"/>
              </a:ext>
            </a:extLst>
          </p:cNvPr>
          <p:cNvSpPr>
            <a:spLocks xmlns:a="http://schemas.openxmlformats.org/drawingml/2006/main" noGrp="1"/>
          </p:cNvSpPr>
          <p:nvPr/>
        </p:nvSpPr>
        <p:spPr>
          <a:xfrm xmlns:a="http://schemas.openxmlformats.org/drawingml/2006/main">
            <a:off x="1638300" y="4610100"/>
            <a:ext cx="9029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a:solidFill>
                  <a:srgbClr val="FFFFFF"/>
                </a:solidFill>
              </a:defRPr>
            </a:pPr>
            <a:r>
              <a:rPr sz="1725">
                <a:solidFill>
                  <a:srgbClr val="FFFFFF"/>
                </a:solidFill>
              </a:rPr>
              <a:t>Why is attribution alone sometimes insufficient before sharing a design?</a:t>
            </a:r>
          </a:p>
        </p:txBody>
      </p:sp>
      <p:sp>
        <p:nvSpPr>
          <p:cNvPr id="11" name="">
            <a:extLst xmlns:a="http://schemas.openxmlformats.org/drawingml/2006/main">
              <a:ext uri="{FF2B5EF4-FFF2-40B4-BE49-F238E27FC236}">
                <a16:creationId xmlns:a16="http://schemas.microsoft.com/office/drawing/2014/main" id="{A3418E66-F0C4-4C2E-88FF-573AEB422A4F}"/>
              </a:ext>
            </a:extLst>
          </p:cNvPr>
          <p:cNvSpPr>
            <a:spLocks xmlns:a="http://schemas.openxmlformats.org/drawingml/2006/main" noGrp="1"/>
          </p:cNvSpPr>
          <p:nvPr/>
        </p:nvSpPr>
        <p:spPr>
          <a:xfrm xmlns:a="http://schemas.openxmlformats.org/drawingml/2006/main">
            <a:off x="1638300" y="5676900"/>
            <a:ext cx="9029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4A9B8"/>
                </a:solidFill>
              </a:defRPr>
            </a:pPr>
            <a:r>
              <a:rPr sz="1350" b="1">
                <a:solidFill>
                  <a:srgbClr val="F4A9B8"/>
                </a:solidFill>
              </a:rPr>
              <a:t>Check: can your partner point to the slide evidence that supports the answer?</a:t>
            </a:r>
          </a:p>
        </p:txBody>
      </p:sp>
      <p:sp>
        <p:nvSpPr>
          <p:cNvPr id="12" name="">
            <a:extLst xmlns:a="http://schemas.openxmlformats.org/drawingml/2006/main">
              <a:ext uri="{FF2B5EF4-FFF2-40B4-BE49-F238E27FC236}">
                <a16:creationId xmlns:a16="http://schemas.microsoft.com/office/drawing/2014/main" id="{255AA224-92AA-4491-ACFF-2A94C1D7F0C5}"/>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FA4497B-49CC-4DC0-95A3-F39EDE3A4346}"/>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585B"/>
                </a:solidFill>
              </a:defRPr>
            </a:pPr>
            <a:r>
              <a:rPr sz="900" b="1">
                <a:solidFill>
                  <a:srgbClr val="66585B"/>
                </a:solidFill>
              </a:rPr>
              <a:t>YEAR 10 GRAPHICS  •  MODULE 1</a:t>
            </a:r>
          </a:p>
        </p:txBody>
      </p:sp>
      <p:sp>
        <p:nvSpPr>
          <p:cNvPr id="14" name="">
            <a:extLst xmlns:a="http://schemas.openxmlformats.org/drawingml/2006/main">
              <a:ext uri="{FF2B5EF4-FFF2-40B4-BE49-F238E27FC236}">
                <a16:creationId xmlns:a16="http://schemas.microsoft.com/office/drawing/2014/main" id="{C7CEE990-CC61-4087-BE6B-D1ACD06603DC}"/>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8B2433"/>
                </a:solidFill>
              </a:defRPr>
            </a:pPr>
            <a:r>
              <a:rPr sz="900" b="1">
                <a:solidFill>
                  <a:srgbClr val="8B2433"/>
                </a:solidFill>
              </a:rPr>
              <a:t>06</a:t>
            </a:r>
          </a:p>
        </p:txBody>
      </p:sp>
    </p:spTree>
    <p:extLst>
      <p:ext uri="{BB962C8B-B14F-4D97-AF65-F5344CB8AC3E}">
        <p14:creationId xmlns:p14="http://schemas.microsoft.com/office/powerpoint/2010/main" val="18603599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79ABA12-56AC-487B-9862-A5DAEA2204EE}"/>
              </a:ext>
            </a:extLst>
          </p:cNvPr>
          <p:cNvSpPr>
            <a:spLocks xmlns:a="http://schemas.openxmlformats.org/drawingml/2006/main" noGrp="1"/>
          </p:cNvSpPr>
          <p:nvPr/>
        </p:nvSpPr>
        <p:spPr>
          <a:xfrm xmlns:a="http://schemas.openxmlformats.org/drawingml/2006/main">
            <a:off x="685800" y="5334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3B1118"/>
                </a:solidFill>
              </a:defRPr>
            </a:pPr>
            <a:r>
              <a:rPr sz="2850" b="1">
                <a:solidFill>
                  <a:srgbClr val="3B1118"/>
                </a:solidFill>
              </a:rPr>
              <a:t>Build evidence: Read → Select → Explain → Check</a:t>
            </a:r>
          </a:p>
        </p:txBody>
      </p:sp>
      <p:sp>
        <p:nvSpPr>
          <p:cNvPr id="2" name="">
            <a:extLst xmlns:a="http://schemas.openxmlformats.org/drawingml/2006/main">
              <a:ext uri="{FF2B5EF4-FFF2-40B4-BE49-F238E27FC236}">
                <a16:creationId xmlns:a16="http://schemas.microsoft.com/office/drawing/2014/main" id="{4C0FA5E0-3B88-42D3-92E9-456B15CA9B63}"/>
              </a:ext>
            </a:extLst>
          </p:cNvPr>
          <p:cNvSpPr>
            <a:spLocks xmlns:a="http://schemas.openxmlformats.org/drawingml/2006/main" noGrp="1"/>
          </p:cNvSpPr>
          <p:nvPr/>
        </p:nvSpPr>
        <p:spPr>
          <a:xfrm xmlns:a="http://schemas.openxmlformats.org/drawingml/2006/main">
            <a:off x="685800" y="1752600"/>
            <a:ext cx="2324100" cy="1676400"/>
          </a:xfrm>
          <a:prstGeom xmlns:a="http://schemas.openxmlformats.org/drawingml/2006/main" prst="roundRect">
            <a:avLst>
              <a:gd name="adj" fmla="val 9091"/>
            </a:avLst>
          </a:prstGeom>
          <a:solidFill xmlns:a="http://schemas.openxmlformats.org/drawingml/2006/main">
            <a:srgbClr val="FCFAF8"/>
          </a:solidFill>
          <a:ln xmlns:a="http://schemas.openxmlformats.org/drawingml/2006/main" w="19050">
            <a:solidFill>
              <a:srgbClr val="D8C9CC"/>
            </a:solidFill>
            <a:prstDash val="solid"/>
          </a:ln>
        </p:spPr>
      </p:sp>
      <p:sp>
        <p:nvSpPr>
          <p:cNvPr id="3" name="">
            <a:extLst xmlns:a="http://schemas.openxmlformats.org/drawingml/2006/main">
              <a:ext uri="{FF2B5EF4-FFF2-40B4-BE49-F238E27FC236}">
                <a16:creationId xmlns:a16="http://schemas.microsoft.com/office/drawing/2014/main" id="{C998AA85-519C-4F19-BF96-5C7C035B94D9}"/>
              </a:ext>
            </a:extLst>
          </p:cNvPr>
          <p:cNvSpPr>
            <a:spLocks xmlns:a="http://schemas.openxmlformats.org/drawingml/2006/main" noGrp="1"/>
          </p:cNvSpPr>
          <p:nvPr/>
        </p:nvSpPr>
        <p:spPr>
          <a:xfrm xmlns:a="http://schemas.openxmlformats.org/drawingml/2006/main">
            <a:off x="895350" y="2000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8B2433"/>
                </a:solidFill>
              </a:defRPr>
            </a:pPr>
            <a:r>
              <a:rPr sz="1350" b="1">
                <a:solidFill>
                  <a:srgbClr val="8B2433"/>
                </a:solidFill>
              </a:rPr>
              <a:t>READ</a:t>
            </a:r>
          </a:p>
        </p:txBody>
      </p:sp>
      <p:sp>
        <p:nvSpPr>
          <p:cNvPr id="4" name="">
            <a:extLst xmlns:a="http://schemas.openxmlformats.org/drawingml/2006/main">
              <a:ext uri="{FF2B5EF4-FFF2-40B4-BE49-F238E27FC236}">
                <a16:creationId xmlns:a16="http://schemas.microsoft.com/office/drawing/2014/main" id="{136B4490-F198-487E-9098-13238AC2D9CE}"/>
              </a:ext>
            </a:extLst>
          </p:cNvPr>
          <p:cNvSpPr>
            <a:spLocks xmlns:a="http://schemas.openxmlformats.org/drawingml/2006/main" noGrp="1"/>
          </p:cNvSpPr>
          <p:nvPr/>
        </p:nvSpPr>
        <p:spPr>
          <a:xfrm xmlns:a="http://schemas.openxmlformats.org/drawingml/2006/main">
            <a:off x="895350" y="2457450"/>
            <a:ext cx="190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25171A"/>
                </a:solidFill>
              </a:defRPr>
            </a:pPr>
            <a:r>
              <a:rPr sz="1425">
                <a:solidFill>
                  <a:srgbClr val="25171A"/>
                </a:solidFill>
              </a:rPr>
              <a:t>Name the brief, source or criterion.</a:t>
            </a:r>
          </a:p>
        </p:txBody>
      </p:sp>
      <p:sp>
        <p:nvSpPr>
          <p:cNvPr id="5" name="">
            <a:extLst xmlns:a="http://schemas.openxmlformats.org/drawingml/2006/main">
              <a:ext uri="{FF2B5EF4-FFF2-40B4-BE49-F238E27FC236}">
                <a16:creationId xmlns:a16="http://schemas.microsoft.com/office/drawing/2014/main" id="{B0666DD8-D171-4B29-9C84-20D2F4B9C7D9}"/>
              </a:ext>
            </a:extLst>
          </p:cNvPr>
          <p:cNvSpPr>
            <a:spLocks xmlns:a="http://schemas.openxmlformats.org/drawingml/2006/main" noGrp="1"/>
          </p:cNvSpPr>
          <p:nvPr/>
        </p:nvSpPr>
        <p:spPr>
          <a:xfrm xmlns:a="http://schemas.openxmlformats.org/drawingml/2006/main">
            <a:off x="3038475" y="2362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8B2433"/>
                </a:solidFill>
              </a:defRPr>
            </a:pPr>
            <a:r>
              <a:rPr sz="2250" b="1">
                <a:solidFill>
                  <a:srgbClr val="8B2433"/>
                </a:solidFill>
              </a:rPr>
              <a:t>→</a:t>
            </a:r>
          </a:p>
        </p:txBody>
      </p:sp>
      <p:sp>
        <p:nvSpPr>
          <p:cNvPr id="6" name="">
            <a:extLst xmlns:a="http://schemas.openxmlformats.org/drawingml/2006/main">
              <a:ext uri="{FF2B5EF4-FFF2-40B4-BE49-F238E27FC236}">
                <a16:creationId xmlns:a16="http://schemas.microsoft.com/office/drawing/2014/main" id="{F67DCA10-573D-429B-9080-C5E4D22062BF}"/>
              </a:ext>
            </a:extLst>
          </p:cNvPr>
          <p:cNvSpPr>
            <a:spLocks xmlns:a="http://schemas.openxmlformats.org/drawingml/2006/main" noGrp="1"/>
          </p:cNvSpPr>
          <p:nvPr/>
        </p:nvSpPr>
        <p:spPr>
          <a:xfrm xmlns:a="http://schemas.openxmlformats.org/drawingml/2006/main">
            <a:off x="3467100" y="1752600"/>
            <a:ext cx="2324100" cy="1676400"/>
          </a:xfrm>
          <a:prstGeom xmlns:a="http://schemas.openxmlformats.org/drawingml/2006/main" prst="roundRect">
            <a:avLst>
              <a:gd name="adj" fmla="val 9091"/>
            </a:avLst>
          </a:prstGeom>
          <a:solidFill xmlns:a="http://schemas.openxmlformats.org/drawingml/2006/main">
            <a:srgbClr val="FCFAF8"/>
          </a:solidFill>
          <a:ln xmlns:a="http://schemas.openxmlformats.org/drawingml/2006/main" w="19050">
            <a:solidFill>
              <a:srgbClr val="D8C9CC"/>
            </a:solidFill>
            <a:prstDash val="solid"/>
          </a:ln>
        </p:spPr>
      </p:sp>
      <p:sp>
        <p:nvSpPr>
          <p:cNvPr id="7" name="">
            <a:extLst xmlns:a="http://schemas.openxmlformats.org/drawingml/2006/main">
              <a:ext uri="{FF2B5EF4-FFF2-40B4-BE49-F238E27FC236}">
                <a16:creationId xmlns:a16="http://schemas.microsoft.com/office/drawing/2014/main" id="{356073AC-BBF3-4BAE-B17E-342A9E3A2A8D}"/>
              </a:ext>
            </a:extLst>
          </p:cNvPr>
          <p:cNvSpPr>
            <a:spLocks xmlns:a="http://schemas.openxmlformats.org/drawingml/2006/main" noGrp="1"/>
          </p:cNvSpPr>
          <p:nvPr/>
        </p:nvSpPr>
        <p:spPr>
          <a:xfrm xmlns:a="http://schemas.openxmlformats.org/drawingml/2006/main">
            <a:off x="3676650" y="2000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8B2433"/>
                </a:solidFill>
              </a:defRPr>
            </a:pPr>
            <a:r>
              <a:rPr sz="1350" b="1">
                <a:solidFill>
                  <a:srgbClr val="8B2433"/>
                </a:solidFill>
              </a:rPr>
              <a:t>SELECT</a:t>
            </a:r>
          </a:p>
        </p:txBody>
      </p:sp>
      <p:sp>
        <p:nvSpPr>
          <p:cNvPr id="8" name="">
            <a:extLst xmlns:a="http://schemas.openxmlformats.org/drawingml/2006/main">
              <a:ext uri="{FF2B5EF4-FFF2-40B4-BE49-F238E27FC236}">
                <a16:creationId xmlns:a16="http://schemas.microsoft.com/office/drawing/2014/main" id="{0A7F525A-7FF5-4E66-BB32-AA3C9AE27FFB}"/>
              </a:ext>
            </a:extLst>
          </p:cNvPr>
          <p:cNvSpPr>
            <a:spLocks xmlns:a="http://schemas.openxmlformats.org/drawingml/2006/main" noGrp="1"/>
          </p:cNvSpPr>
          <p:nvPr/>
        </p:nvSpPr>
        <p:spPr>
          <a:xfrm xmlns:a="http://schemas.openxmlformats.org/drawingml/2006/main">
            <a:off x="3676650" y="2457450"/>
            <a:ext cx="190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25171A"/>
                </a:solidFill>
              </a:defRPr>
            </a:pPr>
            <a:r>
              <a:rPr sz="1425">
                <a:solidFill>
                  <a:srgbClr val="25171A"/>
                </a:solidFill>
              </a:rPr>
              <a:t>Choose one drawing, image or decision.</a:t>
            </a:r>
          </a:p>
        </p:txBody>
      </p:sp>
      <p:sp>
        <p:nvSpPr>
          <p:cNvPr id="9" name="">
            <a:extLst xmlns:a="http://schemas.openxmlformats.org/drawingml/2006/main">
              <a:ext uri="{FF2B5EF4-FFF2-40B4-BE49-F238E27FC236}">
                <a16:creationId xmlns:a16="http://schemas.microsoft.com/office/drawing/2014/main" id="{707603C8-6841-4FBC-B16F-AFB68CAB1743}"/>
              </a:ext>
            </a:extLst>
          </p:cNvPr>
          <p:cNvSpPr>
            <a:spLocks xmlns:a="http://schemas.openxmlformats.org/drawingml/2006/main" noGrp="1"/>
          </p:cNvSpPr>
          <p:nvPr/>
        </p:nvSpPr>
        <p:spPr>
          <a:xfrm xmlns:a="http://schemas.openxmlformats.org/drawingml/2006/main">
            <a:off x="5819775" y="2362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8B2433"/>
                </a:solidFill>
              </a:defRPr>
            </a:pPr>
            <a:r>
              <a:rPr sz="2250" b="1">
                <a:solidFill>
                  <a:srgbClr val="8B2433"/>
                </a:solidFill>
              </a:rPr>
              <a:t>→</a:t>
            </a:r>
          </a:p>
        </p:txBody>
      </p:sp>
      <p:sp>
        <p:nvSpPr>
          <p:cNvPr id="10" name="">
            <a:extLst xmlns:a="http://schemas.openxmlformats.org/drawingml/2006/main">
              <a:ext uri="{FF2B5EF4-FFF2-40B4-BE49-F238E27FC236}">
                <a16:creationId xmlns:a16="http://schemas.microsoft.com/office/drawing/2014/main" id="{C95326E2-84E4-4921-B082-A426A124ABA0}"/>
              </a:ext>
            </a:extLst>
          </p:cNvPr>
          <p:cNvSpPr>
            <a:spLocks xmlns:a="http://schemas.openxmlformats.org/drawingml/2006/main" noGrp="1"/>
          </p:cNvSpPr>
          <p:nvPr/>
        </p:nvSpPr>
        <p:spPr>
          <a:xfrm xmlns:a="http://schemas.openxmlformats.org/drawingml/2006/main">
            <a:off x="6248400" y="1752600"/>
            <a:ext cx="2324100" cy="1676400"/>
          </a:xfrm>
          <a:prstGeom xmlns:a="http://schemas.openxmlformats.org/drawingml/2006/main" prst="roundRect">
            <a:avLst>
              <a:gd name="adj" fmla="val 9091"/>
            </a:avLst>
          </a:prstGeom>
          <a:solidFill xmlns:a="http://schemas.openxmlformats.org/drawingml/2006/main">
            <a:srgbClr val="FBEAEC"/>
          </a:solidFill>
          <a:ln xmlns:a="http://schemas.openxmlformats.org/drawingml/2006/main" w="19050">
            <a:solidFill>
              <a:srgbClr val="8B2433"/>
            </a:solidFill>
            <a:prstDash val="solid"/>
          </a:ln>
        </p:spPr>
      </p:sp>
      <p:sp>
        <p:nvSpPr>
          <p:cNvPr id="11" name="">
            <a:extLst xmlns:a="http://schemas.openxmlformats.org/drawingml/2006/main">
              <a:ext uri="{FF2B5EF4-FFF2-40B4-BE49-F238E27FC236}">
                <a16:creationId xmlns:a16="http://schemas.microsoft.com/office/drawing/2014/main" id="{E526AA70-389F-47EF-86AA-41D12B7C519D}"/>
              </a:ext>
            </a:extLst>
          </p:cNvPr>
          <p:cNvSpPr>
            <a:spLocks xmlns:a="http://schemas.openxmlformats.org/drawingml/2006/main" noGrp="1"/>
          </p:cNvSpPr>
          <p:nvPr/>
        </p:nvSpPr>
        <p:spPr>
          <a:xfrm xmlns:a="http://schemas.openxmlformats.org/drawingml/2006/main">
            <a:off x="6457950" y="2000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8B2433"/>
                </a:solidFill>
              </a:defRPr>
            </a:pPr>
            <a:r>
              <a:rPr sz="1350" b="1">
                <a:solidFill>
                  <a:srgbClr val="8B2433"/>
                </a:solidFill>
              </a:rPr>
              <a:t>EXPLAIN</a:t>
            </a:r>
          </a:p>
        </p:txBody>
      </p:sp>
      <p:sp>
        <p:nvSpPr>
          <p:cNvPr id="12" name="">
            <a:extLst xmlns:a="http://schemas.openxmlformats.org/drawingml/2006/main">
              <a:ext uri="{FF2B5EF4-FFF2-40B4-BE49-F238E27FC236}">
                <a16:creationId xmlns:a16="http://schemas.microsoft.com/office/drawing/2014/main" id="{3D22941B-5FD5-44C6-B836-CB94A1504D95}"/>
              </a:ext>
            </a:extLst>
          </p:cNvPr>
          <p:cNvSpPr>
            <a:spLocks xmlns:a="http://schemas.openxmlformats.org/drawingml/2006/main" noGrp="1"/>
          </p:cNvSpPr>
          <p:nvPr/>
        </p:nvSpPr>
        <p:spPr>
          <a:xfrm xmlns:a="http://schemas.openxmlformats.org/drawingml/2006/main">
            <a:off x="6457950" y="2457450"/>
            <a:ext cx="190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25171A"/>
                </a:solidFill>
              </a:defRPr>
            </a:pPr>
            <a:r>
              <a:rPr sz="1425">
                <a:solidFill>
                  <a:srgbClr val="25171A"/>
                </a:solidFill>
              </a:rPr>
              <a:t>State what it proves and why it matters.</a:t>
            </a:r>
          </a:p>
        </p:txBody>
      </p:sp>
      <p:sp>
        <p:nvSpPr>
          <p:cNvPr id="13" name="">
            <a:extLst xmlns:a="http://schemas.openxmlformats.org/drawingml/2006/main">
              <a:ext uri="{FF2B5EF4-FFF2-40B4-BE49-F238E27FC236}">
                <a16:creationId xmlns:a16="http://schemas.microsoft.com/office/drawing/2014/main" id="{51563BBC-C2CB-469E-AD25-915DA724C90A}"/>
              </a:ext>
            </a:extLst>
          </p:cNvPr>
          <p:cNvSpPr>
            <a:spLocks xmlns:a="http://schemas.openxmlformats.org/drawingml/2006/main" noGrp="1"/>
          </p:cNvSpPr>
          <p:nvPr/>
        </p:nvSpPr>
        <p:spPr>
          <a:xfrm xmlns:a="http://schemas.openxmlformats.org/drawingml/2006/main">
            <a:off x="8601075" y="2362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8B2433"/>
                </a:solidFill>
              </a:defRPr>
            </a:pPr>
            <a:r>
              <a:rPr sz="2250" b="1">
                <a:solidFill>
                  <a:srgbClr val="8B2433"/>
                </a:solidFill>
              </a:rPr>
              <a:t>→</a:t>
            </a:r>
          </a:p>
        </p:txBody>
      </p:sp>
      <p:sp>
        <p:nvSpPr>
          <p:cNvPr id="14" name="">
            <a:extLst xmlns:a="http://schemas.openxmlformats.org/drawingml/2006/main">
              <a:ext uri="{FF2B5EF4-FFF2-40B4-BE49-F238E27FC236}">
                <a16:creationId xmlns:a16="http://schemas.microsoft.com/office/drawing/2014/main" id="{854F460E-A298-4C24-BC85-28F7B9AA6628}"/>
              </a:ext>
            </a:extLst>
          </p:cNvPr>
          <p:cNvSpPr>
            <a:spLocks xmlns:a="http://schemas.openxmlformats.org/drawingml/2006/main" noGrp="1"/>
          </p:cNvSpPr>
          <p:nvPr/>
        </p:nvSpPr>
        <p:spPr>
          <a:xfrm xmlns:a="http://schemas.openxmlformats.org/drawingml/2006/main">
            <a:off x="9029700" y="1752600"/>
            <a:ext cx="2324100" cy="1676400"/>
          </a:xfrm>
          <a:prstGeom xmlns:a="http://schemas.openxmlformats.org/drawingml/2006/main" prst="roundRect">
            <a:avLst>
              <a:gd name="adj" fmla="val 9091"/>
            </a:avLst>
          </a:prstGeom>
          <a:solidFill xmlns:a="http://schemas.openxmlformats.org/drawingml/2006/main">
            <a:srgbClr val="FCFAF8"/>
          </a:solidFill>
          <a:ln xmlns:a="http://schemas.openxmlformats.org/drawingml/2006/main" w="19050">
            <a:solidFill>
              <a:srgbClr val="D8C9CC"/>
            </a:solidFill>
            <a:prstDash val="solid"/>
          </a:ln>
        </p:spPr>
      </p:sp>
      <p:sp>
        <p:nvSpPr>
          <p:cNvPr id="15" name="">
            <a:extLst xmlns:a="http://schemas.openxmlformats.org/drawingml/2006/main">
              <a:ext uri="{FF2B5EF4-FFF2-40B4-BE49-F238E27FC236}">
                <a16:creationId xmlns:a16="http://schemas.microsoft.com/office/drawing/2014/main" id="{7AFFCBB6-1220-4927-81B8-BFAA485FE83A}"/>
              </a:ext>
            </a:extLst>
          </p:cNvPr>
          <p:cNvSpPr>
            <a:spLocks xmlns:a="http://schemas.openxmlformats.org/drawingml/2006/main" noGrp="1"/>
          </p:cNvSpPr>
          <p:nvPr/>
        </p:nvSpPr>
        <p:spPr>
          <a:xfrm xmlns:a="http://schemas.openxmlformats.org/drawingml/2006/main">
            <a:off x="9239250" y="2000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8B2433"/>
                </a:solidFill>
              </a:defRPr>
            </a:pPr>
            <a:r>
              <a:rPr sz="1350" b="1">
                <a:solidFill>
                  <a:srgbClr val="8B2433"/>
                </a:solidFill>
              </a:rPr>
              <a:t>CHECK</a:t>
            </a:r>
          </a:p>
        </p:txBody>
      </p:sp>
      <p:sp>
        <p:nvSpPr>
          <p:cNvPr id="16" name="">
            <a:extLst xmlns:a="http://schemas.openxmlformats.org/drawingml/2006/main">
              <a:ext uri="{FF2B5EF4-FFF2-40B4-BE49-F238E27FC236}">
                <a16:creationId xmlns:a16="http://schemas.microsoft.com/office/drawing/2014/main" id="{26D731B5-E9B3-411D-87CB-F06A246684C8}"/>
              </a:ext>
            </a:extLst>
          </p:cNvPr>
          <p:cNvSpPr>
            <a:spLocks xmlns:a="http://schemas.openxmlformats.org/drawingml/2006/main" noGrp="1"/>
          </p:cNvSpPr>
          <p:nvPr/>
        </p:nvSpPr>
        <p:spPr>
          <a:xfrm xmlns:a="http://schemas.openxmlformats.org/drawingml/2006/main">
            <a:off x="9239250" y="2457450"/>
            <a:ext cx="190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25171A"/>
                </a:solidFill>
              </a:defRPr>
            </a:pPr>
            <a:r>
              <a:rPr sz="1425">
                <a:solidFill>
                  <a:srgbClr val="25171A"/>
                </a:solidFill>
              </a:rPr>
              <a:t>Limit the claim to the actual evidence.</a:t>
            </a:r>
          </a:p>
        </p:txBody>
      </p:sp>
      <p:sp>
        <p:nvSpPr>
          <p:cNvPr id="17" name="">
            <a:extLst xmlns:a="http://schemas.openxmlformats.org/drawingml/2006/main">
              <a:ext uri="{FF2B5EF4-FFF2-40B4-BE49-F238E27FC236}">
                <a16:creationId xmlns:a16="http://schemas.microsoft.com/office/drawing/2014/main" id="{C27E17E8-DC14-4389-B99D-BE6BDB6D3868}"/>
              </a:ext>
            </a:extLst>
          </p:cNvPr>
          <p:cNvSpPr>
            <a:spLocks xmlns:a="http://schemas.openxmlformats.org/drawingml/2006/main" noGrp="1"/>
          </p:cNvSpPr>
          <p:nvPr/>
        </p:nvSpPr>
        <p:spPr>
          <a:xfrm xmlns:a="http://schemas.openxmlformats.org/drawingml/2006/main">
            <a:off x="1257300" y="4114800"/>
            <a:ext cx="9677400" cy="1295400"/>
          </a:xfrm>
          <a:prstGeom xmlns:a="http://schemas.openxmlformats.org/drawingml/2006/main" prst="roundRect">
            <a:avLst>
              <a:gd name="adj" fmla="val 11765"/>
            </a:avLst>
          </a:prstGeom>
          <a:solidFill xmlns:a="http://schemas.openxmlformats.org/drawingml/2006/main">
            <a:srgbClr val="3B111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90A02BB-6686-45A6-B788-2A5AC906A54C}"/>
              </a:ext>
            </a:extLst>
          </p:cNvPr>
          <p:cNvSpPr>
            <a:spLocks xmlns:a="http://schemas.openxmlformats.org/drawingml/2006/main" noGrp="1"/>
          </p:cNvSpPr>
          <p:nvPr/>
        </p:nvSpPr>
        <p:spPr>
          <a:xfrm xmlns:a="http://schemas.openxmlformats.org/drawingml/2006/main">
            <a:off x="1562100" y="43434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4A9B8"/>
                </a:solidFill>
              </a:defRPr>
            </a:pPr>
            <a:r>
              <a:rPr sz="1350" b="1">
                <a:solidFill>
                  <a:srgbClr val="F4A9B8"/>
                </a:solidFill>
              </a:rPr>
              <a:t>Sentence support</a:t>
            </a:r>
          </a:p>
        </p:txBody>
      </p:sp>
      <p:sp>
        <p:nvSpPr>
          <p:cNvPr id="19" name="">
            <a:extLst xmlns:a="http://schemas.openxmlformats.org/drawingml/2006/main">
              <a:ext uri="{FF2B5EF4-FFF2-40B4-BE49-F238E27FC236}">
                <a16:creationId xmlns:a16="http://schemas.microsoft.com/office/drawing/2014/main" id="{FA088DAE-22C4-407E-9563-BA5DA0C1C312}"/>
              </a:ext>
            </a:extLst>
          </p:cNvPr>
          <p:cNvSpPr>
            <a:spLocks xmlns:a="http://schemas.openxmlformats.org/drawingml/2006/main" noGrp="1"/>
          </p:cNvSpPr>
          <p:nvPr/>
        </p:nvSpPr>
        <p:spPr>
          <a:xfrm xmlns:a="http://schemas.openxmlformats.org/drawingml/2006/main">
            <a:off x="1562100" y="472440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FFFFFF"/>
                </a:solidFill>
              </a:defRPr>
            </a:pPr>
            <a:r>
              <a:rPr sz="1575">
                <a:solidFill>
                  <a:srgbClr val="FFFFFF"/>
                </a:solidFill>
              </a:rPr>
              <a:t>The strongest communication decision is ___ because the audience needs ___. The visual evidence is ___. Before release I still need to check ___.</a:t>
            </a:r>
          </a:p>
        </p:txBody>
      </p:sp>
      <p:sp>
        <p:nvSpPr>
          <p:cNvPr id="20" name="">
            <a:extLst xmlns:a="http://schemas.openxmlformats.org/drawingml/2006/main">
              <a:ext uri="{FF2B5EF4-FFF2-40B4-BE49-F238E27FC236}">
                <a16:creationId xmlns:a16="http://schemas.microsoft.com/office/drawing/2014/main" id="{486E3BDC-CA52-40BD-B5F1-0FD3110D5A60}"/>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D66E9F7-0288-4DB9-8835-0FD82FDC3463}"/>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585B"/>
                </a:solidFill>
              </a:defRPr>
            </a:pPr>
            <a:r>
              <a:rPr sz="900" b="1">
                <a:solidFill>
                  <a:srgbClr val="66585B"/>
                </a:solidFill>
              </a:rPr>
              <a:t>YEAR 10 GRAPHICS  •  MODULE 1</a:t>
            </a:r>
          </a:p>
        </p:txBody>
      </p:sp>
      <p:sp>
        <p:nvSpPr>
          <p:cNvPr id="22" name="">
            <a:extLst xmlns:a="http://schemas.openxmlformats.org/drawingml/2006/main">
              <a:ext uri="{FF2B5EF4-FFF2-40B4-BE49-F238E27FC236}">
                <a16:creationId xmlns:a16="http://schemas.microsoft.com/office/drawing/2014/main" id="{1F241ACA-3906-4AF4-B440-B8D552858319}"/>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8B2433"/>
                </a:solidFill>
              </a:defRPr>
            </a:pPr>
            <a:r>
              <a:rPr sz="900" b="1">
                <a:solidFill>
                  <a:srgbClr val="8B2433"/>
                </a:solidFill>
              </a:rPr>
              <a:t>07</a:t>
            </a:r>
          </a:p>
        </p:txBody>
      </p:sp>
    </p:spTree>
    <p:extLst>
      <p:ext uri="{BB962C8B-B14F-4D97-AF65-F5344CB8AC3E}">
        <p14:creationId xmlns:p14="http://schemas.microsoft.com/office/powerpoint/2010/main" val="1935125373"/>
      </p:ext>
    </p:extLst>
  </p:cSld>
</p:sld>
</file>

<file path=ppt/slides/slide8.xml><?xml version="1.0" encoding="utf-8"?>
<p:sld xmlns:p="http://schemas.openxmlformats.org/presentationml/2006/main">
  <p:cSld>
    <p:bg>
      <p:bgPr>
        <a:solidFill xmlns:a="http://schemas.openxmlformats.org/drawingml/2006/main">
          <a:srgbClr val="FBEA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B22ED00-11EA-43F3-A1D6-0E3669443558}"/>
              </a:ext>
            </a:extLst>
          </p:cNvPr>
          <p:cNvSpPr>
            <a:spLocks xmlns:a="http://schemas.openxmlformats.org/drawingml/2006/main" noGrp="1"/>
          </p:cNvSpPr>
          <p:nvPr/>
        </p:nvSpPr>
        <p:spPr>
          <a:xfrm xmlns:a="http://schemas.openxmlformats.org/drawingml/2006/main">
            <a:off x="0" y="0"/>
            <a:ext cx="2781300" cy="6858000"/>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18209BF-9D1C-45D0-A1A2-38AFE98532A1}"/>
              </a:ext>
            </a:extLst>
          </p:cNvPr>
          <p:cNvSpPr>
            <a:spLocks xmlns:a="http://schemas.openxmlformats.org/drawingml/2006/main" noGrp="1"/>
          </p:cNvSpPr>
          <p:nvPr/>
        </p:nvSpPr>
        <p:spPr>
          <a:xfrm xmlns:a="http://schemas.openxmlformats.org/drawingml/2006/main">
            <a:off x="552450" y="8572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D8DF"/>
                </a:solidFill>
              </a:defRPr>
            </a:pPr>
            <a:r>
              <a:rPr sz="1275" b="1">
                <a:solidFill>
                  <a:srgbClr val="FFD8DF"/>
                </a:solidFill>
              </a:rPr>
              <a:t>MODULE 1</a:t>
            </a:r>
          </a:p>
        </p:txBody>
      </p:sp>
      <p:sp>
        <p:nvSpPr>
          <p:cNvPr id="3" name="">
            <a:extLst xmlns:a="http://schemas.openxmlformats.org/drawingml/2006/main">
              <a:ext uri="{FF2B5EF4-FFF2-40B4-BE49-F238E27FC236}">
                <a16:creationId xmlns:a16="http://schemas.microsoft.com/office/drawing/2014/main" id="{450DD0A6-99F4-467E-8697-61AFBD2B0FA7}"/>
              </a:ext>
            </a:extLst>
          </p:cNvPr>
          <p:cNvSpPr>
            <a:spLocks xmlns:a="http://schemas.openxmlformats.org/drawingml/2006/main" noGrp="1"/>
          </p:cNvSpPr>
          <p:nvPr/>
        </p:nvSpPr>
        <p:spPr>
          <a:xfrm xmlns:a="http://schemas.openxmlformats.org/drawingml/2006/main">
            <a:off x="457200" y="1676400"/>
            <a:ext cx="1885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4350" b="1">
                <a:solidFill>
                  <a:srgbClr val="FFFFFF"/>
                </a:solidFill>
              </a:defRPr>
            </a:pPr>
            <a:r>
              <a:rPr sz="4350" b="1">
                <a:solidFill>
                  <a:srgbClr val="FFFFFF"/>
                </a:solidFill>
              </a:rPr>
              <a:t>EXIT</a:t>
            </a:r>
          </a:p>
        </p:txBody>
      </p:sp>
      <p:sp>
        <p:nvSpPr>
          <p:cNvPr id="4" name="">
            <a:extLst xmlns:a="http://schemas.openxmlformats.org/drawingml/2006/main">
              <a:ext uri="{FF2B5EF4-FFF2-40B4-BE49-F238E27FC236}">
                <a16:creationId xmlns:a16="http://schemas.microsoft.com/office/drawing/2014/main" id="{A5896075-AFBC-4694-944D-0FE1CB2AE995}"/>
              </a:ext>
            </a:extLst>
          </p:cNvPr>
          <p:cNvSpPr>
            <a:spLocks xmlns:a="http://schemas.openxmlformats.org/drawingml/2006/main" noGrp="1"/>
          </p:cNvSpPr>
          <p:nvPr/>
        </p:nvSpPr>
        <p:spPr>
          <a:xfrm xmlns:a="http://schemas.openxmlformats.org/drawingml/2006/main">
            <a:off x="361950" y="240030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FFFFFF"/>
                </a:solidFill>
              </a:defRPr>
            </a:pPr>
            <a:r>
              <a:rPr sz="1950" b="1">
                <a:solidFill>
                  <a:srgbClr val="FFFFFF"/>
                </a:solidFill>
              </a:rPr>
              <a:t>EVIDENCE</a:t>
            </a:r>
          </a:p>
        </p:txBody>
      </p:sp>
      <p:sp>
        <p:nvSpPr>
          <p:cNvPr id="5" name="">
            <a:extLst xmlns:a="http://schemas.openxmlformats.org/drawingml/2006/main">
              <a:ext uri="{FF2B5EF4-FFF2-40B4-BE49-F238E27FC236}">
                <a16:creationId xmlns:a16="http://schemas.microsoft.com/office/drawing/2014/main" id="{56303855-CA31-450B-B6FD-0E0B8CAE0C66}"/>
              </a:ext>
            </a:extLst>
          </p:cNvPr>
          <p:cNvSpPr>
            <a:spLocks xmlns:a="http://schemas.openxmlformats.org/drawingml/2006/main" noGrp="1"/>
          </p:cNvSpPr>
          <p:nvPr/>
        </p:nvSpPr>
        <p:spPr>
          <a:xfrm xmlns:a="http://schemas.openxmlformats.org/drawingml/2006/main">
            <a:off x="3390900" y="971550"/>
            <a:ext cx="714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3B1118"/>
                </a:solidFill>
              </a:defRPr>
            </a:pPr>
            <a:r>
              <a:rPr sz="1950" b="1">
                <a:solidFill>
                  <a:srgbClr val="3B1118"/>
                </a:solidFill>
              </a:rPr>
              <a:t>1  One idea I can now explain</a:t>
            </a:r>
          </a:p>
        </p:txBody>
      </p:sp>
      <p:sp>
        <p:nvSpPr>
          <p:cNvPr id="6" name="">
            <a:extLst xmlns:a="http://schemas.openxmlformats.org/drawingml/2006/main">
              <a:ext uri="{FF2B5EF4-FFF2-40B4-BE49-F238E27FC236}">
                <a16:creationId xmlns:a16="http://schemas.microsoft.com/office/drawing/2014/main" id="{41DFF8F4-12C0-46A6-9A46-0A0BE07F7129}"/>
              </a:ext>
            </a:extLst>
          </p:cNvPr>
          <p:cNvSpPr>
            <a:spLocks xmlns:a="http://schemas.openxmlformats.org/drawingml/2006/main" noGrp="1"/>
          </p:cNvSpPr>
          <p:nvPr/>
        </p:nvSpPr>
        <p:spPr>
          <a:xfrm xmlns:a="http://schemas.openxmlformats.org/drawingml/2006/main">
            <a:off x="3390900" y="1847850"/>
            <a:ext cx="7620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3B1118"/>
                </a:solidFill>
              </a:defRPr>
            </a:pPr>
            <a:r>
              <a:rPr sz="1950" b="1">
                <a:solidFill>
                  <a:srgbClr val="3B1118"/>
                </a:solidFill>
              </a:rPr>
              <a:t>2  One visual feature or relationship I can point to</a:t>
            </a:r>
          </a:p>
        </p:txBody>
      </p:sp>
      <p:sp>
        <p:nvSpPr>
          <p:cNvPr id="7" name="">
            <a:extLst xmlns:a="http://schemas.openxmlformats.org/drawingml/2006/main">
              <a:ext uri="{FF2B5EF4-FFF2-40B4-BE49-F238E27FC236}">
                <a16:creationId xmlns:a16="http://schemas.microsoft.com/office/drawing/2014/main" id="{EA0B0F9D-CDC2-4EEF-8BFC-E6B0062053CB}"/>
              </a:ext>
            </a:extLst>
          </p:cNvPr>
          <p:cNvSpPr>
            <a:spLocks xmlns:a="http://schemas.openxmlformats.org/drawingml/2006/main" noGrp="1"/>
          </p:cNvSpPr>
          <p:nvPr/>
        </p:nvSpPr>
        <p:spPr>
          <a:xfrm xmlns:a="http://schemas.openxmlformats.org/drawingml/2006/main">
            <a:off x="3390900" y="28765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3B1118"/>
                </a:solidFill>
              </a:defRPr>
            </a:pPr>
            <a:r>
              <a:rPr sz="1950" b="1">
                <a:solidFill>
                  <a:srgbClr val="3B1118"/>
                </a:solidFill>
              </a:rPr>
              <a:t>3  One claim I must keep within the evidence</a:t>
            </a:r>
          </a:p>
        </p:txBody>
      </p:sp>
      <p:sp>
        <p:nvSpPr>
          <p:cNvPr id="8" name="">
            <a:extLst xmlns:a="http://schemas.openxmlformats.org/drawingml/2006/main">
              <a:ext uri="{FF2B5EF4-FFF2-40B4-BE49-F238E27FC236}">
                <a16:creationId xmlns:a16="http://schemas.microsoft.com/office/drawing/2014/main" id="{CA6D710B-B42F-4C24-9157-1862C75E3383}"/>
              </a:ext>
            </a:extLst>
          </p:cNvPr>
          <p:cNvSpPr>
            <a:spLocks xmlns:a="http://schemas.openxmlformats.org/drawingml/2006/main" noGrp="1"/>
          </p:cNvSpPr>
          <p:nvPr/>
        </p:nvSpPr>
        <p:spPr>
          <a:xfrm xmlns:a="http://schemas.openxmlformats.org/drawingml/2006/main">
            <a:off x="3390900" y="4000500"/>
            <a:ext cx="7505700" cy="13716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9050">
            <a:solidFill>
              <a:srgbClr val="D8C9CC"/>
            </a:solidFill>
            <a:prstDash val="solid"/>
          </a:ln>
        </p:spPr>
      </p:sp>
      <p:sp>
        <p:nvSpPr>
          <p:cNvPr id="9" name="">
            <a:extLst xmlns:a="http://schemas.openxmlformats.org/drawingml/2006/main">
              <a:ext uri="{FF2B5EF4-FFF2-40B4-BE49-F238E27FC236}">
                <a16:creationId xmlns:a16="http://schemas.microsoft.com/office/drawing/2014/main" id="{F588D59E-8B3F-4821-B763-DF34AE9743BB}"/>
              </a:ext>
            </a:extLst>
          </p:cNvPr>
          <p:cNvSpPr>
            <a:spLocks xmlns:a="http://schemas.openxmlformats.org/drawingml/2006/main" noGrp="1"/>
          </p:cNvSpPr>
          <p:nvPr/>
        </p:nvSpPr>
        <p:spPr>
          <a:xfrm xmlns:a="http://schemas.openxmlformats.org/drawingml/2006/main">
            <a:off x="3676650" y="42481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8B2433"/>
                </a:solidFill>
              </a:defRPr>
            </a:pPr>
            <a:r>
              <a:rPr sz="1350" b="1">
                <a:solidFill>
                  <a:srgbClr val="8B2433"/>
                </a:solidFill>
              </a:rPr>
              <a:t>SAVE TO MY FOLIO</a:t>
            </a:r>
          </a:p>
        </p:txBody>
      </p:sp>
      <p:sp>
        <p:nvSpPr>
          <p:cNvPr id="10" name="">
            <a:extLst xmlns:a="http://schemas.openxmlformats.org/drawingml/2006/main">
              <a:ext uri="{FF2B5EF4-FFF2-40B4-BE49-F238E27FC236}">
                <a16:creationId xmlns:a16="http://schemas.microsoft.com/office/drawing/2014/main" id="{74D3FF78-C352-47B6-80CB-4863D482FA97}"/>
              </a:ext>
            </a:extLst>
          </p:cNvPr>
          <p:cNvSpPr>
            <a:spLocks xmlns:a="http://schemas.openxmlformats.org/drawingml/2006/main" noGrp="1"/>
          </p:cNvSpPr>
          <p:nvPr/>
        </p:nvSpPr>
        <p:spPr>
          <a:xfrm xmlns:a="http://schemas.openxmlformats.org/drawingml/2006/main">
            <a:off x="3676650" y="4667250"/>
            <a:ext cx="6800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a:solidFill>
                  <a:srgbClr val="25171A"/>
                </a:solidFill>
              </a:defRPr>
            </a:pPr>
            <a:r>
              <a:rPr sz="1500">
                <a:solidFill>
                  <a:srgbClr val="25171A"/>
                </a:solidFill>
              </a:rPr>
              <a:t>One dated drawing, process image or decision record; a caption explaining what it proves; and your reasoned reflection.</a:t>
            </a:r>
          </a:p>
        </p:txBody>
      </p:sp>
      <p:sp>
        <p:nvSpPr>
          <p:cNvPr id="11" name="">
            <a:extLst xmlns:a="http://schemas.openxmlformats.org/drawingml/2006/main">
              <a:ext uri="{FF2B5EF4-FFF2-40B4-BE49-F238E27FC236}">
                <a16:creationId xmlns:a16="http://schemas.microsoft.com/office/drawing/2014/main" id="{CD3A3781-C55E-46F4-8747-731CE9D42FD2}"/>
              </a:ext>
            </a:extLst>
          </p:cNvPr>
          <p:cNvSpPr>
            <a:spLocks xmlns:a="http://schemas.openxmlformats.org/drawingml/2006/main" noGrp="1"/>
          </p:cNvSpPr>
          <p:nvPr/>
        </p:nvSpPr>
        <p:spPr>
          <a:xfrm xmlns:a="http://schemas.openxmlformats.org/drawingml/2006/main">
            <a:off x="3390900" y="5791200"/>
            <a:ext cx="750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66585B"/>
                </a:solidFill>
              </a:defRPr>
            </a:pPr>
            <a:r>
              <a:rPr sz="1350" b="1">
                <a:solidFill>
                  <a:srgbClr val="66585B"/>
                </a:solidFill>
              </a:rPr>
              <a:t>Next: open the matching section package for feedback, then save the stronger response—not every draft.</a:t>
            </a:r>
          </a:p>
        </p:txBody>
      </p:sp>
      <p:sp>
        <p:nvSpPr>
          <p:cNvPr id="12" name="">
            <a:extLst xmlns:a="http://schemas.openxmlformats.org/drawingml/2006/main">
              <a:ext uri="{FF2B5EF4-FFF2-40B4-BE49-F238E27FC236}">
                <a16:creationId xmlns:a16="http://schemas.microsoft.com/office/drawing/2014/main" id="{7EA16D39-717E-450F-8E18-E62A0734B10C}"/>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E2683A2-F252-4E57-B735-EAEF5C3CB0F2}"/>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585B"/>
                </a:solidFill>
              </a:defRPr>
            </a:pPr>
            <a:r>
              <a:rPr sz="900" b="1">
                <a:solidFill>
                  <a:srgbClr val="66585B"/>
                </a:solidFill>
              </a:rPr>
              <a:t>YEAR 10 GRAPHICS  •  MODULE 1</a:t>
            </a:r>
          </a:p>
        </p:txBody>
      </p:sp>
      <p:sp>
        <p:nvSpPr>
          <p:cNvPr id="14" name="">
            <a:extLst xmlns:a="http://schemas.openxmlformats.org/drawingml/2006/main">
              <a:ext uri="{FF2B5EF4-FFF2-40B4-BE49-F238E27FC236}">
                <a16:creationId xmlns:a16="http://schemas.microsoft.com/office/drawing/2014/main" id="{00541E56-E366-4644-9154-C4645198B01F}"/>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8B2433"/>
                </a:solidFill>
              </a:defRPr>
            </a:pPr>
            <a:r>
              <a:rPr sz="900" b="1">
                <a:solidFill>
                  <a:srgbClr val="8B2433"/>
                </a:solidFill>
              </a:rPr>
              <a:t>08</a:t>
            </a:r>
          </a:p>
        </p:txBody>
      </p:sp>
    </p:spTree>
    <p:extLst>
      <p:ext uri="{BB962C8B-B14F-4D97-AF65-F5344CB8AC3E}">
        <p14:creationId xmlns:p14="http://schemas.microsoft.com/office/powerpoint/2010/main" val="20665788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2026-08-30T01:40:56.0820000Z</dcterms:created>
  <dcterms:modified xsi:type="dcterms:W3CDTF">2026-08-30T01:40:56.0820000Z</dcterms:modified>
</coreProperties>
</file>