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61f350050d4bbd" /><Relationship Type="http://schemas.openxmlformats.org/officeDocument/2006/relationships/extended-properties" Target="/docProps/app.xml" Id="Rb3875b00efb546eb" /><Relationship Type="http://schemas.openxmlformats.org/officeDocument/2006/relationships/officeDocument" Target="/ppt/presentation.xml" Id="Rb9838d2b59144142" /></Relationships>
</file>

<file path=ppt/presentation.xml><?xml version="1.0" encoding="utf-8"?>
<p:presentation xmlns:p="http://schemas.openxmlformats.org/presentationml/2006/main">
  <p:sldMasterIdLst>
    <p:sldMasterId xmlns:r="http://schemas.openxmlformats.org/officeDocument/2006/relationships" id="2147483648" r:id="R104f891f1a434ab3"/>
  </p:sldMasterIdLst>
  <p:notesMasterIdLst>
    <p:notesMasterId xmlns:r="http://schemas.openxmlformats.org/officeDocument/2006/relationships" r:id="R087961e7132f4135"/>
  </p:notesMasterIdLst>
  <p:sldIdLst>
    <p:sldId xmlns:r="http://schemas.openxmlformats.org/officeDocument/2006/relationships" id="256" r:id="R16df0f19c2ba4f9b"/>
    <p:sldId xmlns:r="http://schemas.openxmlformats.org/officeDocument/2006/relationships" id="257" r:id="Rd90b8a893fc14d4e"/>
    <p:sldId xmlns:r="http://schemas.openxmlformats.org/officeDocument/2006/relationships" id="258" r:id="Rb84073e10cc04a25"/>
    <p:sldId xmlns:r="http://schemas.openxmlformats.org/officeDocument/2006/relationships" id="259" r:id="Rddea1ef24b194a79"/>
    <p:sldId xmlns:r="http://schemas.openxmlformats.org/officeDocument/2006/relationships" id="260" r:id="R376c838a4ede438c"/>
    <p:sldId xmlns:r="http://schemas.openxmlformats.org/officeDocument/2006/relationships" id="261" r:id="Ref638e703662447f"/>
    <p:sldId xmlns:r="http://schemas.openxmlformats.org/officeDocument/2006/relationships" id="262" r:id="R38953d1f055d4b88"/>
    <p:sldId xmlns:r="http://schemas.openxmlformats.org/officeDocument/2006/relationships" id="263" r:id="R6eb8652620d24c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4a1e1e9a1e4baa" /><Relationship Type="http://schemas.openxmlformats.org/officeDocument/2006/relationships/slideMaster" Target="/ppt/slideMasters/slideMaster1.xml" Id="R104f891f1a434ab3" /><Relationship Type="http://schemas.openxmlformats.org/officeDocument/2006/relationships/notesMaster" Target="/ppt/notesMasters/notesMaster1.xml" Id="R087961e7132f4135" /><Relationship Type="http://schemas.openxmlformats.org/officeDocument/2006/relationships/presProps" Target="/ppt/presProps.xml" Id="R92146b13cbff478c" /><Relationship Type="http://schemas.openxmlformats.org/officeDocument/2006/relationships/tableStyles" Target="/ppt/tableStyles.xml" Id="Rf049c80320d8470c" /><Relationship Type="http://schemas.openxmlformats.org/officeDocument/2006/relationships/slide" Target="/ppt/slides/slide1.xml" Id="R16df0f19c2ba4f9b" /><Relationship Type="http://schemas.openxmlformats.org/officeDocument/2006/relationships/slide" Target="/ppt/slides/slide2.xml" Id="Rd90b8a893fc14d4e" /><Relationship Type="http://schemas.openxmlformats.org/officeDocument/2006/relationships/slide" Target="/ppt/slides/slide3.xml" Id="Rb84073e10cc04a25" /><Relationship Type="http://schemas.openxmlformats.org/officeDocument/2006/relationships/slide" Target="/ppt/slides/slide4.xml" Id="Rddea1ef24b194a79" /><Relationship Type="http://schemas.openxmlformats.org/officeDocument/2006/relationships/slide" Target="/ppt/slides/slide5.xml" Id="R376c838a4ede438c" /><Relationship Type="http://schemas.openxmlformats.org/officeDocument/2006/relationships/slide" Target="/ppt/slides/slide6.xml" Id="Ref638e703662447f" /><Relationship Type="http://schemas.openxmlformats.org/officeDocument/2006/relationships/slide" Target="/ppt/slides/slide7.xml" Id="R38953d1f055d4b88" /><Relationship Type="http://schemas.openxmlformats.org/officeDocument/2006/relationships/slide" Target="/ppt/slides/slide8.xml" Id="R6eb8652620d24c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74a683a0e545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4e1485b6d14ab4" /><Relationship Type="http://schemas.openxmlformats.org/officeDocument/2006/relationships/notesMaster" Target="/ppt/notesMasters/notesMaster1.xml" Id="R6775d9dbb1ae4c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db5f2e120a47c6" /><Relationship Type="http://schemas.openxmlformats.org/officeDocument/2006/relationships/notesMaster" Target="/ppt/notesMasters/notesMaster1.xml" Id="R7442c36705914f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697bc9826344ca" /><Relationship Type="http://schemas.openxmlformats.org/officeDocument/2006/relationships/notesMaster" Target="/ppt/notesMasters/notesMaster1.xml" Id="R2c727f2f11b646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1318024efd4bc9" /><Relationship Type="http://schemas.openxmlformats.org/officeDocument/2006/relationships/notesMaster" Target="/ppt/notesMasters/notesMaster1.xml" Id="R220eccf02ff046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e740ac4f9542a8" /><Relationship Type="http://schemas.openxmlformats.org/officeDocument/2006/relationships/notesMaster" Target="/ppt/notesMasters/notesMaster1.xml" Id="R4018bf88e63941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2a51f6fc654feb" /><Relationship Type="http://schemas.openxmlformats.org/officeDocument/2006/relationships/notesMaster" Target="/ppt/notesMasters/notesMaster1.xml" Id="Ra8046245ef7a41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cf1b44e8234821" /><Relationship Type="http://schemas.openxmlformats.org/officeDocument/2006/relationships/notesMaster" Target="/ppt/notesMasters/notesMaster1.xml" Id="R19319bd662c544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7a6395fd424b19" /><Relationship Type="http://schemas.openxmlformats.org/officeDocument/2006/relationships/notesMaster" Target="/ppt/notesMasters/notesMaster1.xml" Id="R6404c9e284ff41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Establish the module as a connected communication problem, not three isolated topics.</a:t>
            </a:r>
          </a:p>
          <a:p xmlns:a="http://schemas.openxmlformats.org/drawingml/2006/main">
            <a:r>
              <a:t>- Read the outcome aloud and ask students to identify the decision word in each sentence.</a:t>
            </a:r>
          </a:p>
          <a:p xmlns:a="http://schemas.openxmlformats.org/drawingml/2006/main">
            <a:r>
              <a:t>Likely misconception: A polished image is enough evidence of successful graphical communication.</a:t>
            </a:r>
          </a:p>
          <a:p xmlns:a="http://schemas.openxmlformats.org/drawingml/2006/main">
            <a:r>
              <a:t>Prompt: What must a viewer understand or decide because of your graphic?</a:t>
            </a:r>
          </a:p>
          <a:p xmlns:a="http://schemas.openxmlformats.org/drawingml/2006/main">
            <a:r>
              <a:t>Transition: Map the three ideas that will build this outcome.</a:t>
            </a:r>
          </a:p>
          <a:p xmlns:a="http://schemas.openxmlformats.org/drawingml/2006/main">
            <a:r>
              <a:t>[Sources]</a:t>
            </a:r>
          </a:p>
          <a:p xmlns:a="http://schemas.openxmlformats.org/drawingml/2006/main">
            <a:r>
              <a:t>- classroom-topic-sequence-2026-08-30</a:t>
            </a:r>
          </a:p>
          <a:p xmlns:a="http://schemas.openxmlformats.org/drawingml/2006/main">
            <a:r>
              <a:t>- t4-student-negotiated-project-2025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the three sections exactly as they appear on the course site.</a:t>
            </a:r>
          </a:p>
          <a:p xmlns:a="http://schemas.openxmlformats.org/drawingml/2006/main">
            <a:r>
              <a:t>- Ask for one predicted connection before teaching the detail.</a:t>
            </a:r>
          </a:p>
          <a:p xmlns:a="http://schemas.openxmlformats.org/drawingml/2006/main">
            <a:r>
              <a:t>Likely misconception: The three topics can be completed independently without cross-checking.</a:t>
            </a:r>
          </a:p>
          <a:p xmlns:a="http://schemas.openxmlformats.org/drawingml/2006/main">
            <a:r>
              <a:t>Prompt: Which connection on this pathway seems most important, and why?</a:t>
            </a:r>
          </a:p>
          <a:p xmlns:a="http://schemas.openxmlformats.org/drawingml/2006/main">
            <a:r>
              <a:t>Transition: Move from the pathway into the first precise idea.</a:t>
            </a:r>
          </a:p>
          <a:p xmlns:a="http://schemas.openxmlformats.org/drawingml/2006/main">
            <a:r>
              <a:t>[Sources]</a:t>
            </a:r>
          </a:p>
          <a:p xmlns:a="http://schemas.openxmlformats.org/drawingml/2006/main">
            <a:r>
              <a:t>- classroom-topic-sequence-2026-08-30</a:t>
            </a:r>
          </a:p>
          <a:p xmlns:a="http://schemas.openxmlformats.org/drawingml/2006/main">
            <a:r>
              <a:t>- t4-student-negotiated-project-2025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The visual convention or view is meaningful without context.</a:t>
            </a:r>
          </a:p>
          <a:p xmlns:a="http://schemas.openxmlformats.org/drawingml/2006/main">
            <a:r>
              <a:t>Prompt: Clarify → Which criterion is observable, and which part of the idea still needs approval or evidence?</a:t>
            </a:r>
          </a:p>
          <a:p xmlns:a="http://schemas.openxmlformats.org/drawingml/2006/main">
            <a:r>
              <a:t>Transition: Connect this decision to strong development keeps alternatives, milestones and versions visible.</a:t>
            </a:r>
          </a:p>
          <a:p xmlns:a="http://schemas.openxmlformats.org/drawingml/2006/main">
            <a:r>
              <a:t>[Sources]</a:t>
            </a:r>
          </a:p>
          <a:p xmlns:a="http://schemas.openxmlformats.org/drawingml/2006/main">
            <a:r>
              <a:t>- t4-student-negotiated-project-2025</a:t>
            </a:r>
          </a:p>
          <a:p xmlns:a="http://schemas.openxmlformats.org/drawingml/2006/main">
            <a:r>
              <a:t>- Australian Government Office for the Arts ICIP guidance</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The software or drawing automatically makes the communication correct.</a:t>
            </a:r>
          </a:p>
          <a:p xmlns:a="http://schemas.openxmlformats.org/drawingml/2006/main">
            <a:r>
              <a:t>Prompt: Control → What should be simplified or deferred now to protect the essential deliverables?</a:t>
            </a:r>
          </a:p>
          <a:p xmlns:a="http://schemas.openxmlformats.org/drawingml/2006/main">
            <a:r>
              <a:t>Transition: Connect this decision to evaluation is a judgement supported by selected evidence.</a:t>
            </a:r>
          </a:p>
          <a:p xmlns:a="http://schemas.openxmlformats.org/drawingml/2006/main">
            <a:r>
              <a:t>[Sources]</a:t>
            </a:r>
          </a:p>
          <a:p xmlns:a="http://schemas.openxmlformats.org/drawingml/2006/main">
            <a:r>
              <a:t>- t4-student-negotiated-project-2025</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A polished output proves that every criterion, right or real-world condition is resolved.</a:t>
            </a:r>
          </a:p>
          <a:p xmlns:a="http://schemas.openxmlformats.org/drawingml/2006/main">
            <a:r>
              <a:t>Prompt: Evaluate → What claim can you defend with process, audience and technical evidence—and what remains a limitation?</a:t>
            </a:r>
          </a:p>
          <a:p xmlns:a="http://schemas.openxmlformats.org/drawingml/2006/main">
            <a:r>
              <a:t>Transition: Retrieve across all three taught ideas.</a:t>
            </a:r>
          </a:p>
          <a:p xmlns:a="http://schemas.openxmlformats.org/drawingml/2006/main">
            <a:r>
              <a:t>[Sources]</a:t>
            </a:r>
          </a:p>
          <a:p xmlns:a="http://schemas.openxmlformats.org/drawingml/2006/main">
            <a:r>
              <a:t>- t4-student-negotiated-project-2025</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retrieval time before discussion.</a:t>
            </a:r>
          </a:p>
          <a:p xmlns:a="http://schemas.openxmlformats.org/drawingml/2006/main">
            <a:r>
              <a:t>- Ask students to point back to the visual or explanation that supports each answer.</a:t>
            </a:r>
          </a:p>
          <a:p xmlns:a="http://schemas.openxmlformats.org/drawingml/2006/main">
            <a:r>
              <a:t>- Correct the reasoning, not only the missing term.</a:t>
            </a:r>
          </a:p>
          <a:p xmlns:a="http://schemas.openxmlformats.org/drawingml/2006/main">
            <a:r>
              <a:t>Likely misconception: Recognition after re-reading is the same as retrieval from memory.</a:t>
            </a:r>
          </a:p>
          <a:p xmlns:a="http://schemas.openxmlformats.org/drawingml/2006/main">
            <a:r>
              <a:t>Prompt: Which answer can you support most confidently, and what evidence supports it?</a:t>
            </a:r>
          </a:p>
          <a:p xmlns:a="http://schemas.openxmlformats.org/drawingml/2006/main">
            <a:r>
              <a:t>Transition: Use one retrieved idea to construct a durable folio response.</a:t>
            </a:r>
          </a:p>
          <a:p xmlns:a="http://schemas.openxmlformats.org/drawingml/2006/main">
            <a:r>
              <a:t>[Sources]</a:t>
            </a:r>
          </a:p>
          <a:p xmlns:a="http://schemas.openxmlformats.org/drawingml/2006/main">
            <a:r>
              <a:t>- classroom-topic-sequence-2026-08-30</a:t>
            </a:r>
          </a:p>
          <a:p xmlns:a="http://schemas.openxmlformats.org/drawingml/2006/main">
            <a:r>
              <a:t>- t4-student-negotiated-project-2025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familiar example.</a:t>
            </a:r>
          </a:p>
          <a:p xmlns:a="http://schemas.openxmlformats.org/drawingml/2006/main">
            <a:r>
              <a:t>- Keep the explanation tied to a visible artifact or decision.</a:t>
            </a:r>
          </a:p>
          <a:p xmlns:a="http://schemas.openxmlformats.org/drawingml/2006/main">
            <a:r>
              <a:t>- Make the final check explicit: what does this evidence not prove?</a:t>
            </a:r>
          </a:p>
          <a:p xmlns:a="http://schemas.openxmlformats.org/drawingml/2006/main">
            <a:r>
              <a:t>Likely misconception: A long description automatically counts as strong evidence.</a:t>
            </a:r>
          </a:p>
          <a:p xmlns:a="http://schemas.openxmlformats.org/drawingml/2006/main">
            <a:r>
              <a:t>Prompt: Which selected artifact gives you the clearest because statement?</a:t>
            </a:r>
          </a:p>
          <a:p xmlns:a="http://schemas.openxmlformats.org/drawingml/2006/main">
            <a:r>
              <a:t>Transition: Close with a small exit ticket and an exact saving action.</a:t>
            </a:r>
          </a:p>
          <a:p xmlns:a="http://schemas.openxmlformats.org/drawingml/2006/main">
            <a:r>
              <a:t>[Sources]</a:t>
            </a:r>
          </a:p>
          <a:p xmlns:a="http://schemas.openxmlformats.org/drawingml/2006/main">
            <a:r>
              <a:t>- classroom-topic-sequence-2026-08-30</a:t>
            </a:r>
          </a:p>
          <a:p xmlns:a="http://schemas.openxmlformats.org/drawingml/2006/main">
            <a:r>
              <a:t>- t4-student-negotiated-project-2025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Collect one response for each numbered line.</a:t>
            </a:r>
          </a:p>
          <a:p xmlns:a="http://schemas.openxmlformats.org/drawingml/2006/main">
            <a:r>
              <a:t>- Remind students that the folio holds selected evidence, not every quiz answer.</a:t>
            </a:r>
          </a:p>
          <a:p xmlns:a="http://schemas.openxmlformats.org/drawingml/2006/main">
            <a:r>
              <a:t>- Point students to the matching section package and the exact folio route.</a:t>
            </a:r>
          </a:p>
          <a:p xmlns:a="http://schemas.openxmlformats.org/drawingml/2006/main">
            <a:r>
              <a:t>Likely misconception: Saving more files is automatically stronger evidence.</a:t>
            </a:r>
          </a:p>
          <a:p xmlns:a="http://schemas.openxmlformats.org/drawingml/2006/main">
            <a:r>
              <a:t>Prompt: What single artifact best demonstrates today’s decision or learning?</a:t>
            </a:r>
          </a:p>
          <a:p xmlns:a="http://schemas.openxmlformats.org/drawingml/2006/main">
            <a:r>
              <a:t>Transition: Students move to the matching course section and My folio.</a:t>
            </a:r>
          </a:p>
          <a:p xmlns:a="http://schemas.openxmlformats.org/drawingml/2006/main">
            <a:r>
              <a:t>[Sources]</a:t>
            </a:r>
          </a:p>
          <a:p xmlns:a="http://schemas.openxmlformats.org/drawingml/2006/main">
            <a:r>
              <a:t>- classroom-topic-sequence-2026-08-30</a:t>
            </a:r>
          </a:p>
          <a:p xmlns:a="http://schemas.openxmlformats.org/drawingml/2006/main">
            <a:r>
              <a:t>- t4-student-negotiated-project-2025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39ca38cc174b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edc12f1b954b15" /><Relationship Type="http://schemas.openxmlformats.org/officeDocument/2006/relationships/slideLayout" Target="/ppt/slideLayouts/slideLayout1.xml" Id="Rdad8d53e16744c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d8d53e16744c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d1eddeb1cb47f1" /><Relationship Type="http://schemas.openxmlformats.org/officeDocument/2006/relationships/image" Target="/ppt/media/image.png" Id="Rd4efe746ce044520" /><Relationship Type="http://schemas.openxmlformats.org/officeDocument/2006/relationships/notesSlide" Target="/ppt/notesSlides/notesSlide1.xml" Id="R7f8f62a1f48f44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98e38f71a8497d" /><Relationship Type="http://schemas.openxmlformats.org/officeDocument/2006/relationships/notesSlide" Target="/ppt/notesSlides/notesSlide2.xml" Id="R58d6e41d6c6a4f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10ccc879fc4525" /><Relationship Type="http://schemas.openxmlformats.org/officeDocument/2006/relationships/image" Target="/ppt/media/image2.png" Id="R79231499e37e4475" /><Relationship Type="http://schemas.openxmlformats.org/officeDocument/2006/relationships/notesSlide" Target="/ppt/notesSlides/notesSlide3.xml" Id="Rdb5056cac3f342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a37505f98f47a0" /><Relationship Type="http://schemas.openxmlformats.org/officeDocument/2006/relationships/image" Target="/ppt/media/image3.png" Id="Rb35256d3ea1d4f66" /><Relationship Type="http://schemas.openxmlformats.org/officeDocument/2006/relationships/notesSlide" Target="/ppt/notesSlides/notesSlide4.xml" Id="R4b0d65089b934e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0c1fa09faa4cd1" /><Relationship Type="http://schemas.openxmlformats.org/officeDocument/2006/relationships/image" Target="/ppt/media/image4.png" Id="R0b9f923d84344f2b" /><Relationship Type="http://schemas.openxmlformats.org/officeDocument/2006/relationships/notesSlide" Target="/ppt/notesSlides/notesSlide5.xml" Id="R75d1abe99db34a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c20eedd6b8462a" /><Relationship Type="http://schemas.openxmlformats.org/officeDocument/2006/relationships/notesSlide" Target="/ppt/notesSlides/notesSlide6.xml" Id="R11208dd7f77b40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d0dc92427cb419c" /><Relationship Type="http://schemas.openxmlformats.org/officeDocument/2006/relationships/notesSlide" Target="/ppt/notesSlides/notesSlide7.xml" Id="Rde07cb7e843a45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ba3f10e51c467e" /><Relationship Type="http://schemas.openxmlformats.org/officeDocument/2006/relationships/notesSlide" Target="/ppt/notesSlides/notesSlide8.xml" Id="Re85ac82aef2a426a" /></Relationships>
</file>

<file path=ppt/slides/slide1.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4efe746ce044520"/>
          <a:srcRect xmlns:a="http://schemas.openxmlformats.org/drawingml/2006/main" l="23796" t="0" r="23796" b="0"/>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4D5DEA-A81B-4BB9-856D-F0597D33E7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A97559-4AF3-4AC3-B864-AFD1D8CAEEB6}"/>
              </a:ext>
            </a:extLst>
          </p:cNvPr>
          <p:cNvSpPr>
            <a:spLocks xmlns:a="http://schemas.openxmlformats.org/drawingml/2006/main" noGrp="1"/>
          </p:cNvSpPr>
          <p:nvPr/>
        </p:nvSpPr>
        <p:spPr>
          <a:xfrm xmlns:a="http://schemas.openxmlformats.org/drawingml/2006/main">
            <a:off x="742950" y="8763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MODULE 4</a:t>
            </a:r>
          </a:p>
        </p:txBody>
      </p:sp>
      <p:sp>
        <p:nvSpPr>
          <p:cNvPr id="4" name="m4-title">
            <a:extLst xmlns:a="http://schemas.openxmlformats.org/drawingml/2006/main">
              <a:ext uri="{FF2B5EF4-FFF2-40B4-BE49-F238E27FC236}">
                <a16:creationId xmlns:a16="http://schemas.microsoft.com/office/drawing/2014/main" id="{F0BE2B22-7607-4BA5-9489-4B64E31DDAF4}"/>
              </a:ext>
            </a:extLst>
          </p:cNvPr>
          <p:cNvSpPr>
            <a:spLocks xmlns:a="http://schemas.openxmlformats.org/drawingml/2006/main" noGrp="1"/>
          </p:cNvSpPr>
          <p:nvPr/>
        </p:nvSpPr>
        <p:spPr>
          <a:xfrm xmlns:a="http://schemas.openxmlformats.org/drawingml/2006/main">
            <a:off x="742950" y="148590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3B1118"/>
                </a:solidFill>
              </a:defRPr>
            </a:pPr>
            <a:r>
              <a:rPr sz="4050" b="1">
                <a:solidFill>
                  <a:srgbClr val="3B1118"/>
                </a:solidFill>
              </a:rPr>
              <a:t>Student Negotiated Project</a:t>
            </a:r>
          </a:p>
        </p:txBody>
      </p:sp>
      <p:sp>
        <p:nvSpPr>
          <p:cNvPr id="5" name="">
            <a:extLst xmlns:a="http://schemas.openxmlformats.org/drawingml/2006/main">
              <a:ext uri="{FF2B5EF4-FFF2-40B4-BE49-F238E27FC236}">
                <a16:creationId xmlns:a16="http://schemas.microsoft.com/office/drawing/2014/main" id="{84C01209-4BCC-4097-87A2-E9442D00D5ED}"/>
              </a:ext>
            </a:extLst>
          </p:cNvPr>
          <p:cNvSpPr>
            <a:spLocks xmlns:a="http://schemas.openxmlformats.org/drawingml/2006/main" noGrp="1"/>
          </p:cNvSpPr>
          <p:nvPr/>
        </p:nvSpPr>
        <p:spPr>
          <a:xfrm xmlns:a="http://schemas.openxmlformats.org/drawingml/2006/main">
            <a:off x="742950" y="3295650"/>
            <a:ext cx="10287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F6E782-7FC6-43EC-801D-916ADC073FEF}"/>
              </a:ext>
            </a:extLst>
          </p:cNvPr>
          <p:cNvSpPr>
            <a:spLocks xmlns:a="http://schemas.openxmlformats.org/drawingml/2006/main" noGrp="1"/>
          </p:cNvSpPr>
          <p:nvPr/>
        </p:nvSpPr>
        <p:spPr>
          <a:xfrm xmlns:a="http://schemas.openxmlformats.org/drawingml/2006/main">
            <a:off x="742950" y="3676650"/>
            <a:ext cx="533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25171A"/>
                </a:solidFill>
              </a:defRPr>
            </a:pPr>
            <a:r>
              <a:rPr sz="1800">
                <a:solidFill>
                  <a:srgbClr val="25171A"/>
                </a:solidFill>
              </a:rPr>
              <a:t>Turn an approved graphics brief into controlled development evidence, purposeful presentation and an honest evaluation.</a:t>
            </a:r>
          </a:p>
        </p:txBody>
      </p:sp>
      <p:sp>
        <p:nvSpPr>
          <p:cNvPr id="7" name="">
            <a:extLst xmlns:a="http://schemas.openxmlformats.org/drawingml/2006/main">
              <a:ext uri="{FF2B5EF4-FFF2-40B4-BE49-F238E27FC236}">
                <a16:creationId xmlns:a16="http://schemas.microsoft.com/office/drawing/2014/main" id="{8B87BCBC-C670-4FEE-A005-39BA066A47A8}"/>
              </a:ext>
            </a:extLst>
          </p:cNvPr>
          <p:cNvSpPr>
            <a:spLocks xmlns:a="http://schemas.openxmlformats.org/drawingml/2006/main" noGrp="1"/>
          </p:cNvSpPr>
          <p:nvPr/>
        </p:nvSpPr>
        <p:spPr>
          <a:xfrm xmlns:a="http://schemas.openxmlformats.org/drawingml/2006/main">
            <a:off x="742950" y="567690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66585B"/>
                </a:solidFill>
              </a:defRPr>
            </a:pPr>
            <a:r>
              <a:rPr sz="1275" b="1">
                <a:solidFill>
                  <a:srgbClr val="66585B"/>
                </a:solidFill>
              </a:rPr>
              <a:t>Read the visuals. Explain the decision. Save the evidence.</a:t>
            </a:r>
          </a:p>
        </p:txBody>
      </p:sp>
    </p:spTree>
    <p:extLst>
      <p:ext uri="{BB962C8B-B14F-4D97-AF65-F5344CB8AC3E}">
        <p14:creationId xmlns:p14="http://schemas.microsoft.com/office/powerpoint/2010/main" val="8875303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2027692-B286-4510-9CA6-728955C4FD78}"/>
              </a:ext>
            </a:extLst>
          </p:cNvPr>
          <p:cNvSpPr>
            <a:spLocks xmlns:a="http://schemas.openxmlformats.org/drawingml/2006/main" noGrp="1"/>
          </p:cNvSpPr>
          <p:nvPr/>
        </p:nvSpPr>
        <p:spPr>
          <a:xfrm xmlns:a="http://schemas.openxmlformats.org/drawingml/2006/main">
            <a:off x="685800" y="5334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3B1118"/>
                </a:solidFill>
              </a:defRPr>
            </a:pPr>
            <a:r>
              <a:rPr sz="2850" b="1">
                <a:solidFill>
                  <a:srgbClr val="3B1118"/>
                </a:solidFill>
              </a:rPr>
              <a:t>Three ideas build one communication workflow</a:t>
            </a:r>
          </a:p>
        </p:txBody>
      </p:sp>
      <p:sp>
        <p:nvSpPr>
          <p:cNvPr id="2" name="">
            <a:extLst xmlns:a="http://schemas.openxmlformats.org/drawingml/2006/main">
              <a:ext uri="{FF2B5EF4-FFF2-40B4-BE49-F238E27FC236}">
                <a16:creationId xmlns:a16="http://schemas.microsoft.com/office/drawing/2014/main" id="{0F72FAFA-67D1-41AA-9001-2E329DF34241}"/>
              </a:ext>
            </a:extLst>
          </p:cNvPr>
          <p:cNvSpPr>
            <a:spLocks xmlns:a="http://schemas.openxmlformats.org/drawingml/2006/main" noGrp="1"/>
          </p:cNvSpPr>
          <p:nvPr/>
        </p:nvSpPr>
        <p:spPr>
          <a:xfrm xmlns:a="http://schemas.openxmlformats.org/drawingml/2006/main">
            <a:off x="685800" y="120015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66585B"/>
                </a:solidFill>
              </a:defRPr>
            </a:pPr>
            <a:r>
              <a:rPr sz="1500">
                <a:solidFill>
                  <a:srgbClr val="66585B"/>
                </a:solidFill>
              </a:rPr>
              <a:t>Keep this sequence in mind: understand the context, make a controlled representation, then justify what the evidence means.</a:t>
            </a:r>
          </a:p>
        </p:txBody>
      </p:sp>
      <p:sp>
        <p:nvSpPr>
          <p:cNvPr id="3" name="">
            <a:extLst xmlns:a="http://schemas.openxmlformats.org/drawingml/2006/main">
              <a:ext uri="{FF2B5EF4-FFF2-40B4-BE49-F238E27FC236}">
                <a16:creationId xmlns:a16="http://schemas.microsoft.com/office/drawing/2014/main" id="{D8B200ED-4779-46FD-9E0C-5285942C3694}"/>
              </a:ext>
            </a:extLst>
          </p:cNvPr>
          <p:cNvSpPr>
            <a:spLocks xmlns:a="http://schemas.openxmlformats.org/drawingml/2006/main" noGrp="1"/>
          </p:cNvSpPr>
          <p:nvPr/>
        </p:nvSpPr>
        <p:spPr>
          <a:xfrm xmlns:a="http://schemas.openxmlformats.org/drawingml/2006/main">
            <a:off x="1200150" y="3028950"/>
            <a:ext cx="9772650" cy="38100"/>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8B4E2A-E8BF-4B58-B543-C57A3E5FAAE7}"/>
              </a:ext>
            </a:extLst>
          </p:cNvPr>
          <p:cNvSpPr>
            <a:spLocks xmlns:a="http://schemas.openxmlformats.org/drawingml/2006/main" noGrp="1"/>
          </p:cNvSpPr>
          <p:nvPr/>
        </p:nvSpPr>
        <p:spPr>
          <a:xfrm xmlns:a="http://schemas.openxmlformats.org/drawingml/2006/main">
            <a:off x="13716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DE8F04-877C-4149-943C-B727EDB2BEEA}"/>
              </a:ext>
            </a:extLst>
          </p:cNvPr>
          <p:cNvSpPr>
            <a:spLocks xmlns:a="http://schemas.openxmlformats.org/drawingml/2006/main" noGrp="1"/>
          </p:cNvSpPr>
          <p:nvPr/>
        </p:nvSpPr>
        <p:spPr>
          <a:xfrm xmlns:a="http://schemas.openxmlformats.org/drawingml/2006/main">
            <a:off x="13716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1</a:t>
            </a:r>
          </a:p>
        </p:txBody>
      </p:sp>
      <p:sp>
        <p:nvSpPr>
          <p:cNvPr id="6" name="">
            <a:extLst xmlns:a="http://schemas.openxmlformats.org/drawingml/2006/main">
              <a:ext uri="{FF2B5EF4-FFF2-40B4-BE49-F238E27FC236}">
                <a16:creationId xmlns:a16="http://schemas.microsoft.com/office/drawing/2014/main" id="{8D5884A6-E5DE-48B7-88A8-D7F59C757194}"/>
              </a:ext>
            </a:extLst>
          </p:cNvPr>
          <p:cNvSpPr>
            <a:spLocks xmlns:a="http://schemas.openxmlformats.org/drawingml/2006/main" noGrp="1"/>
          </p:cNvSpPr>
          <p:nvPr/>
        </p:nvSpPr>
        <p:spPr>
          <a:xfrm xmlns:a="http://schemas.openxmlformats.org/drawingml/2006/main">
            <a:off x="8763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Brief, audience, criteria and constraints</a:t>
            </a:r>
          </a:p>
        </p:txBody>
      </p:sp>
      <p:sp>
        <p:nvSpPr>
          <p:cNvPr id="7" name="">
            <a:extLst xmlns:a="http://schemas.openxmlformats.org/drawingml/2006/main">
              <a:ext uri="{FF2B5EF4-FFF2-40B4-BE49-F238E27FC236}">
                <a16:creationId xmlns:a16="http://schemas.microsoft.com/office/drawing/2014/main" id="{D4D171F0-E624-47C6-B77D-715F6E858080}"/>
              </a:ext>
            </a:extLst>
          </p:cNvPr>
          <p:cNvSpPr>
            <a:spLocks xmlns:a="http://schemas.openxmlformats.org/drawingml/2006/main" noGrp="1"/>
          </p:cNvSpPr>
          <p:nvPr/>
        </p:nvSpPr>
        <p:spPr>
          <a:xfrm xmlns:a="http://schemas.openxmlformats.org/drawingml/2006/main">
            <a:off x="5029200" y="2619375"/>
            <a:ext cx="800100" cy="800100"/>
          </a:xfrm>
          <a:prstGeom xmlns:a="http://schemas.openxmlformats.org/drawingml/2006/main" prst="roundRect">
            <a:avLst>
              <a:gd name="adj" fmla="val 50000"/>
            </a:avLst>
          </a:prstGeom>
          <a:solidFill xmlns:a="http://schemas.openxmlformats.org/drawingml/2006/main">
            <a:srgbClr val="8B243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458E2C-A93A-4CD4-B4DD-F34A366A7B9C}"/>
              </a:ext>
            </a:extLst>
          </p:cNvPr>
          <p:cNvSpPr>
            <a:spLocks xmlns:a="http://schemas.openxmlformats.org/drawingml/2006/main" noGrp="1"/>
          </p:cNvSpPr>
          <p:nvPr/>
        </p:nvSpPr>
        <p:spPr>
          <a:xfrm xmlns:a="http://schemas.openxmlformats.org/drawingml/2006/main">
            <a:off x="50292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2</a:t>
            </a:r>
          </a:p>
        </p:txBody>
      </p:sp>
      <p:sp>
        <p:nvSpPr>
          <p:cNvPr id="9" name="">
            <a:extLst xmlns:a="http://schemas.openxmlformats.org/drawingml/2006/main">
              <a:ext uri="{FF2B5EF4-FFF2-40B4-BE49-F238E27FC236}">
                <a16:creationId xmlns:a16="http://schemas.microsoft.com/office/drawing/2014/main" id="{E4B07B6D-7C9A-4BDC-9048-59CA17F9B4D4}"/>
              </a:ext>
            </a:extLst>
          </p:cNvPr>
          <p:cNvSpPr>
            <a:spLocks xmlns:a="http://schemas.openxmlformats.org/drawingml/2006/main" noGrp="1"/>
          </p:cNvSpPr>
          <p:nvPr/>
        </p:nvSpPr>
        <p:spPr>
          <a:xfrm xmlns:a="http://schemas.openxmlformats.org/drawingml/2006/main">
            <a:off x="45339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Ideation, project management and digital development</a:t>
            </a:r>
          </a:p>
        </p:txBody>
      </p:sp>
      <p:sp>
        <p:nvSpPr>
          <p:cNvPr id="10" name="">
            <a:extLst xmlns:a="http://schemas.openxmlformats.org/drawingml/2006/main">
              <a:ext uri="{FF2B5EF4-FFF2-40B4-BE49-F238E27FC236}">
                <a16:creationId xmlns:a16="http://schemas.microsoft.com/office/drawing/2014/main" id="{F1F1D052-1A3B-4A1A-8910-128D06F89AA2}"/>
              </a:ext>
            </a:extLst>
          </p:cNvPr>
          <p:cNvSpPr>
            <a:spLocks xmlns:a="http://schemas.openxmlformats.org/drawingml/2006/main" noGrp="1"/>
          </p:cNvSpPr>
          <p:nvPr/>
        </p:nvSpPr>
        <p:spPr>
          <a:xfrm xmlns:a="http://schemas.openxmlformats.org/drawingml/2006/main">
            <a:off x="86868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2BFDE5-B5A6-467A-B735-52E83C3CAF42}"/>
              </a:ext>
            </a:extLst>
          </p:cNvPr>
          <p:cNvSpPr>
            <a:spLocks xmlns:a="http://schemas.openxmlformats.org/drawingml/2006/main" noGrp="1"/>
          </p:cNvSpPr>
          <p:nvPr/>
        </p:nvSpPr>
        <p:spPr>
          <a:xfrm xmlns:a="http://schemas.openxmlformats.org/drawingml/2006/main">
            <a:off x="86868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3</a:t>
            </a:r>
          </a:p>
        </p:txBody>
      </p:sp>
      <p:sp>
        <p:nvSpPr>
          <p:cNvPr id="12" name="">
            <a:extLst xmlns:a="http://schemas.openxmlformats.org/drawingml/2006/main">
              <a:ext uri="{FF2B5EF4-FFF2-40B4-BE49-F238E27FC236}">
                <a16:creationId xmlns:a16="http://schemas.microsoft.com/office/drawing/2014/main" id="{0D84BED1-235B-4D29-8CD7-EE4A41A725B0}"/>
              </a:ext>
            </a:extLst>
          </p:cNvPr>
          <p:cNvSpPr>
            <a:spLocks xmlns:a="http://schemas.openxmlformats.org/drawingml/2006/main" noGrp="1"/>
          </p:cNvSpPr>
          <p:nvPr/>
        </p:nvSpPr>
        <p:spPr>
          <a:xfrm xmlns:a="http://schemas.openxmlformats.org/drawingml/2006/main">
            <a:off x="81915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Presentation, feedback and evaluation</a:t>
            </a:r>
          </a:p>
        </p:txBody>
      </p:sp>
      <p:sp>
        <p:nvSpPr>
          <p:cNvPr id="13" name="">
            <a:extLst xmlns:a="http://schemas.openxmlformats.org/drawingml/2006/main">
              <a:ext uri="{FF2B5EF4-FFF2-40B4-BE49-F238E27FC236}">
                <a16:creationId xmlns:a16="http://schemas.microsoft.com/office/drawing/2014/main" id="{4C493143-1990-4A3A-A930-5D0D32957A22}"/>
              </a:ext>
            </a:extLst>
          </p:cNvPr>
          <p:cNvSpPr>
            <a:spLocks xmlns:a="http://schemas.openxmlformats.org/drawingml/2006/main" noGrp="1"/>
          </p:cNvSpPr>
          <p:nvPr/>
        </p:nvSpPr>
        <p:spPr>
          <a:xfrm xmlns:a="http://schemas.openxmlformats.org/drawingml/2006/main">
            <a:off x="2381250" y="54673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8B2433"/>
                </a:solidFill>
              </a:defRPr>
            </a:pPr>
            <a:r>
              <a:rPr sz="1500" b="1">
                <a:solidFill>
                  <a:srgbClr val="8B2433"/>
                </a:solidFill>
              </a:rPr>
              <a:t>Retrieval prompt  •  Which idea depends most on the one before it?</a:t>
            </a:r>
          </a:p>
        </p:txBody>
      </p:sp>
      <p:sp>
        <p:nvSpPr>
          <p:cNvPr id="14" name="">
            <a:extLst xmlns:a="http://schemas.openxmlformats.org/drawingml/2006/main">
              <a:ext uri="{FF2B5EF4-FFF2-40B4-BE49-F238E27FC236}">
                <a16:creationId xmlns:a16="http://schemas.microsoft.com/office/drawing/2014/main" id="{1AF07133-7C0C-4533-8039-C7152902E6AE}"/>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77DB966-F4EF-4A2F-8F41-1BE83FB4A64B}"/>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4</a:t>
            </a:r>
          </a:p>
        </p:txBody>
      </p:sp>
      <p:sp>
        <p:nvSpPr>
          <p:cNvPr id="16" name="">
            <a:extLst xmlns:a="http://schemas.openxmlformats.org/drawingml/2006/main">
              <a:ext uri="{FF2B5EF4-FFF2-40B4-BE49-F238E27FC236}">
                <a16:creationId xmlns:a16="http://schemas.microsoft.com/office/drawing/2014/main" id="{5D43EF05-BA4F-43C1-8B88-FDDAC17D9004}"/>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02</a:t>
            </a:r>
          </a:p>
        </p:txBody>
      </p:sp>
    </p:spTree>
    <p:extLst>
      <p:ext uri="{BB962C8B-B14F-4D97-AF65-F5344CB8AC3E}">
        <p14:creationId xmlns:p14="http://schemas.microsoft.com/office/powerpoint/2010/main" val="1634522961"/>
      </p:ext>
    </p:extLst>
  </p:cSld>
</p:sld>
</file>

<file path=ppt/slides/slide3.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9231499e37e4475"/>
          <a:stretch xmlns:a="http://schemas.openxmlformats.org/drawingml/2006/main"/>
        </p:blipFill>
        <p:spPr>
          <a:xfrm xmlns:a="http://schemas.openxmlformats.org/drawingml/2006/main">
            <a:off x="685800" y="1644650"/>
            <a:ext cx="4953000" cy="3302000"/>
          </a:xfrm>
          <a:prstGeom xmlns:a="http://schemas.openxmlformats.org/drawingml/2006/main" prst="roundRect">
            <a:avLst>
              <a:gd name="adj" fmla="val 2830"/>
            </a:avLst>
          </a:prstGeom>
        </p:spPr>
      </p:pic>
      <p:sp>
        <p:nvSpPr>
          <p:cNvPr id="2" name="">
            <a:extLst xmlns:a="http://schemas.openxmlformats.org/drawingml/2006/main">
              <a:ext uri="{FF2B5EF4-FFF2-40B4-BE49-F238E27FC236}">
                <a16:creationId xmlns:a16="http://schemas.microsoft.com/office/drawing/2014/main" id="{B86E2C34-3C3C-469C-80B3-DD83B2343C97}"/>
              </a:ext>
            </a:extLst>
          </p:cNvPr>
          <p:cNvSpPr>
            <a:spLocks xmlns:a="http://schemas.openxmlformats.org/drawingml/2006/main" noGrp="1"/>
          </p:cNvSpPr>
          <p:nvPr/>
        </p:nvSpPr>
        <p:spPr>
          <a:xfrm xmlns:a="http://schemas.openxmlformats.org/drawingml/2006/main">
            <a:off x="6858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E7B1DED1-FF50-42C8-B06A-24A89A31DBB8}"/>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3B1118"/>
                </a:solidFill>
              </a:defRPr>
            </a:pPr>
            <a:r>
              <a:rPr sz="2700" b="1">
                <a:solidFill>
                  <a:srgbClr val="3B1118"/>
                </a:solidFill>
              </a:rPr>
              <a:t>A brief converts an interesting topic into a purposeful graphics problem</a:t>
            </a:r>
          </a:p>
        </p:txBody>
      </p:sp>
      <p:sp>
        <p:nvSpPr>
          <p:cNvPr id="4" name="">
            <a:extLst xmlns:a="http://schemas.openxmlformats.org/drawingml/2006/main">
              <a:ext uri="{FF2B5EF4-FFF2-40B4-BE49-F238E27FC236}">
                <a16:creationId xmlns:a16="http://schemas.microsoft.com/office/drawing/2014/main" id="{14571894-4A50-4D91-8315-BA8013FE02B5}"/>
              </a:ext>
            </a:extLst>
          </p:cNvPr>
          <p:cNvSpPr>
            <a:spLocks xmlns:a="http://schemas.openxmlformats.org/drawingml/2006/main" noGrp="1"/>
          </p:cNvSpPr>
          <p:nvPr/>
        </p:nvSpPr>
        <p:spPr>
          <a:xfrm xmlns:a="http://schemas.openxmlformats.org/drawingml/2006/main">
            <a:off x="60960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A usable brief names the audience, purpose, context, deliverables, criteria and constraints. Required, preferred and optional features must be separated before production expands. Feasibility includes time, access, rights, privacy and cultural authority—not only whether software can make the idea look impressive. Current teacher approval controls the final scope.</a:t>
            </a:r>
          </a:p>
        </p:txBody>
      </p:sp>
      <p:sp>
        <p:nvSpPr>
          <p:cNvPr id="5" name="">
            <a:extLst xmlns:a="http://schemas.openxmlformats.org/drawingml/2006/main">
              <a:ext uri="{FF2B5EF4-FFF2-40B4-BE49-F238E27FC236}">
                <a16:creationId xmlns:a16="http://schemas.microsoft.com/office/drawing/2014/main" id="{1FA982CF-E863-41EC-A9DB-C10A8F916462}"/>
              </a:ext>
            </a:extLst>
          </p:cNvPr>
          <p:cNvSpPr>
            <a:spLocks xmlns:a="http://schemas.openxmlformats.org/drawingml/2006/main" noGrp="1"/>
          </p:cNvSpPr>
          <p:nvPr/>
        </p:nvSpPr>
        <p:spPr>
          <a:xfrm xmlns:a="http://schemas.openxmlformats.org/drawingml/2006/main">
            <a:off x="60960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DF03FE4-209D-4B69-A368-C88A00F3B5FC}"/>
              </a:ext>
            </a:extLst>
          </p:cNvPr>
          <p:cNvSpPr>
            <a:spLocks xmlns:a="http://schemas.openxmlformats.org/drawingml/2006/main" noGrp="1"/>
          </p:cNvSpPr>
          <p:nvPr/>
        </p:nvSpPr>
        <p:spPr>
          <a:xfrm xmlns:a="http://schemas.openxmlformats.org/drawingml/2006/main">
            <a:off x="60960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8B2433"/>
                </a:solidFill>
              </a:defRPr>
            </a:pPr>
            <a:r>
              <a:rPr sz="1575" b="1">
                <a:solidFill>
                  <a:srgbClr val="8B2433"/>
                </a:solidFill>
              </a:rPr>
              <a:t>Clarify → Which criterion is observable, and which part of the idea still needs approval or evidence?</a:t>
            </a:r>
          </a:p>
        </p:txBody>
      </p:sp>
      <p:sp>
        <p:nvSpPr>
          <p:cNvPr id="7" name="">
            <a:extLst xmlns:a="http://schemas.openxmlformats.org/drawingml/2006/main">
              <a:ext uri="{FF2B5EF4-FFF2-40B4-BE49-F238E27FC236}">
                <a16:creationId xmlns:a16="http://schemas.microsoft.com/office/drawing/2014/main" id="{9E843971-C75C-4865-9A91-9130C56F5EC4}"/>
              </a:ext>
            </a:extLst>
          </p:cNvPr>
          <p:cNvSpPr>
            <a:spLocks xmlns:a="http://schemas.openxmlformats.org/drawingml/2006/main" noGrp="1"/>
          </p:cNvSpPr>
          <p:nvPr/>
        </p:nvSpPr>
        <p:spPr>
          <a:xfrm xmlns:a="http://schemas.openxmlformats.org/drawingml/2006/main">
            <a:off x="60960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6585B"/>
                </a:solidFill>
              </a:defRPr>
            </a:pPr>
            <a:r>
              <a:rPr sz="1200">
                <a:solidFill>
                  <a:srgbClr val="66585B"/>
                </a:solidFill>
              </a:rPr>
              <a:t>The brief keeps the graphics work connected to a real communication purpose. Every deliverable should answer part of it.</a:t>
            </a:r>
          </a:p>
        </p:txBody>
      </p:sp>
      <p:sp>
        <p:nvSpPr>
          <p:cNvPr id="8" name="">
            <a:extLst xmlns:a="http://schemas.openxmlformats.org/drawingml/2006/main">
              <a:ext uri="{FF2B5EF4-FFF2-40B4-BE49-F238E27FC236}">
                <a16:creationId xmlns:a16="http://schemas.microsoft.com/office/drawing/2014/main" id="{8EAE9908-2D2B-4DE6-A659-7BD1A0B10095}"/>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4616E62-6211-4E8E-97F3-DD04B2AD303B}"/>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4</a:t>
            </a:r>
          </a:p>
        </p:txBody>
      </p:sp>
      <p:sp>
        <p:nvSpPr>
          <p:cNvPr id="10" name="">
            <a:extLst xmlns:a="http://schemas.openxmlformats.org/drawingml/2006/main">
              <a:ext uri="{FF2B5EF4-FFF2-40B4-BE49-F238E27FC236}">
                <a16:creationId xmlns:a16="http://schemas.microsoft.com/office/drawing/2014/main" id="{EFCFF508-D0F0-4E1B-8D00-F7C311AF1D95}"/>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03</a:t>
            </a:r>
          </a:p>
        </p:txBody>
      </p:sp>
    </p:spTree>
    <p:extLst>
      <p:ext uri="{BB962C8B-B14F-4D97-AF65-F5344CB8AC3E}">
        <p14:creationId xmlns:p14="http://schemas.microsoft.com/office/powerpoint/2010/main" val="1186371365"/>
      </p:ext>
    </p:extLst>
  </p:cSld>
</p:sld>
</file>

<file path=ppt/slides/slide4.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35256d3ea1d4f66"/>
          <a:stretch xmlns:a="http://schemas.openxmlformats.org/drawingml/2006/main"/>
        </p:blipFill>
        <p:spPr>
          <a:xfrm xmlns:a="http://schemas.openxmlformats.org/drawingml/2006/main">
            <a:off x="6553200" y="1644650"/>
            <a:ext cx="4953000" cy="3302000"/>
          </a:xfrm>
          <a:prstGeom xmlns:a="http://schemas.openxmlformats.org/drawingml/2006/main" prst="roundRect">
            <a:avLst>
              <a:gd name="adj" fmla="val 2830"/>
            </a:avLst>
          </a:prstGeom>
        </p:spPr>
      </p:pic>
      <p:sp>
        <p:nvSpPr>
          <p:cNvPr id="2" name="">
            <a:extLst xmlns:a="http://schemas.openxmlformats.org/drawingml/2006/main">
              <a:ext uri="{FF2B5EF4-FFF2-40B4-BE49-F238E27FC236}">
                <a16:creationId xmlns:a16="http://schemas.microsoft.com/office/drawing/2014/main" id="{B86990CF-93FA-429B-AF48-EEF2E4B2F2A8}"/>
              </a:ext>
            </a:extLst>
          </p:cNvPr>
          <p:cNvSpPr>
            <a:spLocks xmlns:a="http://schemas.openxmlformats.org/drawingml/2006/main" noGrp="1"/>
          </p:cNvSpPr>
          <p:nvPr/>
        </p:nvSpPr>
        <p:spPr>
          <a:xfrm xmlns:a="http://schemas.openxmlformats.org/drawingml/2006/main">
            <a:off x="65532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A6405B1D-461C-43B3-B3F0-5E247707C59E}"/>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3B1118"/>
                </a:solidFill>
              </a:defRPr>
            </a:pPr>
            <a:r>
              <a:rPr sz="2700" b="1">
                <a:solidFill>
                  <a:srgbClr val="3B1118"/>
                </a:solidFill>
              </a:rPr>
              <a:t>Strong development keeps alternatives, milestones and versions visible</a:t>
            </a:r>
          </a:p>
        </p:txBody>
      </p:sp>
      <p:sp>
        <p:nvSpPr>
          <p:cNvPr id="4" name="">
            <a:extLst xmlns:a="http://schemas.openxmlformats.org/drawingml/2006/main">
              <a:ext uri="{FF2B5EF4-FFF2-40B4-BE49-F238E27FC236}">
                <a16:creationId xmlns:a16="http://schemas.microsoft.com/office/drawing/2014/main" id="{76B1D963-8FEB-4965-BD58-0B023BDBAC99}"/>
              </a:ext>
            </a:extLst>
          </p:cNvPr>
          <p:cNvSpPr>
            <a:spLocks xmlns:a="http://schemas.openxmlformats.org/drawingml/2006/main" noGrp="1"/>
          </p:cNvSpPr>
          <p:nvPr/>
        </p:nvSpPr>
        <p:spPr>
          <a:xfrm xmlns:a="http://schemas.openxmlformats.org/drawingml/2006/main">
            <a:off x="6858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Divergent ideas create genuine choices; annotations record why each direction may work. Convergent thinking compares those ideas with the approved criteria without pretending a score makes the decision. Milestones, dependencies, progress notes, source records and recoverable versions reduce drift and make significant revisions understandable rather than accidental.</a:t>
            </a:r>
          </a:p>
        </p:txBody>
      </p:sp>
      <p:sp>
        <p:nvSpPr>
          <p:cNvPr id="5" name="">
            <a:extLst xmlns:a="http://schemas.openxmlformats.org/drawingml/2006/main">
              <a:ext uri="{FF2B5EF4-FFF2-40B4-BE49-F238E27FC236}">
                <a16:creationId xmlns:a16="http://schemas.microsoft.com/office/drawing/2014/main" id="{5B9F0364-663B-4F31-B81A-EE14CC082942}"/>
              </a:ext>
            </a:extLst>
          </p:cNvPr>
          <p:cNvSpPr>
            <a:spLocks xmlns:a="http://schemas.openxmlformats.org/drawingml/2006/main" noGrp="1"/>
          </p:cNvSpPr>
          <p:nvPr/>
        </p:nvSpPr>
        <p:spPr>
          <a:xfrm xmlns:a="http://schemas.openxmlformats.org/drawingml/2006/main">
            <a:off x="6858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0DF767-E534-4282-AF81-8956A81023EC}"/>
              </a:ext>
            </a:extLst>
          </p:cNvPr>
          <p:cNvSpPr>
            <a:spLocks xmlns:a="http://schemas.openxmlformats.org/drawingml/2006/main" noGrp="1"/>
          </p:cNvSpPr>
          <p:nvPr/>
        </p:nvSpPr>
        <p:spPr>
          <a:xfrm xmlns:a="http://schemas.openxmlformats.org/drawingml/2006/main">
            <a:off x="6858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8B2433"/>
                </a:solidFill>
              </a:defRPr>
            </a:pPr>
            <a:r>
              <a:rPr sz="1575" b="1">
                <a:solidFill>
                  <a:srgbClr val="8B2433"/>
                </a:solidFill>
              </a:rPr>
              <a:t>Control → What should be simplified or deferred now to protect the essential deliverables?</a:t>
            </a:r>
          </a:p>
        </p:txBody>
      </p:sp>
      <p:sp>
        <p:nvSpPr>
          <p:cNvPr id="7" name="">
            <a:extLst xmlns:a="http://schemas.openxmlformats.org/drawingml/2006/main">
              <a:ext uri="{FF2B5EF4-FFF2-40B4-BE49-F238E27FC236}">
                <a16:creationId xmlns:a16="http://schemas.microsoft.com/office/drawing/2014/main" id="{D0D76D07-5730-43E3-B4C1-73C3B1A9FCF5}"/>
              </a:ext>
            </a:extLst>
          </p:cNvPr>
          <p:cNvSpPr>
            <a:spLocks xmlns:a="http://schemas.openxmlformats.org/drawingml/2006/main" noGrp="1"/>
          </p:cNvSpPr>
          <p:nvPr/>
        </p:nvSpPr>
        <p:spPr>
          <a:xfrm xmlns:a="http://schemas.openxmlformats.org/drawingml/2006/main">
            <a:off x="6858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6585B"/>
                </a:solidFill>
              </a:defRPr>
            </a:pPr>
            <a:r>
              <a:rPr sz="1200">
                <a:solidFill>
                  <a:srgbClr val="66585B"/>
                </a:solidFill>
              </a:rPr>
              <a:t>The development trail shows alternatives, decisions and recoverable versions—not merely a polished final file.</a:t>
            </a:r>
          </a:p>
        </p:txBody>
      </p:sp>
      <p:sp>
        <p:nvSpPr>
          <p:cNvPr id="8" name="">
            <a:extLst xmlns:a="http://schemas.openxmlformats.org/drawingml/2006/main">
              <a:ext uri="{FF2B5EF4-FFF2-40B4-BE49-F238E27FC236}">
                <a16:creationId xmlns:a16="http://schemas.microsoft.com/office/drawing/2014/main" id="{AF104901-1ACD-4C60-A52B-4C8F2A01E555}"/>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93A57E-DE65-416F-A404-F02094C4107B}"/>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4</a:t>
            </a:r>
          </a:p>
        </p:txBody>
      </p:sp>
      <p:sp>
        <p:nvSpPr>
          <p:cNvPr id="10" name="">
            <a:extLst xmlns:a="http://schemas.openxmlformats.org/drawingml/2006/main">
              <a:ext uri="{FF2B5EF4-FFF2-40B4-BE49-F238E27FC236}">
                <a16:creationId xmlns:a16="http://schemas.microsoft.com/office/drawing/2014/main" id="{9D4E6391-D91B-49B3-B650-2A10FE6888CC}"/>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04</a:t>
            </a:r>
          </a:p>
        </p:txBody>
      </p:sp>
    </p:spTree>
    <p:extLst>
      <p:ext uri="{BB962C8B-B14F-4D97-AF65-F5344CB8AC3E}">
        <p14:creationId xmlns:p14="http://schemas.microsoft.com/office/powerpoint/2010/main" val="993980473"/>
      </p:ext>
    </p:extLst>
  </p:cSld>
</p:sld>
</file>

<file path=ppt/slides/slide5.xml><?xml version="1.0" encoding="utf-8"?>
<p:sld xmlns:p="http://schemas.openxmlformats.org/presentationml/2006/main">
  <p:cSld>
    <p:bg>
      <p:bgPr>
        <a:solidFill xmlns:a="http://schemas.openxmlformats.org/drawingml/2006/main">
          <a:srgbClr val="1B1718"/>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b9f923d84344f2b"/>
          <a:srcRect xmlns:a="http://schemas.openxmlformats.org/drawingml/2006/main" l="0" t="30078" r="0" b="30078"/>
          <a:stretch xmlns:a="http://schemas.openxmlformats.org/drawingml/2006/main">
            <a:fillRect l="0" t="0" r="0" b="0"/>
          </a:stretch>
        </p:blipFill>
        <p:spPr>
          <a:xfrm xmlns:a="http://schemas.openxmlformats.org/drawingml/2006/main">
            <a:off x="0" y="0"/>
            <a:ext cx="12192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BDF537-BBCB-42AE-AF41-C77D98043343}"/>
              </a:ext>
            </a:extLst>
          </p:cNvPr>
          <p:cNvSpPr>
            <a:spLocks xmlns:a="http://schemas.openxmlformats.org/drawingml/2006/main" noGrp="1"/>
          </p:cNvSpPr>
          <p:nvPr/>
        </p:nvSpPr>
        <p:spPr>
          <a:xfrm xmlns:a="http://schemas.openxmlformats.org/drawingml/2006/main">
            <a:off x="0" y="3028950"/>
            <a:ext cx="12192000" cy="3829050"/>
          </a:xfrm>
          <a:prstGeom xmlns:a="http://schemas.openxmlformats.org/drawingml/2006/main" prst="rect">
            <a:avLst/>
          </a:prstGeom>
          <a:solidFill xmlns:a="http://schemas.openxmlformats.org/drawingml/2006/main">
            <a:srgbClr val="1B171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35CBA0-94E5-4BFB-8D30-89F761E9F5C8}"/>
              </a:ext>
            </a:extLst>
          </p:cNvPr>
          <p:cNvSpPr>
            <a:spLocks xmlns:a="http://schemas.openxmlformats.org/drawingml/2006/main" noGrp="1"/>
          </p:cNvSpPr>
          <p:nvPr/>
        </p:nvSpPr>
        <p:spPr>
          <a:xfrm xmlns:a="http://schemas.openxmlformats.org/drawingml/2006/main">
            <a:off x="685800" y="33528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FFFFFF"/>
                </a:solidFill>
              </a:defRPr>
            </a:pPr>
            <a:r>
              <a:rPr sz="2700" b="1">
                <a:solidFill>
                  <a:srgbClr val="FFFFFF"/>
                </a:solidFill>
              </a:rPr>
              <a:t>Evaluation is a judgement supported by selected evidence</a:t>
            </a:r>
          </a:p>
        </p:txBody>
      </p:sp>
      <p:sp>
        <p:nvSpPr>
          <p:cNvPr id="4" name="">
            <a:extLst xmlns:a="http://schemas.openxmlformats.org/drawingml/2006/main">
              <a:ext uri="{FF2B5EF4-FFF2-40B4-BE49-F238E27FC236}">
                <a16:creationId xmlns:a16="http://schemas.microsoft.com/office/drawing/2014/main" id="{6CE40F21-3299-43AC-B6D9-31F985BE780A}"/>
              </a:ext>
            </a:extLst>
          </p:cNvPr>
          <p:cNvSpPr>
            <a:spLocks xmlns:a="http://schemas.openxmlformats.org/drawingml/2006/main" noGrp="1"/>
          </p:cNvSpPr>
          <p:nvPr/>
        </p:nvSpPr>
        <p:spPr>
          <a:xfrm xmlns:a="http://schemas.openxmlformats.org/drawingml/2006/main">
            <a:off x="685800" y="4114800"/>
            <a:ext cx="683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F7EDEF"/>
                </a:solidFill>
              </a:defRPr>
            </a:pPr>
            <a:r>
              <a:rPr sz="1425">
                <a:solidFill>
                  <a:srgbClr val="F7EDEF"/>
                </a:solidFill>
              </a:rPr>
              <a:t>Presentation should reveal the problem, significant decisions and final response in a clear hierarchy. Feedback becomes useful when the question tests a criterion rather than collecting a vote. Evaluation then joins a claim, relevant evidence and reasoning. A limitation can demonstrate critical judgement; a polished render alone cannot prove the brief was met.</a:t>
            </a:r>
          </a:p>
        </p:txBody>
      </p:sp>
      <p:sp>
        <p:nvSpPr>
          <p:cNvPr id="5" name="">
            <a:extLst xmlns:a="http://schemas.openxmlformats.org/drawingml/2006/main">
              <a:ext uri="{FF2B5EF4-FFF2-40B4-BE49-F238E27FC236}">
                <a16:creationId xmlns:a16="http://schemas.microsoft.com/office/drawing/2014/main" id="{A15011D9-7677-4C7F-93EB-CA5D9194441D}"/>
              </a:ext>
            </a:extLst>
          </p:cNvPr>
          <p:cNvSpPr>
            <a:spLocks xmlns:a="http://schemas.openxmlformats.org/drawingml/2006/main" noGrp="1"/>
          </p:cNvSpPr>
          <p:nvPr/>
        </p:nvSpPr>
        <p:spPr>
          <a:xfrm xmlns:a="http://schemas.openxmlformats.org/drawingml/2006/main">
            <a:off x="7962900" y="4114800"/>
            <a:ext cx="3543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FFD8DF"/>
                </a:solidFill>
              </a:defRPr>
            </a:pPr>
            <a:r>
              <a:rPr sz="1575" b="1">
                <a:solidFill>
                  <a:srgbClr val="FFD8DF"/>
                </a:solidFill>
              </a:rPr>
              <a:t>Evaluate → What claim can you defend with process, audience and technical evidence—and what remains a limitation?</a:t>
            </a:r>
          </a:p>
        </p:txBody>
      </p:sp>
      <p:sp>
        <p:nvSpPr>
          <p:cNvPr id="6" name="">
            <a:extLst xmlns:a="http://schemas.openxmlformats.org/drawingml/2006/main">
              <a:ext uri="{FF2B5EF4-FFF2-40B4-BE49-F238E27FC236}">
                <a16:creationId xmlns:a16="http://schemas.microsoft.com/office/drawing/2014/main" id="{232AC0C8-1206-4832-A6D6-5FB9475C2BF5}"/>
              </a:ext>
            </a:extLst>
          </p:cNvPr>
          <p:cNvSpPr>
            <a:spLocks xmlns:a="http://schemas.openxmlformats.org/drawingml/2006/main" noGrp="1"/>
          </p:cNvSpPr>
          <p:nvPr/>
        </p:nvSpPr>
        <p:spPr>
          <a:xfrm xmlns:a="http://schemas.openxmlformats.org/drawingml/2006/main">
            <a:off x="7962900" y="5467350"/>
            <a:ext cx="354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D7C9CC"/>
                </a:solidFill>
              </a:defRPr>
            </a:pPr>
            <a:r>
              <a:rPr sz="1200">
                <a:solidFill>
                  <a:srgbClr val="D7C9CC"/>
                </a:solidFill>
              </a:rPr>
              <a:t>Select evidence that explains a decision or improvement. Quantity is less useful than a clear claim-evidence-reasoning link.</a:t>
            </a:r>
          </a:p>
        </p:txBody>
      </p:sp>
      <p:sp>
        <p:nvSpPr>
          <p:cNvPr id="7" name="">
            <a:extLst xmlns:a="http://schemas.openxmlformats.org/drawingml/2006/main">
              <a:ext uri="{FF2B5EF4-FFF2-40B4-BE49-F238E27FC236}">
                <a16:creationId xmlns:a16="http://schemas.microsoft.com/office/drawing/2014/main" id="{05223C62-2F83-40D8-9BFC-C0ED5E9B5325}"/>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F51D36-42CD-4948-A39A-89D73C99444D}"/>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4</a:t>
            </a:r>
          </a:p>
        </p:txBody>
      </p:sp>
      <p:sp>
        <p:nvSpPr>
          <p:cNvPr id="9" name="">
            <a:extLst xmlns:a="http://schemas.openxmlformats.org/drawingml/2006/main">
              <a:ext uri="{FF2B5EF4-FFF2-40B4-BE49-F238E27FC236}">
                <a16:creationId xmlns:a16="http://schemas.microsoft.com/office/drawing/2014/main" id="{4AD97B56-835B-45FE-8239-80395D4940FE}"/>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05</a:t>
            </a:r>
          </a:p>
        </p:txBody>
      </p:sp>
    </p:spTree>
    <p:extLst>
      <p:ext uri="{BB962C8B-B14F-4D97-AF65-F5344CB8AC3E}">
        <p14:creationId xmlns:p14="http://schemas.microsoft.com/office/powerpoint/2010/main" val="259119333"/>
      </p:ext>
    </p:extLst>
  </p:cSld>
</p:sld>
</file>

<file path=ppt/slides/slide6.xml><?xml version="1.0" encoding="utf-8"?>
<p:sld xmlns:p="http://schemas.openxmlformats.org/presentationml/2006/main">
  <p:cSld>
    <p:bg>
      <p:bgPr>
        <a:solidFill xmlns:a="http://schemas.openxmlformats.org/drawingml/2006/main">
          <a:srgbClr val="3B11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20B4AC4-E6DB-4C39-ACE8-47B94523CBA6}"/>
              </a:ext>
            </a:extLst>
          </p:cNvPr>
          <p:cNvSpPr>
            <a:spLocks xmlns:a="http://schemas.openxmlformats.org/drawingml/2006/main" noGrp="1"/>
          </p:cNvSpPr>
          <p:nvPr/>
        </p:nvSpPr>
        <p:spPr>
          <a:xfrm xmlns:a="http://schemas.openxmlformats.org/drawingml/2006/main">
            <a:off x="685800" y="552450"/>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Retrieve before you look back</a:t>
            </a:r>
          </a:p>
        </p:txBody>
      </p:sp>
      <p:sp>
        <p:nvSpPr>
          <p:cNvPr id="2" name="">
            <a:extLst xmlns:a="http://schemas.openxmlformats.org/drawingml/2006/main">
              <a:ext uri="{FF2B5EF4-FFF2-40B4-BE49-F238E27FC236}">
                <a16:creationId xmlns:a16="http://schemas.microsoft.com/office/drawing/2014/main" id="{BE295F93-AA02-4E0D-8AAB-A32A9819350D}"/>
              </a:ext>
            </a:extLst>
          </p:cNvPr>
          <p:cNvSpPr>
            <a:spLocks xmlns:a="http://schemas.openxmlformats.org/drawingml/2006/main" noGrp="1"/>
          </p:cNvSpPr>
          <p:nvPr/>
        </p:nvSpPr>
        <p:spPr>
          <a:xfrm xmlns:a="http://schemas.openxmlformats.org/drawingml/2006/main">
            <a:off x="685800" y="12001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F1D8DE"/>
                </a:solidFill>
              </a:defRPr>
            </a:pPr>
            <a:r>
              <a:rPr sz="1500">
                <a:solidFill>
                  <a:srgbClr val="F1D8DE"/>
                </a:solidFill>
              </a:rPr>
              <a:t>Answer in a phrase first. Then add the because.</a:t>
            </a:r>
          </a:p>
        </p:txBody>
      </p:sp>
      <p:sp>
        <p:nvSpPr>
          <p:cNvPr id="3" name="">
            <a:extLst xmlns:a="http://schemas.openxmlformats.org/drawingml/2006/main">
              <a:ext uri="{FF2B5EF4-FFF2-40B4-BE49-F238E27FC236}">
                <a16:creationId xmlns:a16="http://schemas.microsoft.com/office/drawing/2014/main" id="{77B2624C-D97B-42EE-A83B-7BDC31502B67}"/>
              </a:ext>
            </a:extLst>
          </p:cNvPr>
          <p:cNvSpPr>
            <a:spLocks xmlns:a="http://schemas.openxmlformats.org/drawingml/2006/main" noGrp="1"/>
          </p:cNvSpPr>
          <p:nvPr/>
        </p:nvSpPr>
        <p:spPr>
          <a:xfrm xmlns:a="http://schemas.openxmlformats.org/drawingml/2006/main">
            <a:off x="876300" y="19812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01</a:t>
            </a:r>
          </a:p>
        </p:txBody>
      </p:sp>
      <p:sp>
        <p:nvSpPr>
          <p:cNvPr id="4" name="">
            <a:extLst xmlns:a="http://schemas.openxmlformats.org/drawingml/2006/main">
              <a:ext uri="{FF2B5EF4-FFF2-40B4-BE49-F238E27FC236}">
                <a16:creationId xmlns:a16="http://schemas.microsoft.com/office/drawing/2014/main" id="{61FAE8B6-5677-4044-B6EC-7C7DE71524A8}"/>
              </a:ext>
            </a:extLst>
          </p:cNvPr>
          <p:cNvSpPr>
            <a:spLocks xmlns:a="http://schemas.openxmlformats.org/drawingml/2006/main" noGrp="1"/>
          </p:cNvSpPr>
          <p:nvPr/>
        </p:nvSpPr>
        <p:spPr>
          <a:xfrm xmlns:a="http://schemas.openxmlformats.org/drawingml/2006/main">
            <a:off x="1638300" y="19812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What turns a broad topic into a usable brief?</a:t>
            </a:r>
          </a:p>
        </p:txBody>
      </p:sp>
      <p:sp>
        <p:nvSpPr>
          <p:cNvPr id="5" name="">
            <a:extLst xmlns:a="http://schemas.openxmlformats.org/drawingml/2006/main">
              <a:ext uri="{FF2B5EF4-FFF2-40B4-BE49-F238E27FC236}">
                <a16:creationId xmlns:a16="http://schemas.microsoft.com/office/drawing/2014/main" id="{C1561B16-6A6F-4FC9-84B7-5EC410FF884F}"/>
              </a:ext>
            </a:extLst>
          </p:cNvPr>
          <p:cNvSpPr>
            <a:spLocks xmlns:a="http://schemas.openxmlformats.org/drawingml/2006/main" noGrp="1"/>
          </p:cNvSpPr>
          <p:nvPr/>
        </p:nvSpPr>
        <p:spPr>
          <a:xfrm xmlns:a="http://schemas.openxmlformats.org/drawingml/2006/main">
            <a:off x="876300" y="28575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02</a:t>
            </a:r>
          </a:p>
        </p:txBody>
      </p:sp>
      <p:sp>
        <p:nvSpPr>
          <p:cNvPr id="6" name="">
            <a:extLst xmlns:a="http://schemas.openxmlformats.org/drawingml/2006/main">
              <a:ext uri="{FF2B5EF4-FFF2-40B4-BE49-F238E27FC236}">
                <a16:creationId xmlns:a16="http://schemas.microsoft.com/office/drawing/2014/main" id="{C1159877-6EBB-4DDE-A067-0901FEC3AF5C}"/>
              </a:ext>
            </a:extLst>
          </p:cNvPr>
          <p:cNvSpPr>
            <a:spLocks xmlns:a="http://schemas.openxmlformats.org/drawingml/2006/main" noGrp="1"/>
          </p:cNvSpPr>
          <p:nvPr/>
        </p:nvSpPr>
        <p:spPr>
          <a:xfrm xmlns:a="http://schemas.openxmlformats.org/drawingml/2006/main">
            <a:off x="1638300" y="28575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Why should required, preferred and optional features be separated?</a:t>
            </a:r>
          </a:p>
        </p:txBody>
      </p:sp>
      <p:sp>
        <p:nvSpPr>
          <p:cNvPr id="7" name="">
            <a:extLst xmlns:a="http://schemas.openxmlformats.org/drawingml/2006/main">
              <a:ext uri="{FF2B5EF4-FFF2-40B4-BE49-F238E27FC236}">
                <a16:creationId xmlns:a16="http://schemas.microsoft.com/office/drawing/2014/main" id="{DEBF3C41-3D51-4468-B14C-8FB4E6B21DCA}"/>
              </a:ext>
            </a:extLst>
          </p:cNvPr>
          <p:cNvSpPr>
            <a:spLocks xmlns:a="http://schemas.openxmlformats.org/drawingml/2006/main" noGrp="1"/>
          </p:cNvSpPr>
          <p:nvPr/>
        </p:nvSpPr>
        <p:spPr>
          <a:xfrm xmlns:a="http://schemas.openxmlformats.org/drawingml/2006/main">
            <a:off x="876300" y="37338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03</a:t>
            </a:r>
          </a:p>
        </p:txBody>
      </p:sp>
      <p:sp>
        <p:nvSpPr>
          <p:cNvPr id="8" name="">
            <a:extLst xmlns:a="http://schemas.openxmlformats.org/drawingml/2006/main">
              <a:ext uri="{FF2B5EF4-FFF2-40B4-BE49-F238E27FC236}">
                <a16:creationId xmlns:a16="http://schemas.microsoft.com/office/drawing/2014/main" id="{D2F2C435-375E-4724-85B0-00B8B2E21E56}"/>
              </a:ext>
            </a:extLst>
          </p:cNvPr>
          <p:cNvSpPr>
            <a:spLocks xmlns:a="http://schemas.openxmlformats.org/drawingml/2006/main" noGrp="1"/>
          </p:cNvSpPr>
          <p:nvPr/>
        </p:nvSpPr>
        <p:spPr>
          <a:xfrm xmlns:a="http://schemas.openxmlformats.org/drawingml/2006/main">
            <a:off x="1638300" y="37338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How do versions and decision notes strengthen project evidence?</a:t>
            </a:r>
          </a:p>
        </p:txBody>
      </p:sp>
      <p:sp>
        <p:nvSpPr>
          <p:cNvPr id="9" name="">
            <a:extLst xmlns:a="http://schemas.openxmlformats.org/drawingml/2006/main">
              <a:ext uri="{FF2B5EF4-FFF2-40B4-BE49-F238E27FC236}">
                <a16:creationId xmlns:a16="http://schemas.microsoft.com/office/drawing/2014/main" id="{9ED2FF50-E42D-41F6-9616-D5380C02E18A}"/>
              </a:ext>
            </a:extLst>
          </p:cNvPr>
          <p:cNvSpPr>
            <a:spLocks xmlns:a="http://schemas.openxmlformats.org/drawingml/2006/main" noGrp="1"/>
          </p:cNvSpPr>
          <p:nvPr/>
        </p:nvSpPr>
        <p:spPr>
          <a:xfrm xmlns:a="http://schemas.openxmlformats.org/drawingml/2006/main">
            <a:off x="876300" y="46101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04</a:t>
            </a:r>
          </a:p>
        </p:txBody>
      </p:sp>
      <p:sp>
        <p:nvSpPr>
          <p:cNvPr id="10" name="">
            <a:extLst xmlns:a="http://schemas.openxmlformats.org/drawingml/2006/main">
              <a:ext uri="{FF2B5EF4-FFF2-40B4-BE49-F238E27FC236}">
                <a16:creationId xmlns:a16="http://schemas.microsoft.com/office/drawing/2014/main" id="{E4BFD8CD-57C5-42C5-A4F8-A2865AA73635}"/>
              </a:ext>
            </a:extLst>
          </p:cNvPr>
          <p:cNvSpPr>
            <a:spLocks xmlns:a="http://schemas.openxmlformats.org/drawingml/2006/main" noGrp="1"/>
          </p:cNvSpPr>
          <p:nvPr/>
        </p:nvSpPr>
        <p:spPr>
          <a:xfrm xmlns:a="http://schemas.openxmlformats.org/drawingml/2006/main">
            <a:off x="1638300" y="46101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What makes evaluation different from a timeline of what happened?</a:t>
            </a:r>
          </a:p>
        </p:txBody>
      </p:sp>
      <p:sp>
        <p:nvSpPr>
          <p:cNvPr id="11" name="">
            <a:extLst xmlns:a="http://schemas.openxmlformats.org/drawingml/2006/main">
              <a:ext uri="{FF2B5EF4-FFF2-40B4-BE49-F238E27FC236}">
                <a16:creationId xmlns:a16="http://schemas.microsoft.com/office/drawing/2014/main" id="{D8116B13-DC61-483E-8CAC-A333891A3C64}"/>
              </a:ext>
            </a:extLst>
          </p:cNvPr>
          <p:cNvSpPr>
            <a:spLocks xmlns:a="http://schemas.openxmlformats.org/drawingml/2006/main" noGrp="1"/>
          </p:cNvSpPr>
          <p:nvPr/>
        </p:nvSpPr>
        <p:spPr>
          <a:xfrm xmlns:a="http://schemas.openxmlformats.org/drawingml/2006/main">
            <a:off x="1638300" y="5676900"/>
            <a:ext cx="902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A9B8"/>
                </a:solidFill>
              </a:defRPr>
            </a:pPr>
            <a:r>
              <a:rPr sz="1350" b="1">
                <a:solidFill>
                  <a:srgbClr val="F4A9B8"/>
                </a:solidFill>
              </a:rPr>
              <a:t>Check: can your partner point to the slide evidence that supports the answer?</a:t>
            </a:r>
          </a:p>
        </p:txBody>
      </p:sp>
      <p:sp>
        <p:nvSpPr>
          <p:cNvPr id="12" name="">
            <a:extLst xmlns:a="http://schemas.openxmlformats.org/drawingml/2006/main">
              <a:ext uri="{FF2B5EF4-FFF2-40B4-BE49-F238E27FC236}">
                <a16:creationId xmlns:a16="http://schemas.microsoft.com/office/drawing/2014/main" id="{4B83380F-B68D-4295-BDA6-C40E9C59C7D0}"/>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CFCF750-BE0B-40E3-A633-43F13C4D96A0}"/>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4</a:t>
            </a:r>
          </a:p>
        </p:txBody>
      </p:sp>
      <p:sp>
        <p:nvSpPr>
          <p:cNvPr id="14" name="">
            <a:extLst xmlns:a="http://schemas.openxmlformats.org/drawingml/2006/main">
              <a:ext uri="{FF2B5EF4-FFF2-40B4-BE49-F238E27FC236}">
                <a16:creationId xmlns:a16="http://schemas.microsoft.com/office/drawing/2014/main" id="{7B5E4A1C-1212-4F0B-87E6-067B04D9E908}"/>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06</a:t>
            </a:r>
          </a:p>
        </p:txBody>
      </p:sp>
    </p:spTree>
    <p:extLst>
      <p:ext uri="{BB962C8B-B14F-4D97-AF65-F5344CB8AC3E}">
        <p14:creationId xmlns:p14="http://schemas.microsoft.com/office/powerpoint/2010/main" val="1546376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B58B3EE-AC0C-45A8-8FAD-0C9272014061}"/>
              </a:ext>
            </a:extLst>
          </p:cNvPr>
          <p:cNvSpPr>
            <a:spLocks xmlns:a="http://schemas.openxmlformats.org/drawingml/2006/main" noGrp="1"/>
          </p:cNvSpPr>
          <p:nvPr/>
        </p:nvSpPr>
        <p:spPr>
          <a:xfrm xmlns:a="http://schemas.openxmlformats.org/drawingml/2006/main">
            <a:off x="685800" y="5334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3B1118"/>
                </a:solidFill>
              </a:defRPr>
            </a:pPr>
            <a:r>
              <a:rPr sz="2850" b="1">
                <a:solidFill>
                  <a:srgbClr val="3B1118"/>
                </a:solidFill>
              </a:rPr>
              <a:t>Build evidence: Read → Select → Explain → Check</a:t>
            </a:r>
          </a:p>
        </p:txBody>
      </p:sp>
      <p:sp>
        <p:nvSpPr>
          <p:cNvPr id="2" name="">
            <a:extLst xmlns:a="http://schemas.openxmlformats.org/drawingml/2006/main">
              <a:ext uri="{FF2B5EF4-FFF2-40B4-BE49-F238E27FC236}">
                <a16:creationId xmlns:a16="http://schemas.microsoft.com/office/drawing/2014/main" id="{412C4FF8-8DF2-4B11-A9C4-499CD04A7842}"/>
              </a:ext>
            </a:extLst>
          </p:cNvPr>
          <p:cNvSpPr>
            <a:spLocks xmlns:a="http://schemas.openxmlformats.org/drawingml/2006/main" noGrp="1"/>
          </p:cNvSpPr>
          <p:nvPr/>
        </p:nvSpPr>
        <p:spPr>
          <a:xfrm xmlns:a="http://schemas.openxmlformats.org/drawingml/2006/main">
            <a:off x="6858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1AD29E62-74FC-4B73-A6FC-1A3390B3E7DE}"/>
              </a:ext>
            </a:extLst>
          </p:cNvPr>
          <p:cNvSpPr>
            <a:spLocks xmlns:a="http://schemas.openxmlformats.org/drawingml/2006/main" noGrp="1"/>
          </p:cNvSpPr>
          <p:nvPr/>
        </p:nvSpPr>
        <p:spPr>
          <a:xfrm xmlns:a="http://schemas.openxmlformats.org/drawingml/2006/main">
            <a:off x="8953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READ</a:t>
            </a:r>
          </a:p>
        </p:txBody>
      </p:sp>
      <p:sp>
        <p:nvSpPr>
          <p:cNvPr id="4" name="">
            <a:extLst xmlns:a="http://schemas.openxmlformats.org/drawingml/2006/main">
              <a:ext uri="{FF2B5EF4-FFF2-40B4-BE49-F238E27FC236}">
                <a16:creationId xmlns:a16="http://schemas.microsoft.com/office/drawing/2014/main" id="{4D30C351-C1DF-4BF8-9F8C-5B11FD5A705F}"/>
              </a:ext>
            </a:extLst>
          </p:cNvPr>
          <p:cNvSpPr>
            <a:spLocks xmlns:a="http://schemas.openxmlformats.org/drawingml/2006/main" noGrp="1"/>
          </p:cNvSpPr>
          <p:nvPr/>
        </p:nvSpPr>
        <p:spPr>
          <a:xfrm xmlns:a="http://schemas.openxmlformats.org/drawingml/2006/main">
            <a:off x="8953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Name the brief, source or criterion.</a:t>
            </a:r>
          </a:p>
        </p:txBody>
      </p:sp>
      <p:sp>
        <p:nvSpPr>
          <p:cNvPr id="5" name="">
            <a:extLst xmlns:a="http://schemas.openxmlformats.org/drawingml/2006/main">
              <a:ext uri="{FF2B5EF4-FFF2-40B4-BE49-F238E27FC236}">
                <a16:creationId xmlns:a16="http://schemas.microsoft.com/office/drawing/2014/main" id="{29C40217-C0A2-47AB-B11C-54DCDCAA0BEF}"/>
              </a:ext>
            </a:extLst>
          </p:cNvPr>
          <p:cNvSpPr>
            <a:spLocks xmlns:a="http://schemas.openxmlformats.org/drawingml/2006/main" noGrp="1"/>
          </p:cNvSpPr>
          <p:nvPr/>
        </p:nvSpPr>
        <p:spPr>
          <a:xfrm xmlns:a="http://schemas.openxmlformats.org/drawingml/2006/main">
            <a:off x="30384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6" name="">
            <a:extLst xmlns:a="http://schemas.openxmlformats.org/drawingml/2006/main">
              <a:ext uri="{FF2B5EF4-FFF2-40B4-BE49-F238E27FC236}">
                <a16:creationId xmlns:a16="http://schemas.microsoft.com/office/drawing/2014/main" id="{9A8F45E4-761D-41C0-8084-A4908E9C2FF3}"/>
              </a:ext>
            </a:extLst>
          </p:cNvPr>
          <p:cNvSpPr>
            <a:spLocks xmlns:a="http://schemas.openxmlformats.org/drawingml/2006/main" noGrp="1"/>
          </p:cNvSpPr>
          <p:nvPr/>
        </p:nvSpPr>
        <p:spPr>
          <a:xfrm xmlns:a="http://schemas.openxmlformats.org/drawingml/2006/main">
            <a:off x="34671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7" name="">
            <a:extLst xmlns:a="http://schemas.openxmlformats.org/drawingml/2006/main">
              <a:ext uri="{FF2B5EF4-FFF2-40B4-BE49-F238E27FC236}">
                <a16:creationId xmlns:a16="http://schemas.microsoft.com/office/drawing/2014/main" id="{E0E1B877-1378-4121-A673-764F1564A0EB}"/>
              </a:ext>
            </a:extLst>
          </p:cNvPr>
          <p:cNvSpPr>
            <a:spLocks xmlns:a="http://schemas.openxmlformats.org/drawingml/2006/main" noGrp="1"/>
          </p:cNvSpPr>
          <p:nvPr/>
        </p:nvSpPr>
        <p:spPr>
          <a:xfrm xmlns:a="http://schemas.openxmlformats.org/drawingml/2006/main">
            <a:off x="36766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SELECT</a:t>
            </a:r>
          </a:p>
        </p:txBody>
      </p:sp>
      <p:sp>
        <p:nvSpPr>
          <p:cNvPr id="8" name="">
            <a:extLst xmlns:a="http://schemas.openxmlformats.org/drawingml/2006/main">
              <a:ext uri="{FF2B5EF4-FFF2-40B4-BE49-F238E27FC236}">
                <a16:creationId xmlns:a16="http://schemas.microsoft.com/office/drawing/2014/main" id="{D8CF5D38-5BEF-480A-8320-D8F1AA8C963F}"/>
              </a:ext>
            </a:extLst>
          </p:cNvPr>
          <p:cNvSpPr>
            <a:spLocks xmlns:a="http://schemas.openxmlformats.org/drawingml/2006/main" noGrp="1"/>
          </p:cNvSpPr>
          <p:nvPr/>
        </p:nvSpPr>
        <p:spPr>
          <a:xfrm xmlns:a="http://schemas.openxmlformats.org/drawingml/2006/main">
            <a:off x="36766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Choose one drawing, image or decision.</a:t>
            </a:r>
          </a:p>
        </p:txBody>
      </p:sp>
      <p:sp>
        <p:nvSpPr>
          <p:cNvPr id="9" name="">
            <a:extLst xmlns:a="http://schemas.openxmlformats.org/drawingml/2006/main">
              <a:ext uri="{FF2B5EF4-FFF2-40B4-BE49-F238E27FC236}">
                <a16:creationId xmlns:a16="http://schemas.microsoft.com/office/drawing/2014/main" id="{8F844E35-AAAE-4951-B314-037C6534769B}"/>
              </a:ext>
            </a:extLst>
          </p:cNvPr>
          <p:cNvSpPr>
            <a:spLocks xmlns:a="http://schemas.openxmlformats.org/drawingml/2006/main" noGrp="1"/>
          </p:cNvSpPr>
          <p:nvPr/>
        </p:nvSpPr>
        <p:spPr>
          <a:xfrm xmlns:a="http://schemas.openxmlformats.org/drawingml/2006/main">
            <a:off x="58197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10" name="">
            <a:extLst xmlns:a="http://schemas.openxmlformats.org/drawingml/2006/main">
              <a:ext uri="{FF2B5EF4-FFF2-40B4-BE49-F238E27FC236}">
                <a16:creationId xmlns:a16="http://schemas.microsoft.com/office/drawing/2014/main" id="{005EE951-FE20-4105-8F46-1E9AEF2B0D2F}"/>
              </a:ext>
            </a:extLst>
          </p:cNvPr>
          <p:cNvSpPr>
            <a:spLocks xmlns:a="http://schemas.openxmlformats.org/drawingml/2006/main" noGrp="1"/>
          </p:cNvSpPr>
          <p:nvPr/>
        </p:nvSpPr>
        <p:spPr>
          <a:xfrm xmlns:a="http://schemas.openxmlformats.org/drawingml/2006/main">
            <a:off x="6248400" y="1752600"/>
            <a:ext cx="2324100" cy="1676400"/>
          </a:xfrm>
          <a:prstGeom xmlns:a="http://schemas.openxmlformats.org/drawingml/2006/main" prst="roundRect">
            <a:avLst>
              <a:gd name="adj" fmla="val 9091"/>
            </a:avLst>
          </a:prstGeom>
          <a:solidFill xmlns:a="http://schemas.openxmlformats.org/drawingml/2006/main">
            <a:srgbClr val="FBEAEC"/>
          </a:solidFill>
          <a:ln xmlns:a="http://schemas.openxmlformats.org/drawingml/2006/main" w="19050">
            <a:solidFill>
              <a:srgbClr val="8B2433"/>
            </a:solidFill>
            <a:prstDash val="solid"/>
          </a:ln>
        </p:spPr>
      </p:sp>
      <p:sp>
        <p:nvSpPr>
          <p:cNvPr id="11" name="">
            <a:extLst xmlns:a="http://schemas.openxmlformats.org/drawingml/2006/main">
              <a:ext uri="{FF2B5EF4-FFF2-40B4-BE49-F238E27FC236}">
                <a16:creationId xmlns:a16="http://schemas.microsoft.com/office/drawing/2014/main" id="{863307DA-B6B3-470B-84E1-06CE9D1AF3E7}"/>
              </a:ext>
            </a:extLst>
          </p:cNvPr>
          <p:cNvSpPr>
            <a:spLocks xmlns:a="http://schemas.openxmlformats.org/drawingml/2006/main" noGrp="1"/>
          </p:cNvSpPr>
          <p:nvPr/>
        </p:nvSpPr>
        <p:spPr>
          <a:xfrm xmlns:a="http://schemas.openxmlformats.org/drawingml/2006/main">
            <a:off x="64579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EXPLAIN</a:t>
            </a:r>
          </a:p>
        </p:txBody>
      </p:sp>
      <p:sp>
        <p:nvSpPr>
          <p:cNvPr id="12" name="">
            <a:extLst xmlns:a="http://schemas.openxmlformats.org/drawingml/2006/main">
              <a:ext uri="{FF2B5EF4-FFF2-40B4-BE49-F238E27FC236}">
                <a16:creationId xmlns:a16="http://schemas.microsoft.com/office/drawing/2014/main" id="{9AB54ADF-5529-46ED-8F6F-A7486B9B1C8D}"/>
              </a:ext>
            </a:extLst>
          </p:cNvPr>
          <p:cNvSpPr>
            <a:spLocks xmlns:a="http://schemas.openxmlformats.org/drawingml/2006/main" noGrp="1"/>
          </p:cNvSpPr>
          <p:nvPr/>
        </p:nvSpPr>
        <p:spPr>
          <a:xfrm xmlns:a="http://schemas.openxmlformats.org/drawingml/2006/main">
            <a:off x="64579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State what it proves and why it matters.</a:t>
            </a:r>
          </a:p>
        </p:txBody>
      </p:sp>
      <p:sp>
        <p:nvSpPr>
          <p:cNvPr id="13" name="">
            <a:extLst xmlns:a="http://schemas.openxmlformats.org/drawingml/2006/main">
              <a:ext uri="{FF2B5EF4-FFF2-40B4-BE49-F238E27FC236}">
                <a16:creationId xmlns:a16="http://schemas.microsoft.com/office/drawing/2014/main" id="{FED478AB-FFC2-4269-94EF-698D0A449746}"/>
              </a:ext>
            </a:extLst>
          </p:cNvPr>
          <p:cNvSpPr>
            <a:spLocks xmlns:a="http://schemas.openxmlformats.org/drawingml/2006/main" noGrp="1"/>
          </p:cNvSpPr>
          <p:nvPr/>
        </p:nvSpPr>
        <p:spPr>
          <a:xfrm xmlns:a="http://schemas.openxmlformats.org/drawingml/2006/main">
            <a:off x="86010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14" name="">
            <a:extLst xmlns:a="http://schemas.openxmlformats.org/drawingml/2006/main">
              <a:ext uri="{FF2B5EF4-FFF2-40B4-BE49-F238E27FC236}">
                <a16:creationId xmlns:a16="http://schemas.microsoft.com/office/drawing/2014/main" id="{760C1D49-5EE3-410C-95E1-D6C3546814AB}"/>
              </a:ext>
            </a:extLst>
          </p:cNvPr>
          <p:cNvSpPr>
            <a:spLocks xmlns:a="http://schemas.openxmlformats.org/drawingml/2006/main" noGrp="1"/>
          </p:cNvSpPr>
          <p:nvPr/>
        </p:nvSpPr>
        <p:spPr>
          <a:xfrm xmlns:a="http://schemas.openxmlformats.org/drawingml/2006/main">
            <a:off x="90297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15" name="">
            <a:extLst xmlns:a="http://schemas.openxmlformats.org/drawingml/2006/main">
              <a:ext uri="{FF2B5EF4-FFF2-40B4-BE49-F238E27FC236}">
                <a16:creationId xmlns:a16="http://schemas.microsoft.com/office/drawing/2014/main" id="{A4A559DB-86C4-4195-A8E3-999C2B83EB7A}"/>
              </a:ext>
            </a:extLst>
          </p:cNvPr>
          <p:cNvSpPr>
            <a:spLocks xmlns:a="http://schemas.openxmlformats.org/drawingml/2006/main" noGrp="1"/>
          </p:cNvSpPr>
          <p:nvPr/>
        </p:nvSpPr>
        <p:spPr>
          <a:xfrm xmlns:a="http://schemas.openxmlformats.org/drawingml/2006/main">
            <a:off x="92392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CHECK</a:t>
            </a:r>
          </a:p>
        </p:txBody>
      </p:sp>
      <p:sp>
        <p:nvSpPr>
          <p:cNvPr id="16" name="">
            <a:extLst xmlns:a="http://schemas.openxmlformats.org/drawingml/2006/main">
              <a:ext uri="{FF2B5EF4-FFF2-40B4-BE49-F238E27FC236}">
                <a16:creationId xmlns:a16="http://schemas.microsoft.com/office/drawing/2014/main" id="{7FF055DC-7557-4D76-859F-E2293357B5E0}"/>
              </a:ext>
            </a:extLst>
          </p:cNvPr>
          <p:cNvSpPr>
            <a:spLocks xmlns:a="http://schemas.openxmlformats.org/drawingml/2006/main" noGrp="1"/>
          </p:cNvSpPr>
          <p:nvPr/>
        </p:nvSpPr>
        <p:spPr>
          <a:xfrm xmlns:a="http://schemas.openxmlformats.org/drawingml/2006/main">
            <a:off x="92392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Limit the claim to the actual evidence.</a:t>
            </a:r>
          </a:p>
        </p:txBody>
      </p:sp>
      <p:sp>
        <p:nvSpPr>
          <p:cNvPr id="17" name="">
            <a:extLst xmlns:a="http://schemas.openxmlformats.org/drawingml/2006/main">
              <a:ext uri="{FF2B5EF4-FFF2-40B4-BE49-F238E27FC236}">
                <a16:creationId xmlns:a16="http://schemas.microsoft.com/office/drawing/2014/main" id="{0D9DD8F5-32F1-4F7D-8B84-5920961A8813}"/>
              </a:ext>
            </a:extLst>
          </p:cNvPr>
          <p:cNvSpPr>
            <a:spLocks xmlns:a="http://schemas.openxmlformats.org/drawingml/2006/main" noGrp="1"/>
          </p:cNvSpPr>
          <p:nvPr/>
        </p:nvSpPr>
        <p:spPr>
          <a:xfrm xmlns:a="http://schemas.openxmlformats.org/drawingml/2006/main">
            <a:off x="1257300" y="4114800"/>
            <a:ext cx="9677400" cy="1295400"/>
          </a:xfrm>
          <a:prstGeom xmlns:a="http://schemas.openxmlformats.org/drawingml/2006/main" prst="roundRect">
            <a:avLst>
              <a:gd name="adj" fmla="val 11765"/>
            </a:avLst>
          </a:prstGeom>
          <a:solidFill xmlns:a="http://schemas.openxmlformats.org/drawingml/2006/main">
            <a:srgbClr val="3B11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E69E91F-9754-4629-B1CD-840C803DE31E}"/>
              </a:ext>
            </a:extLst>
          </p:cNvPr>
          <p:cNvSpPr>
            <a:spLocks xmlns:a="http://schemas.openxmlformats.org/drawingml/2006/main" noGrp="1"/>
          </p:cNvSpPr>
          <p:nvPr/>
        </p:nvSpPr>
        <p:spPr>
          <a:xfrm xmlns:a="http://schemas.openxmlformats.org/drawingml/2006/main">
            <a:off x="1562100" y="43434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A9B8"/>
                </a:solidFill>
              </a:defRPr>
            </a:pPr>
            <a:r>
              <a:rPr sz="1350" b="1">
                <a:solidFill>
                  <a:srgbClr val="F4A9B8"/>
                </a:solidFill>
              </a:rPr>
              <a:t>Sentence support</a:t>
            </a:r>
          </a:p>
        </p:txBody>
      </p:sp>
      <p:sp>
        <p:nvSpPr>
          <p:cNvPr id="19" name="">
            <a:extLst xmlns:a="http://schemas.openxmlformats.org/drawingml/2006/main">
              <a:ext uri="{FF2B5EF4-FFF2-40B4-BE49-F238E27FC236}">
                <a16:creationId xmlns:a16="http://schemas.microsoft.com/office/drawing/2014/main" id="{2DD66A01-2036-4F23-8C8A-0AE6E5EA7342}"/>
              </a:ext>
            </a:extLst>
          </p:cNvPr>
          <p:cNvSpPr>
            <a:spLocks xmlns:a="http://schemas.openxmlformats.org/drawingml/2006/main" noGrp="1"/>
          </p:cNvSpPr>
          <p:nvPr/>
        </p:nvSpPr>
        <p:spPr>
          <a:xfrm xmlns:a="http://schemas.openxmlformats.org/drawingml/2006/main">
            <a:off x="1562100" y="47244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FFFFFF"/>
                </a:solidFill>
              </a:defRPr>
            </a:pPr>
            <a:r>
              <a:rPr sz="1575">
                <a:solidFill>
                  <a:srgbClr val="FFFFFF"/>
                </a:solidFill>
              </a:rPr>
              <a:t>My brief required ___. I changed ___ after evidence showed ___. The result meets ___ because ___. A remaining limitation is ___, so the next improvement would be ___.</a:t>
            </a:r>
          </a:p>
        </p:txBody>
      </p:sp>
      <p:sp>
        <p:nvSpPr>
          <p:cNvPr id="20" name="">
            <a:extLst xmlns:a="http://schemas.openxmlformats.org/drawingml/2006/main">
              <a:ext uri="{FF2B5EF4-FFF2-40B4-BE49-F238E27FC236}">
                <a16:creationId xmlns:a16="http://schemas.microsoft.com/office/drawing/2014/main" id="{97F859BF-83CC-4346-8B54-B577E85F392E}"/>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35F8D9-2818-4494-BBC7-0E56E85D4031}"/>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4</a:t>
            </a:r>
          </a:p>
        </p:txBody>
      </p:sp>
      <p:sp>
        <p:nvSpPr>
          <p:cNvPr id="22" name="">
            <a:extLst xmlns:a="http://schemas.openxmlformats.org/drawingml/2006/main">
              <a:ext uri="{FF2B5EF4-FFF2-40B4-BE49-F238E27FC236}">
                <a16:creationId xmlns:a16="http://schemas.microsoft.com/office/drawing/2014/main" id="{84EC5CC6-8906-45B4-BF7B-51C27F9261EE}"/>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07</a:t>
            </a:r>
          </a:p>
        </p:txBody>
      </p:sp>
    </p:spTree>
    <p:extLst>
      <p:ext uri="{BB962C8B-B14F-4D97-AF65-F5344CB8AC3E}">
        <p14:creationId xmlns:p14="http://schemas.microsoft.com/office/powerpoint/2010/main" val="450139448"/>
      </p:ext>
    </p:extLst>
  </p:cSld>
</p:sld>
</file>

<file path=ppt/slides/slide8.xml><?xml version="1.0" encoding="utf-8"?>
<p:sld xmlns:p="http://schemas.openxmlformats.org/presentationml/2006/main">
  <p:cSld>
    <p:bg>
      <p:bgPr>
        <a:solidFill xmlns:a="http://schemas.openxmlformats.org/drawingml/2006/main">
          <a:srgbClr val="FBEA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E5BEDFD-A267-491B-9298-2E7BFF665ABA}"/>
              </a:ext>
            </a:extLst>
          </p:cNvPr>
          <p:cNvSpPr>
            <a:spLocks xmlns:a="http://schemas.openxmlformats.org/drawingml/2006/main" noGrp="1"/>
          </p:cNvSpPr>
          <p:nvPr/>
        </p:nvSpPr>
        <p:spPr>
          <a:xfrm xmlns:a="http://schemas.openxmlformats.org/drawingml/2006/main">
            <a:off x="0" y="0"/>
            <a:ext cx="278130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AD29C6-5D43-4222-B2E0-9C9B0C5A9AA1}"/>
              </a:ext>
            </a:extLst>
          </p:cNvPr>
          <p:cNvSpPr>
            <a:spLocks xmlns:a="http://schemas.openxmlformats.org/drawingml/2006/main" noGrp="1"/>
          </p:cNvSpPr>
          <p:nvPr/>
        </p:nvSpPr>
        <p:spPr>
          <a:xfrm xmlns:a="http://schemas.openxmlformats.org/drawingml/2006/main">
            <a:off x="552450" y="857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D8DF"/>
                </a:solidFill>
              </a:defRPr>
            </a:pPr>
            <a:r>
              <a:rPr sz="1275" b="1">
                <a:solidFill>
                  <a:srgbClr val="FFD8DF"/>
                </a:solidFill>
              </a:rPr>
              <a:t>MODULE 4</a:t>
            </a:r>
          </a:p>
        </p:txBody>
      </p:sp>
      <p:sp>
        <p:nvSpPr>
          <p:cNvPr id="3" name="">
            <a:extLst xmlns:a="http://schemas.openxmlformats.org/drawingml/2006/main">
              <a:ext uri="{FF2B5EF4-FFF2-40B4-BE49-F238E27FC236}">
                <a16:creationId xmlns:a16="http://schemas.microsoft.com/office/drawing/2014/main" id="{5EEE204C-5845-49C6-91CC-EC243C6E73DA}"/>
              </a:ext>
            </a:extLst>
          </p:cNvPr>
          <p:cNvSpPr>
            <a:spLocks xmlns:a="http://schemas.openxmlformats.org/drawingml/2006/main" noGrp="1"/>
          </p:cNvSpPr>
          <p:nvPr/>
        </p:nvSpPr>
        <p:spPr>
          <a:xfrm xmlns:a="http://schemas.openxmlformats.org/drawingml/2006/main">
            <a:off x="457200" y="16764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350" b="1">
                <a:solidFill>
                  <a:srgbClr val="FFFFFF"/>
                </a:solidFill>
              </a:defRPr>
            </a:pPr>
            <a:r>
              <a:rPr sz="4350" b="1">
                <a:solidFill>
                  <a:srgbClr val="FFFFFF"/>
                </a:solidFill>
              </a:rPr>
              <a:t>EXIT</a:t>
            </a:r>
          </a:p>
        </p:txBody>
      </p:sp>
      <p:sp>
        <p:nvSpPr>
          <p:cNvPr id="4" name="">
            <a:extLst xmlns:a="http://schemas.openxmlformats.org/drawingml/2006/main">
              <a:ext uri="{FF2B5EF4-FFF2-40B4-BE49-F238E27FC236}">
                <a16:creationId xmlns:a16="http://schemas.microsoft.com/office/drawing/2014/main" id="{55259A5E-7AC8-4697-9DA6-C567B24110AC}"/>
              </a:ext>
            </a:extLst>
          </p:cNvPr>
          <p:cNvSpPr>
            <a:spLocks xmlns:a="http://schemas.openxmlformats.org/drawingml/2006/main" noGrp="1"/>
          </p:cNvSpPr>
          <p:nvPr/>
        </p:nvSpPr>
        <p:spPr>
          <a:xfrm xmlns:a="http://schemas.openxmlformats.org/drawingml/2006/main">
            <a:off x="361950" y="24003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FFFFF"/>
                </a:solidFill>
              </a:defRPr>
            </a:pPr>
            <a:r>
              <a:rPr sz="1950" b="1">
                <a:solidFill>
                  <a:srgbClr val="FFFFFF"/>
                </a:solidFill>
              </a:rPr>
              <a:t>EVIDENCE</a:t>
            </a:r>
          </a:p>
        </p:txBody>
      </p:sp>
      <p:sp>
        <p:nvSpPr>
          <p:cNvPr id="5" name="">
            <a:extLst xmlns:a="http://schemas.openxmlformats.org/drawingml/2006/main">
              <a:ext uri="{FF2B5EF4-FFF2-40B4-BE49-F238E27FC236}">
                <a16:creationId xmlns:a16="http://schemas.microsoft.com/office/drawing/2014/main" id="{E42048FD-614E-4ED3-A974-2BBDC77D6F1E}"/>
              </a:ext>
            </a:extLst>
          </p:cNvPr>
          <p:cNvSpPr>
            <a:spLocks xmlns:a="http://schemas.openxmlformats.org/drawingml/2006/main" noGrp="1"/>
          </p:cNvSpPr>
          <p:nvPr/>
        </p:nvSpPr>
        <p:spPr>
          <a:xfrm xmlns:a="http://schemas.openxmlformats.org/drawingml/2006/main">
            <a:off x="3390900" y="9715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1  One idea I can now explain</a:t>
            </a:r>
          </a:p>
        </p:txBody>
      </p:sp>
      <p:sp>
        <p:nvSpPr>
          <p:cNvPr id="6" name="">
            <a:extLst xmlns:a="http://schemas.openxmlformats.org/drawingml/2006/main">
              <a:ext uri="{FF2B5EF4-FFF2-40B4-BE49-F238E27FC236}">
                <a16:creationId xmlns:a16="http://schemas.microsoft.com/office/drawing/2014/main" id="{A67B170A-173F-4A0B-A4C4-644C5BDFBB12}"/>
              </a:ext>
            </a:extLst>
          </p:cNvPr>
          <p:cNvSpPr>
            <a:spLocks xmlns:a="http://schemas.openxmlformats.org/drawingml/2006/main" noGrp="1"/>
          </p:cNvSpPr>
          <p:nvPr/>
        </p:nvSpPr>
        <p:spPr>
          <a:xfrm xmlns:a="http://schemas.openxmlformats.org/drawingml/2006/main">
            <a:off x="3390900" y="184785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2  One visual feature or relationship I can point to</a:t>
            </a:r>
          </a:p>
        </p:txBody>
      </p:sp>
      <p:sp>
        <p:nvSpPr>
          <p:cNvPr id="7" name="">
            <a:extLst xmlns:a="http://schemas.openxmlformats.org/drawingml/2006/main">
              <a:ext uri="{FF2B5EF4-FFF2-40B4-BE49-F238E27FC236}">
                <a16:creationId xmlns:a16="http://schemas.microsoft.com/office/drawing/2014/main" id="{2630EF8F-6EF8-4005-A96E-8A0C4642D7D8}"/>
              </a:ext>
            </a:extLst>
          </p:cNvPr>
          <p:cNvSpPr>
            <a:spLocks xmlns:a="http://schemas.openxmlformats.org/drawingml/2006/main" noGrp="1"/>
          </p:cNvSpPr>
          <p:nvPr/>
        </p:nvSpPr>
        <p:spPr>
          <a:xfrm xmlns:a="http://schemas.openxmlformats.org/drawingml/2006/main">
            <a:off x="3390900" y="28765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3  One claim I must keep within the evidence</a:t>
            </a:r>
          </a:p>
        </p:txBody>
      </p:sp>
      <p:sp>
        <p:nvSpPr>
          <p:cNvPr id="8" name="">
            <a:extLst xmlns:a="http://schemas.openxmlformats.org/drawingml/2006/main">
              <a:ext uri="{FF2B5EF4-FFF2-40B4-BE49-F238E27FC236}">
                <a16:creationId xmlns:a16="http://schemas.microsoft.com/office/drawing/2014/main" id="{5904A32C-FB9A-4774-A8A8-816C0B526DFF}"/>
              </a:ext>
            </a:extLst>
          </p:cNvPr>
          <p:cNvSpPr>
            <a:spLocks xmlns:a="http://schemas.openxmlformats.org/drawingml/2006/main" noGrp="1"/>
          </p:cNvSpPr>
          <p:nvPr/>
        </p:nvSpPr>
        <p:spPr>
          <a:xfrm xmlns:a="http://schemas.openxmlformats.org/drawingml/2006/main">
            <a:off x="3390900" y="4000500"/>
            <a:ext cx="750570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8C9CC"/>
            </a:solidFill>
            <a:prstDash val="solid"/>
          </a:ln>
        </p:spPr>
      </p:sp>
      <p:sp>
        <p:nvSpPr>
          <p:cNvPr id="9" name="">
            <a:extLst xmlns:a="http://schemas.openxmlformats.org/drawingml/2006/main">
              <a:ext uri="{FF2B5EF4-FFF2-40B4-BE49-F238E27FC236}">
                <a16:creationId xmlns:a16="http://schemas.microsoft.com/office/drawing/2014/main" id="{3E8F5D4A-F78C-4C3D-98A9-B66746883B50}"/>
              </a:ext>
            </a:extLst>
          </p:cNvPr>
          <p:cNvSpPr>
            <a:spLocks xmlns:a="http://schemas.openxmlformats.org/drawingml/2006/main" noGrp="1"/>
          </p:cNvSpPr>
          <p:nvPr/>
        </p:nvSpPr>
        <p:spPr>
          <a:xfrm xmlns:a="http://schemas.openxmlformats.org/drawingml/2006/main">
            <a:off x="3676650" y="4248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SAVE TO MY FOLIO</a:t>
            </a:r>
          </a:p>
        </p:txBody>
      </p:sp>
      <p:sp>
        <p:nvSpPr>
          <p:cNvPr id="10" name="">
            <a:extLst xmlns:a="http://schemas.openxmlformats.org/drawingml/2006/main">
              <a:ext uri="{FF2B5EF4-FFF2-40B4-BE49-F238E27FC236}">
                <a16:creationId xmlns:a16="http://schemas.microsoft.com/office/drawing/2014/main" id="{419946E5-43AA-4F1A-A584-82EFD6476278}"/>
              </a:ext>
            </a:extLst>
          </p:cNvPr>
          <p:cNvSpPr>
            <a:spLocks xmlns:a="http://schemas.openxmlformats.org/drawingml/2006/main" noGrp="1"/>
          </p:cNvSpPr>
          <p:nvPr/>
        </p:nvSpPr>
        <p:spPr>
          <a:xfrm xmlns:a="http://schemas.openxmlformats.org/drawingml/2006/main">
            <a:off x="3676650" y="4667250"/>
            <a:ext cx="680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One dated drawing, process image or decision record; a caption explaining what it proves; and your reasoned reflection.</a:t>
            </a:r>
          </a:p>
        </p:txBody>
      </p:sp>
      <p:sp>
        <p:nvSpPr>
          <p:cNvPr id="11" name="">
            <a:extLst xmlns:a="http://schemas.openxmlformats.org/drawingml/2006/main">
              <a:ext uri="{FF2B5EF4-FFF2-40B4-BE49-F238E27FC236}">
                <a16:creationId xmlns:a16="http://schemas.microsoft.com/office/drawing/2014/main" id="{2A28C5DC-09D0-4D94-9C9A-512B61389013}"/>
              </a:ext>
            </a:extLst>
          </p:cNvPr>
          <p:cNvSpPr>
            <a:spLocks xmlns:a="http://schemas.openxmlformats.org/drawingml/2006/main" noGrp="1"/>
          </p:cNvSpPr>
          <p:nvPr/>
        </p:nvSpPr>
        <p:spPr>
          <a:xfrm xmlns:a="http://schemas.openxmlformats.org/drawingml/2006/main">
            <a:off x="3390900" y="5791200"/>
            <a:ext cx="750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66585B"/>
                </a:solidFill>
              </a:defRPr>
            </a:pPr>
            <a:r>
              <a:rPr sz="1350" b="1">
                <a:solidFill>
                  <a:srgbClr val="66585B"/>
                </a:solidFill>
              </a:rPr>
              <a:t>Next: open the matching section package for feedback, then save the stronger response—not every draft.</a:t>
            </a:r>
          </a:p>
        </p:txBody>
      </p:sp>
      <p:sp>
        <p:nvSpPr>
          <p:cNvPr id="12" name="">
            <a:extLst xmlns:a="http://schemas.openxmlformats.org/drawingml/2006/main">
              <a:ext uri="{FF2B5EF4-FFF2-40B4-BE49-F238E27FC236}">
                <a16:creationId xmlns:a16="http://schemas.microsoft.com/office/drawing/2014/main" id="{D9F42F36-34F3-4963-9646-FD76DF8C82C9}"/>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7F630F-2DD0-4984-888B-D5B0879A63FF}"/>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4</a:t>
            </a:r>
          </a:p>
        </p:txBody>
      </p:sp>
      <p:sp>
        <p:nvSpPr>
          <p:cNvPr id="14" name="">
            <a:extLst xmlns:a="http://schemas.openxmlformats.org/drawingml/2006/main">
              <a:ext uri="{FF2B5EF4-FFF2-40B4-BE49-F238E27FC236}">
                <a16:creationId xmlns:a16="http://schemas.microsoft.com/office/drawing/2014/main" id="{E141808D-022F-45EB-B473-CCC4185E18F7}"/>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08</a:t>
            </a:r>
          </a:p>
        </p:txBody>
      </p:sp>
    </p:spTree>
    <p:extLst>
      <p:ext uri="{BB962C8B-B14F-4D97-AF65-F5344CB8AC3E}">
        <p14:creationId xmlns:p14="http://schemas.microsoft.com/office/powerpoint/2010/main" val="714696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2026-08-30T01:41:00.1560000Z</dcterms:created>
  <dcterms:modified xsi:type="dcterms:W3CDTF">2026-08-30T01:41:00.1560000Z</dcterms:modified>
</coreProperties>
</file>