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c135afcd8c4dc6" /><Relationship Type="http://schemas.openxmlformats.org/officeDocument/2006/relationships/extended-properties" Target="/docProps/app.xml" Id="R84a6b8d0af124e22" /><Relationship Type="http://schemas.openxmlformats.org/officeDocument/2006/relationships/officeDocument" Target="/ppt/presentation.xml" Id="R9bfc94f8146a4f55" /></Relationships>
</file>

<file path=ppt/presentation.xml><?xml version="1.0" encoding="utf-8"?>
<p:presentation xmlns:p="http://schemas.openxmlformats.org/presentationml/2006/main">
  <p:sldMasterIdLst>
    <p:sldMasterId xmlns:r="http://schemas.openxmlformats.org/officeDocument/2006/relationships" id="2147483648" r:id="Rc8cc1dfd1e9f4b63"/>
  </p:sldMasterIdLst>
  <p:notesMasterIdLst>
    <p:notesMasterId xmlns:r="http://schemas.openxmlformats.org/officeDocument/2006/relationships" r:id="Rc5ff2fc652bf47fb"/>
  </p:notesMasterIdLst>
  <p:sldIdLst>
    <p:sldId xmlns:r="http://schemas.openxmlformats.org/officeDocument/2006/relationships" id="256" r:id="Rfd6a0f01e7ed475a"/>
    <p:sldId xmlns:r="http://schemas.openxmlformats.org/officeDocument/2006/relationships" id="257" r:id="R811d79161f584730"/>
    <p:sldId xmlns:r="http://schemas.openxmlformats.org/officeDocument/2006/relationships" id="258" r:id="R9ffac3dac71f472f"/>
    <p:sldId xmlns:r="http://schemas.openxmlformats.org/officeDocument/2006/relationships" id="259" r:id="R10a7726c5e6b4efd"/>
    <p:sldId xmlns:r="http://schemas.openxmlformats.org/officeDocument/2006/relationships" id="260" r:id="Rf8601dc07f2b4373"/>
    <p:sldId xmlns:r="http://schemas.openxmlformats.org/officeDocument/2006/relationships" id="261" r:id="R8b229350cdac469a"/>
    <p:sldId xmlns:r="http://schemas.openxmlformats.org/officeDocument/2006/relationships" id="262" r:id="Rdfbb82dc244d41b1"/>
    <p:sldId xmlns:r="http://schemas.openxmlformats.org/officeDocument/2006/relationships" id="263" r:id="Rbdcf4cb331ad4e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ce5247db3a4ab6" /><Relationship Type="http://schemas.openxmlformats.org/officeDocument/2006/relationships/slideMaster" Target="/ppt/slideMasters/slideMaster1.xml" Id="Rc8cc1dfd1e9f4b63" /><Relationship Type="http://schemas.openxmlformats.org/officeDocument/2006/relationships/notesMaster" Target="/ppt/notesMasters/notesMaster1.xml" Id="Rc5ff2fc652bf47fb" /><Relationship Type="http://schemas.openxmlformats.org/officeDocument/2006/relationships/presProps" Target="/ppt/presProps.xml" Id="R942becd0aa284b4a" /><Relationship Type="http://schemas.openxmlformats.org/officeDocument/2006/relationships/tableStyles" Target="/ppt/tableStyles.xml" Id="Rdae452854c934ec5" /><Relationship Type="http://schemas.openxmlformats.org/officeDocument/2006/relationships/slide" Target="/ppt/slides/slide1.xml" Id="Rfd6a0f01e7ed475a" /><Relationship Type="http://schemas.openxmlformats.org/officeDocument/2006/relationships/slide" Target="/ppt/slides/slide2.xml" Id="R811d79161f584730" /><Relationship Type="http://schemas.openxmlformats.org/officeDocument/2006/relationships/slide" Target="/ppt/slides/slide3.xml" Id="R9ffac3dac71f472f" /><Relationship Type="http://schemas.openxmlformats.org/officeDocument/2006/relationships/slide" Target="/ppt/slides/slide4.xml" Id="R10a7726c5e6b4efd" /><Relationship Type="http://schemas.openxmlformats.org/officeDocument/2006/relationships/slide" Target="/ppt/slides/slide5.xml" Id="Rf8601dc07f2b4373" /><Relationship Type="http://schemas.openxmlformats.org/officeDocument/2006/relationships/slide" Target="/ppt/slides/slide6.xml" Id="R8b229350cdac469a" /><Relationship Type="http://schemas.openxmlformats.org/officeDocument/2006/relationships/slide" Target="/ppt/slides/slide7.xml" Id="Rdfbb82dc244d41b1" /><Relationship Type="http://schemas.openxmlformats.org/officeDocument/2006/relationships/slide" Target="/ppt/slides/slide8.xml" Id="Rbdcf4cb331ad4e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02e94d126c45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b71dc024da47b9" /><Relationship Type="http://schemas.openxmlformats.org/officeDocument/2006/relationships/notesMaster" Target="/ppt/notesMasters/notesMaster1.xml" Id="Rb73751feeb0c42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389856ae274d95" /><Relationship Type="http://schemas.openxmlformats.org/officeDocument/2006/relationships/notesMaster" Target="/ppt/notesMasters/notesMaster1.xml" Id="Rb1d01bd371ae49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6d59cea5f74d72" /><Relationship Type="http://schemas.openxmlformats.org/officeDocument/2006/relationships/notesMaster" Target="/ppt/notesMasters/notesMaster1.xml" Id="R230fd450c93147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4179a6ac0b4320" /><Relationship Type="http://schemas.openxmlformats.org/officeDocument/2006/relationships/notesMaster" Target="/ppt/notesMasters/notesMaster1.xml" Id="Ra68f4e4ac6ec44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b2f7c0228743c7" /><Relationship Type="http://schemas.openxmlformats.org/officeDocument/2006/relationships/notesMaster" Target="/ppt/notesMasters/notesMaster1.xml" Id="R4fd76a10b4dd46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df19c1ab3a4b84" /><Relationship Type="http://schemas.openxmlformats.org/officeDocument/2006/relationships/notesMaster" Target="/ppt/notesMasters/notesMaster1.xml" Id="R67cba41a79894b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ba45ab12284589" /><Relationship Type="http://schemas.openxmlformats.org/officeDocument/2006/relationships/notesMaster" Target="/ppt/notesMasters/notesMaster1.xml" Id="R9ccbc63869dd45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50561891fa41fc" /><Relationship Type="http://schemas.openxmlformats.org/officeDocument/2006/relationships/notesMaster" Target="/ppt/notesMasters/notesMaster1.xml" Id="Rbb40c038efab44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Establish the module as a connected communication problem, not three isolated topics.</a:t>
            </a:r>
          </a:p>
          <a:p xmlns:a="http://schemas.openxmlformats.org/drawingml/2006/main">
            <a:r>
              <a:t>- Read the outcome aloud and ask students to identify the decision word in each sentence.</a:t>
            </a:r>
          </a:p>
          <a:p xmlns:a="http://schemas.openxmlformats.org/drawingml/2006/main">
            <a:r>
              <a:t>Likely misconception: A polished image is enough evidence of successful graphical communication.</a:t>
            </a:r>
          </a:p>
          <a:p xmlns:a="http://schemas.openxmlformats.org/drawingml/2006/main">
            <a:r>
              <a:t>Prompt: What must a viewer understand or decide because of your graphic?</a:t>
            </a:r>
          </a:p>
          <a:p xmlns:a="http://schemas.openxmlformats.org/drawingml/2006/main">
            <a:r>
              <a:t>Transition: Map the three ideas that will build this outcome.</a:t>
            </a:r>
          </a:p>
          <a:p xmlns:a="http://schemas.openxmlformats.org/drawingml/2006/main">
            <a:r>
              <a:t>[Sources]</a:t>
            </a:r>
          </a:p>
          <a:p xmlns:a="http://schemas.openxmlformats.org/drawingml/2006/main">
            <a:r>
              <a:t>- classroom-topic-sequence-2026-08-30</a:t>
            </a:r>
          </a:p>
          <a:p xmlns:a="http://schemas.openxmlformats.org/drawingml/2006/main">
            <a:r>
              <a:t>- t3-assessment-engineering-drawing-2025</a:t>
            </a:r>
          </a:p>
          <a:p xmlns:a="http://schemas.openxmlformats.org/drawingml/2006/main">
            <a:r>
              <a:t>- teacher-source-drawing-set</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the three sections exactly as they appear on the course site.</a:t>
            </a:r>
          </a:p>
          <a:p xmlns:a="http://schemas.openxmlformats.org/drawingml/2006/main">
            <a:r>
              <a:t>- Ask for one predicted connection before teaching the detail.</a:t>
            </a:r>
          </a:p>
          <a:p xmlns:a="http://schemas.openxmlformats.org/drawingml/2006/main">
            <a:r>
              <a:t>Likely misconception: The three topics can be completed independently without cross-checking.</a:t>
            </a:r>
          </a:p>
          <a:p xmlns:a="http://schemas.openxmlformats.org/drawingml/2006/main">
            <a:r>
              <a:t>Prompt: Which connection on this pathway seems most important, and why?</a:t>
            </a:r>
          </a:p>
          <a:p xmlns:a="http://schemas.openxmlformats.org/drawingml/2006/main">
            <a:r>
              <a:t>Transition: Move from the pathway into the first precise idea.</a:t>
            </a:r>
          </a:p>
          <a:p xmlns:a="http://schemas.openxmlformats.org/drawingml/2006/main">
            <a:r>
              <a:t>[Sources]</a:t>
            </a:r>
          </a:p>
          <a:p xmlns:a="http://schemas.openxmlformats.org/drawingml/2006/main">
            <a:r>
              <a:t>- classroom-topic-sequence-2026-08-30</a:t>
            </a:r>
          </a:p>
          <a:p xmlns:a="http://schemas.openxmlformats.org/drawingml/2006/main">
            <a:r>
              <a:t>- t3-assessment-engineering-drawing-2025</a:t>
            </a:r>
          </a:p>
          <a:p xmlns:a="http://schemas.openxmlformats.org/drawingml/2006/main">
            <a:r>
              <a:t>- teacher-source-drawing-set</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Describe what students are looking at before interpreting it.</a:t>
            </a:r>
          </a:p>
          <a:p xmlns:a="http://schemas.openxmlformats.org/drawingml/2006/main">
            <a:r>
              <a:t>- Point to the exact feature named in the caption.</a:t>
            </a:r>
          </a:p>
          <a:p xmlns:a="http://schemas.openxmlformats.org/drawingml/2006/main">
            <a:r>
              <a:t>- Require a decision or explanation, not a description alone.</a:t>
            </a:r>
          </a:p>
          <a:p xmlns:a="http://schemas.openxmlformats.org/drawingml/2006/main">
            <a:r>
              <a:t>Likely misconception: The visual convention or view is meaningful without context.</a:t>
            </a:r>
          </a:p>
          <a:p xmlns:a="http://schemas.openxmlformats.org/drawingml/2006/main">
            <a:r>
              <a:t>Prompt: Choose → Which additional view would remove the greatest ambiguity, and what feature would it reveal?</a:t>
            </a:r>
          </a:p>
          <a:p xmlns:a="http://schemas.openxmlformats.org/drawingml/2006/main">
            <a:r>
              <a:t>Transition: Connect this decision to a useful cad model preserves design intent when something changes.</a:t>
            </a:r>
          </a:p>
          <a:p xmlns:a="http://schemas.openxmlformats.org/drawingml/2006/main">
            <a:r>
              <a:t>[Sources]</a:t>
            </a:r>
          </a:p>
          <a:p xmlns:a="http://schemas.openxmlformats.org/drawingml/2006/main">
            <a:r>
              <a:t>- t3-assessment-engineering-drawing-2025</a:t>
            </a:r>
          </a:p>
          <a:p xmlns:a="http://schemas.openxmlformats.org/drawingml/2006/main">
            <a:r>
              <a:t>- teacher-source-drawing-set</a:t>
            </a:r>
          </a:p>
          <a:p xmlns:a="http://schemas.openxmlformats.org/drawingml/2006/main">
            <a:r>
              <a:t>- NESA Graphics Technology 7–10 (2019)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Describe what students are looking at before interpreting it.</a:t>
            </a:r>
          </a:p>
          <a:p xmlns:a="http://schemas.openxmlformats.org/drawingml/2006/main">
            <a:r>
              <a:t>- Point to the exact feature named in the caption.</a:t>
            </a:r>
          </a:p>
          <a:p xmlns:a="http://schemas.openxmlformats.org/drawingml/2006/main">
            <a:r>
              <a:t>- Require a decision or explanation, not a description alone.</a:t>
            </a:r>
          </a:p>
          <a:p xmlns:a="http://schemas.openxmlformats.org/drawingml/2006/main">
            <a:r>
              <a:t>Likely misconception: The software or drawing automatically makes the communication correct.</a:t>
            </a:r>
          </a:p>
          <a:p xmlns:a="http://schemas.openxmlformats.org/drawingml/2006/main">
            <a:r>
              <a:t>Prompt: Test → If one authorised dimension changes, which dependent feature should move or resize, and why?</a:t>
            </a:r>
          </a:p>
          <a:p xmlns:a="http://schemas.openxmlformats.org/drawingml/2006/main">
            <a:r>
              <a:t>Transition: Connect this decision to digital motion communicates intent, not physical proof.</a:t>
            </a:r>
          </a:p>
          <a:p xmlns:a="http://schemas.openxmlformats.org/drawingml/2006/main">
            <a:r>
              <a:t>[Sources]</a:t>
            </a:r>
          </a:p>
          <a:p xmlns:a="http://schemas.openxmlformats.org/drawingml/2006/main">
            <a:r>
              <a:t>- t3-assessment-engineering-drawing-2025</a:t>
            </a:r>
          </a:p>
          <a:p xmlns:a="http://schemas.openxmlformats.org/drawingml/2006/main">
            <a:r>
              <a:t>- teacher-source-drawing-set</a:t>
            </a:r>
          </a:p>
          <a:p xmlns:a="http://schemas.openxmlformats.org/drawingml/2006/main">
            <a:r>
              <a:t>- Onshape Drawings and Assemblies</a:t>
            </a:r>
          </a:p>
          <a:p xmlns:a="http://schemas.openxmlformats.org/drawingml/2006/main">
            <a:r>
              <a:t>- NESA Graphics Technology 7–10 (2019)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Describe what students are looking at before interpreting it.</a:t>
            </a:r>
          </a:p>
          <a:p xmlns:a="http://schemas.openxmlformats.org/drawingml/2006/main">
            <a:r>
              <a:t>- Point to the exact feature named in the caption.</a:t>
            </a:r>
          </a:p>
          <a:p xmlns:a="http://schemas.openxmlformats.org/drawingml/2006/main">
            <a:r>
              <a:t>- Require a decision or explanation, not a description alone.</a:t>
            </a:r>
          </a:p>
          <a:p xmlns:a="http://schemas.openxmlformats.org/drawingml/2006/main">
            <a:r>
              <a:t>Likely misconception: A polished output proves that every criterion, right or real-world condition is resolved.</a:t>
            </a:r>
          </a:p>
          <a:p xmlns:a="http://schemas.openxmlformats.org/drawingml/2006/main">
            <a:r>
              <a:t>Prompt: Release-check → What does the drawing or animation demonstrate, and what important claim remains unproven?</a:t>
            </a:r>
          </a:p>
          <a:p xmlns:a="http://schemas.openxmlformats.org/drawingml/2006/main">
            <a:r>
              <a:t>Transition: Retrieve across all three taught ideas.</a:t>
            </a:r>
          </a:p>
          <a:p xmlns:a="http://schemas.openxmlformats.org/drawingml/2006/main">
            <a:r>
              <a:t>[Sources]</a:t>
            </a:r>
          </a:p>
          <a:p xmlns:a="http://schemas.openxmlformats.org/drawingml/2006/main">
            <a:r>
              <a:t>- stage-08-m03s03-assembly-motion-check</a:t>
            </a:r>
          </a:p>
          <a:p xmlns:a="http://schemas.openxmlformats.org/drawingml/2006/main">
            <a:r>
              <a:t>- t3-assessment-engineering-drawing-2025</a:t>
            </a:r>
          </a:p>
          <a:p xmlns:a="http://schemas.openxmlformats.org/drawingml/2006/main">
            <a:r>
              <a:t>- Onshape Drawings and Assemblies</a:t>
            </a:r>
          </a:p>
          <a:p xmlns:a="http://schemas.openxmlformats.org/drawingml/2006/main">
            <a:r>
              <a:t>- NESA Graphics Technology 7–10 (2019)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retrieval time before discussion.</a:t>
            </a:r>
          </a:p>
          <a:p xmlns:a="http://schemas.openxmlformats.org/drawingml/2006/main">
            <a:r>
              <a:t>- Ask students to point back to the visual or explanation that supports each answer.</a:t>
            </a:r>
          </a:p>
          <a:p xmlns:a="http://schemas.openxmlformats.org/drawingml/2006/main">
            <a:r>
              <a:t>- Correct the reasoning, not only the missing term.</a:t>
            </a:r>
          </a:p>
          <a:p xmlns:a="http://schemas.openxmlformats.org/drawingml/2006/main">
            <a:r>
              <a:t>Likely misconception: Recognition after re-reading is the same as retrieval from memory.</a:t>
            </a:r>
          </a:p>
          <a:p xmlns:a="http://schemas.openxmlformats.org/drawingml/2006/main">
            <a:r>
              <a:t>Prompt: Which answer can you support most confidently, and what evidence supports it?</a:t>
            </a:r>
          </a:p>
          <a:p xmlns:a="http://schemas.openxmlformats.org/drawingml/2006/main">
            <a:r>
              <a:t>Transition: Use one retrieved idea to construct a durable folio response.</a:t>
            </a:r>
          </a:p>
          <a:p xmlns:a="http://schemas.openxmlformats.org/drawingml/2006/main">
            <a:r>
              <a:t>[Sources]</a:t>
            </a:r>
          </a:p>
          <a:p xmlns:a="http://schemas.openxmlformats.org/drawingml/2006/main">
            <a:r>
              <a:t>- classroom-topic-sequence-2026-08-30</a:t>
            </a:r>
          </a:p>
          <a:p xmlns:a="http://schemas.openxmlformats.org/drawingml/2006/main">
            <a:r>
              <a:t>- t3-assessment-engineering-drawing-2025</a:t>
            </a:r>
          </a:p>
          <a:p xmlns:a="http://schemas.openxmlformats.org/drawingml/2006/main">
            <a:r>
              <a:t>- teacher-source-drawing-set</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familiar example.</a:t>
            </a:r>
          </a:p>
          <a:p xmlns:a="http://schemas.openxmlformats.org/drawingml/2006/main">
            <a:r>
              <a:t>- Keep the explanation tied to a visible artifact or decision.</a:t>
            </a:r>
          </a:p>
          <a:p xmlns:a="http://schemas.openxmlformats.org/drawingml/2006/main">
            <a:r>
              <a:t>- Make the final check explicit: what does this evidence not prove?</a:t>
            </a:r>
          </a:p>
          <a:p xmlns:a="http://schemas.openxmlformats.org/drawingml/2006/main">
            <a:r>
              <a:t>Likely misconception: A long description automatically counts as strong evidence.</a:t>
            </a:r>
          </a:p>
          <a:p xmlns:a="http://schemas.openxmlformats.org/drawingml/2006/main">
            <a:r>
              <a:t>Prompt: Which selected artifact gives you the clearest because statement?</a:t>
            </a:r>
          </a:p>
          <a:p xmlns:a="http://schemas.openxmlformats.org/drawingml/2006/main">
            <a:r>
              <a:t>Transition: Close with a small exit ticket and an exact saving action.</a:t>
            </a:r>
          </a:p>
          <a:p xmlns:a="http://schemas.openxmlformats.org/drawingml/2006/main">
            <a:r>
              <a:t>[Sources]</a:t>
            </a:r>
          </a:p>
          <a:p xmlns:a="http://schemas.openxmlformats.org/drawingml/2006/main">
            <a:r>
              <a:t>- classroom-topic-sequence-2026-08-30</a:t>
            </a:r>
          </a:p>
          <a:p xmlns:a="http://schemas.openxmlformats.org/drawingml/2006/main">
            <a:r>
              <a:t>- t3-assessment-engineering-drawing-2025</a:t>
            </a:r>
          </a:p>
          <a:p xmlns:a="http://schemas.openxmlformats.org/drawingml/2006/main">
            <a:r>
              <a:t>- teacher-source-drawing-set</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Collect one response for each numbered line.</a:t>
            </a:r>
          </a:p>
          <a:p xmlns:a="http://schemas.openxmlformats.org/drawingml/2006/main">
            <a:r>
              <a:t>- Remind students that the folio holds selected evidence, not every quiz answer.</a:t>
            </a:r>
          </a:p>
          <a:p xmlns:a="http://schemas.openxmlformats.org/drawingml/2006/main">
            <a:r>
              <a:t>- Point students to the matching section package and the exact folio route.</a:t>
            </a:r>
          </a:p>
          <a:p xmlns:a="http://schemas.openxmlformats.org/drawingml/2006/main">
            <a:r>
              <a:t>Likely misconception: Saving more files is automatically stronger evidence.</a:t>
            </a:r>
          </a:p>
          <a:p xmlns:a="http://schemas.openxmlformats.org/drawingml/2006/main">
            <a:r>
              <a:t>Prompt: What single artifact best demonstrates today’s decision or learning?</a:t>
            </a:r>
          </a:p>
          <a:p xmlns:a="http://schemas.openxmlformats.org/drawingml/2006/main">
            <a:r>
              <a:t>Transition: Students move to the matching course section and My folio.</a:t>
            </a:r>
          </a:p>
          <a:p xmlns:a="http://schemas.openxmlformats.org/drawingml/2006/main">
            <a:r>
              <a:t>[Sources]</a:t>
            </a:r>
          </a:p>
          <a:p xmlns:a="http://schemas.openxmlformats.org/drawingml/2006/main">
            <a:r>
              <a:t>- classroom-topic-sequence-2026-08-30</a:t>
            </a:r>
          </a:p>
          <a:p xmlns:a="http://schemas.openxmlformats.org/drawingml/2006/main">
            <a:r>
              <a:t>- t3-assessment-engineering-drawing-2025</a:t>
            </a:r>
          </a:p>
          <a:p xmlns:a="http://schemas.openxmlformats.org/drawingml/2006/main">
            <a:r>
              <a:t>- teacher-source-drawing-set</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1288706d7341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cf4d48d47f4548" /><Relationship Type="http://schemas.openxmlformats.org/officeDocument/2006/relationships/slideLayout" Target="/ppt/slideLayouts/slideLayout1.xml" Id="Rffabb90786a449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abb90786a449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346394620d431a" /><Relationship Type="http://schemas.openxmlformats.org/officeDocument/2006/relationships/image" Target="/ppt/media/image.bin" Id="R67a4101d9ceb468b" /><Relationship Type="http://schemas.openxmlformats.org/officeDocument/2006/relationships/notesSlide" Target="/ppt/notesSlides/notesSlide1.xml" Id="R17639e92c7e049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96f24f01024d11" /><Relationship Type="http://schemas.openxmlformats.org/officeDocument/2006/relationships/notesSlide" Target="/ppt/notesSlides/notesSlide2.xml" Id="R27fd840745344f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19a4b35a39463c" /><Relationship Type="http://schemas.openxmlformats.org/officeDocument/2006/relationships/image" Target="/ppt/media/image.png" Id="R9fce56042aaf4700" /><Relationship Type="http://schemas.openxmlformats.org/officeDocument/2006/relationships/notesSlide" Target="/ppt/notesSlides/notesSlide3.xml" Id="Ra6c8aba7531044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05cc0b87564436" /><Relationship Type="http://schemas.openxmlformats.org/officeDocument/2006/relationships/image" Target="/ppt/media/image2.png" Id="Rb6f9529c462f46af" /><Relationship Type="http://schemas.openxmlformats.org/officeDocument/2006/relationships/notesSlide" Target="/ppt/notesSlides/notesSlide4.xml" Id="R35a4a9bcc41246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2ba30309454e6a" /><Relationship Type="http://schemas.openxmlformats.org/officeDocument/2006/relationships/image" Target="/ppt/media/image3.png" Id="R8f3344e6cd1c42b6" /><Relationship Type="http://schemas.openxmlformats.org/officeDocument/2006/relationships/notesSlide" Target="/ppt/notesSlides/notesSlide5.xml" Id="R306edc13c5de45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634a79512f4ac5" /><Relationship Type="http://schemas.openxmlformats.org/officeDocument/2006/relationships/notesSlide" Target="/ppt/notesSlides/notesSlide6.xml" Id="Rc44b12e910c24e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2e0981f6d0a49a6" /><Relationship Type="http://schemas.openxmlformats.org/officeDocument/2006/relationships/notesSlide" Target="/ppt/notesSlides/notesSlide7.xml" Id="Rb3359b2c589e4c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c38650e01445f7" /><Relationship Type="http://schemas.openxmlformats.org/officeDocument/2006/relationships/notesSlide" Target="/ppt/notesSlides/notesSlide8.xml" Id="R06358cf83c2f4d6f" /></Relationships>
</file>

<file path=ppt/slides/slide1.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7a4101d9ceb468b"/>
          <a:srcRect xmlns:a="http://schemas.openxmlformats.org/drawingml/2006/main" l="0" t="4205" r="0" b="4205"/>
          <a:stretch xmlns:a="http://schemas.openxmlformats.org/drawingml/2006/main">
            <a:fillRect l="0" t="0" r="0" b="0"/>
          </a:stretch>
        </p:blipFill>
        <p:spPr>
          <a:xfrm xmlns:a="http://schemas.openxmlformats.org/drawingml/2006/main">
            <a:off x="6800850" y="0"/>
            <a:ext cx="53911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8F77416-3F14-42EA-BCDB-C60BAF19B35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8E09834-F3C6-46FD-87BD-3E8E71EF8658}"/>
              </a:ext>
            </a:extLst>
          </p:cNvPr>
          <p:cNvSpPr>
            <a:spLocks xmlns:a="http://schemas.openxmlformats.org/drawingml/2006/main" noGrp="1"/>
          </p:cNvSpPr>
          <p:nvPr/>
        </p:nvSpPr>
        <p:spPr>
          <a:xfrm xmlns:a="http://schemas.openxmlformats.org/drawingml/2006/main">
            <a:off x="742950" y="8763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MODULE 3</a:t>
            </a:r>
          </a:p>
        </p:txBody>
      </p:sp>
      <p:sp>
        <p:nvSpPr>
          <p:cNvPr id="4" name="m3-title">
            <a:extLst xmlns:a="http://schemas.openxmlformats.org/drawingml/2006/main">
              <a:ext uri="{FF2B5EF4-FFF2-40B4-BE49-F238E27FC236}">
                <a16:creationId xmlns:a16="http://schemas.microsoft.com/office/drawing/2014/main" id="{257EF84B-014F-47D2-A6EB-6775BE958C58}"/>
              </a:ext>
            </a:extLst>
          </p:cNvPr>
          <p:cNvSpPr>
            <a:spLocks xmlns:a="http://schemas.openxmlformats.org/drawingml/2006/main" noGrp="1"/>
          </p:cNvSpPr>
          <p:nvPr/>
        </p:nvSpPr>
        <p:spPr>
          <a:xfrm xmlns:a="http://schemas.openxmlformats.org/drawingml/2006/main">
            <a:off x="742950" y="1485900"/>
            <a:ext cx="5429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a:solidFill>
                  <a:srgbClr val="3B1118"/>
                </a:solidFill>
              </a:defRPr>
            </a:pPr>
            <a:r>
              <a:rPr sz="4050" b="1">
                <a:solidFill>
                  <a:srgbClr val="3B1118"/>
                </a:solidFill>
              </a:rPr>
              <a:t>Engineering Drawing</a:t>
            </a:r>
          </a:p>
        </p:txBody>
      </p:sp>
      <p:sp>
        <p:nvSpPr>
          <p:cNvPr id="5" name="">
            <a:extLst xmlns:a="http://schemas.openxmlformats.org/drawingml/2006/main">
              <a:ext uri="{FF2B5EF4-FFF2-40B4-BE49-F238E27FC236}">
                <a16:creationId xmlns:a16="http://schemas.microsoft.com/office/drawing/2014/main" id="{5D917FF0-D468-4714-B44F-EC566C41048F}"/>
              </a:ext>
            </a:extLst>
          </p:cNvPr>
          <p:cNvSpPr>
            <a:spLocks xmlns:a="http://schemas.openxmlformats.org/drawingml/2006/main" noGrp="1"/>
          </p:cNvSpPr>
          <p:nvPr/>
        </p:nvSpPr>
        <p:spPr>
          <a:xfrm xmlns:a="http://schemas.openxmlformats.org/drawingml/2006/main">
            <a:off x="742950" y="3295650"/>
            <a:ext cx="10287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0BA7BF-B8F7-4EE2-9191-75321A06D027}"/>
              </a:ext>
            </a:extLst>
          </p:cNvPr>
          <p:cNvSpPr>
            <a:spLocks xmlns:a="http://schemas.openxmlformats.org/drawingml/2006/main" noGrp="1"/>
          </p:cNvSpPr>
          <p:nvPr/>
        </p:nvSpPr>
        <p:spPr>
          <a:xfrm xmlns:a="http://schemas.openxmlformats.org/drawingml/2006/main">
            <a:off x="742950" y="3676650"/>
            <a:ext cx="533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25171A"/>
                </a:solidFill>
              </a:defRPr>
            </a:pPr>
            <a:r>
              <a:rPr sz="1800">
                <a:solidFill>
                  <a:srgbClr val="25171A"/>
                </a:solidFill>
              </a:rPr>
              <a:t>Use projections, controlled source information and CAD relationships to communicate parts, assemblies and design intent accurately.</a:t>
            </a:r>
          </a:p>
        </p:txBody>
      </p:sp>
      <p:sp>
        <p:nvSpPr>
          <p:cNvPr id="7" name="">
            <a:extLst xmlns:a="http://schemas.openxmlformats.org/drawingml/2006/main">
              <a:ext uri="{FF2B5EF4-FFF2-40B4-BE49-F238E27FC236}">
                <a16:creationId xmlns:a16="http://schemas.microsoft.com/office/drawing/2014/main" id="{DE8AB0AB-0A0B-43C6-BE1D-7C92E3A50A8A}"/>
              </a:ext>
            </a:extLst>
          </p:cNvPr>
          <p:cNvSpPr>
            <a:spLocks xmlns:a="http://schemas.openxmlformats.org/drawingml/2006/main" noGrp="1"/>
          </p:cNvSpPr>
          <p:nvPr/>
        </p:nvSpPr>
        <p:spPr>
          <a:xfrm xmlns:a="http://schemas.openxmlformats.org/drawingml/2006/main">
            <a:off x="742950" y="567690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66585B"/>
                </a:solidFill>
              </a:defRPr>
            </a:pPr>
            <a:r>
              <a:rPr sz="1275" b="1">
                <a:solidFill>
                  <a:srgbClr val="66585B"/>
                </a:solidFill>
              </a:rPr>
              <a:t>Read the visuals. Explain the decision. Save the evidence.</a:t>
            </a:r>
          </a:p>
        </p:txBody>
      </p:sp>
    </p:spTree>
    <p:extLst>
      <p:ext uri="{BB962C8B-B14F-4D97-AF65-F5344CB8AC3E}">
        <p14:creationId xmlns:p14="http://schemas.microsoft.com/office/powerpoint/2010/main" val="19867566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92F7415-23ED-4398-8636-7137054755F9}"/>
              </a:ext>
            </a:extLst>
          </p:cNvPr>
          <p:cNvSpPr>
            <a:spLocks xmlns:a="http://schemas.openxmlformats.org/drawingml/2006/main" noGrp="1"/>
          </p:cNvSpPr>
          <p:nvPr/>
        </p:nvSpPr>
        <p:spPr>
          <a:xfrm xmlns:a="http://schemas.openxmlformats.org/drawingml/2006/main">
            <a:off x="685800" y="5334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3B1118"/>
                </a:solidFill>
              </a:defRPr>
            </a:pPr>
            <a:r>
              <a:rPr sz="2850" b="1">
                <a:solidFill>
                  <a:srgbClr val="3B1118"/>
                </a:solidFill>
              </a:rPr>
              <a:t>Three ideas build one communication workflow</a:t>
            </a:r>
          </a:p>
        </p:txBody>
      </p:sp>
      <p:sp>
        <p:nvSpPr>
          <p:cNvPr id="2" name="">
            <a:extLst xmlns:a="http://schemas.openxmlformats.org/drawingml/2006/main">
              <a:ext uri="{FF2B5EF4-FFF2-40B4-BE49-F238E27FC236}">
                <a16:creationId xmlns:a16="http://schemas.microsoft.com/office/drawing/2014/main" id="{F1D90BD7-3140-4E17-AD35-9ECDA760AAE2}"/>
              </a:ext>
            </a:extLst>
          </p:cNvPr>
          <p:cNvSpPr>
            <a:spLocks xmlns:a="http://schemas.openxmlformats.org/drawingml/2006/main" noGrp="1"/>
          </p:cNvSpPr>
          <p:nvPr/>
        </p:nvSpPr>
        <p:spPr>
          <a:xfrm xmlns:a="http://schemas.openxmlformats.org/drawingml/2006/main">
            <a:off x="685800" y="120015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66585B"/>
                </a:solidFill>
              </a:defRPr>
            </a:pPr>
            <a:r>
              <a:rPr sz="1500">
                <a:solidFill>
                  <a:srgbClr val="66585B"/>
                </a:solidFill>
              </a:rPr>
              <a:t>Keep this sequence in mind: understand the context, make a controlled representation, then justify what the evidence means.</a:t>
            </a:r>
          </a:p>
        </p:txBody>
      </p:sp>
      <p:sp>
        <p:nvSpPr>
          <p:cNvPr id="3" name="">
            <a:extLst xmlns:a="http://schemas.openxmlformats.org/drawingml/2006/main">
              <a:ext uri="{FF2B5EF4-FFF2-40B4-BE49-F238E27FC236}">
                <a16:creationId xmlns:a16="http://schemas.microsoft.com/office/drawing/2014/main" id="{B2D2D037-67A8-4EFB-8461-F23925A7EBDD}"/>
              </a:ext>
            </a:extLst>
          </p:cNvPr>
          <p:cNvSpPr>
            <a:spLocks xmlns:a="http://schemas.openxmlformats.org/drawingml/2006/main" noGrp="1"/>
          </p:cNvSpPr>
          <p:nvPr/>
        </p:nvSpPr>
        <p:spPr>
          <a:xfrm xmlns:a="http://schemas.openxmlformats.org/drawingml/2006/main">
            <a:off x="1200150" y="3028950"/>
            <a:ext cx="9772650" cy="38100"/>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F1F522A-61AD-4B9D-8F1A-F370CD4250CB}"/>
              </a:ext>
            </a:extLst>
          </p:cNvPr>
          <p:cNvSpPr>
            <a:spLocks xmlns:a="http://schemas.openxmlformats.org/drawingml/2006/main" noGrp="1"/>
          </p:cNvSpPr>
          <p:nvPr/>
        </p:nvSpPr>
        <p:spPr>
          <a:xfrm xmlns:a="http://schemas.openxmlformats.org/drawingml/2006/main">
            <a:off x="13716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CBC7D82-AFC9-4631-88EC-F8FA906E81E7}"/>
              </a:ext>
            </a:extLst>
          </p:cNvPr>
          <p:cNvSpPr>
            <a:spLocks xmlns:a="http://schemas.openxmlformats.org/drawingml/2006/main" noGrp="1"/>
          </p:cNvSpPr>
          <p:nvPr/>
        </p:nvSpPr>
        <p:spPr>
          <a:xfrm xmlns:a="http://schemas.openxmlformats.org/drawingml/2006/main">
            <a:off x="13716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1</a:t>
            </a:r>
          </a:p>
        </p:txBody>
      </p:sp>
      <p:sp>
        <p:nvSpPr>
          <p:cNvPr id="6" name="">
            <a:extLst xmlns:a="http://schemas.openxmlformats.org/drawingml/2006/main">
              <a:ext uri="{FF2B5EF4-FFF2-40B4-BE49-F238E27FC236}">
                <a16:creationId xmlns:a16="http://schemas.microsoft.com/office/drawing/2014/main" id="{1F684FAA-C038-4B1E-80F0-2A92F76713C5}"/>
              </a:ext>
            </a:extLst>
          </p:cNvPr>
          <p:cNvSpPr>
            <a:spLocks xmlns:a="http://schemas.openxmlformats.org/drawingml/2006/main" noGrp="1"/>
          </p:cNvSpPr>
          <p:nvPr/>
        </p:nvSpPr>
        <p:spPr>
          <a:xfrm xmlns:a="http://schemas.openxmlformats.org/drawingml/2006/main">
            <a:off x="8763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5171A"/>
                </a:solidFill>
              </a:defRPr>
            </a:pPr>
            <a:r>
              <a:rPr sz="1725" b="1">
                <a:solidFill>
                  <a:srgbClr val="25171A"/>
                </a:solidFill>
              </a:rPr>
              <a:t>Projection systems and freehand communication</a:t>
            </a:r>
          </a:p>
        </p:txBody>
      </p:sp>
      <p:sp>
        <p:nvSpPr>
          <p:cNvPr id="7" name="">
            <a:extLst xmlns:a="http://schemas.openxmlformats.org/drawingml/2006/main">
              <a:ext uri="{FF2B5EF4-FFF2-40B4-BE49-F238E27FC236}">
                <a16:creationId xmlns:a16="http://schemas.microsoft.com/office/drawing/2014/main" id="{440E9C1A-8094-4A0F-961B-223DF4CE2F8D}"/>
              </a:ext>
            </a:extLst>
          </p:cNvPr>
          <p:cNvSpPr>
            <a:spLocks xmlns:a="http://schemas.openxmlformats.org/drawingml/2006/main" noGrp="1"/>
          </p:cNvSpPr>
          <p:nvPr/>
        </p:nvSpPr>
        <p:spPr>
          <a:xfrm xmlns:a="http://schemas.openxmlformats.org/drawingml/2006/main">
            <a:off x="5029200" y="2619375"/>
            <a:ext cx="800100" cy="800100"/>
          </a:xfrm>
          <a:prstGeom xmlns:a="http://schemas.openxmlformats.org/drawingml/2006/main" prst="roundRect">
            <a:avLst>
              <a:gd name="adj" fmla="val 50000"/>
            </a:avLst>
          </a:prstGeom>
          <a:solidFill xmlns:a="http://schemas.openxmlformats.org/drawingml/2006/main">
            <a:srgbClr val="8B243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8DF1E81-49B4-472B-ACCC-A69930ACBEEE}"/>
              </a:ext>
            </a:extLst>
          </p:cNvPr>
          <p:cNvSpPr>
            <a:spLocks xmlns:a="http://schemas.openxmlformats.org/drawingml/2006/main" noGrp="1"/>
          </p:cNvSpPr>
          <p:nvPr/>
        </p:nvSpPr>
        <p:spPr>
          <a:xfrm xmlns:a="http://schemas.openxmlformats.org/drawingml/2006/main">
            <a:off x="50292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2</a:t>
            </a:r>
          </a:p>
        </p:txBody>
      </p:sp>
      <p:sp>
        <p:nvSpPr>
          <p:cNvPr id="9" name="">
            <a:extLst xmlns:a="http://schemas.openxmlformats.org/drawingml/2006/main">
              <a:ext uri="{FF2B5EF4-FFF2-40B4-BE49-F238E27FC236}">
                <a16:creationId xmlns:a16="http://schemas.microsoft.com/office/drawing/2014/main" id="{0CD75621-B9CD-4137-B470-23203CEA0085}"/>
              </a:ext>
            </a:extLst>
          </p:cNvPr>
          <p:cNvSpPr>
            <a:spLocks xmlns:a="http://schemas.openxmlformats.org/drawingml/2006/main" noGrp="1"/>
          </p:cNvSpPr>
          <p:nvPr/>
        </p:nvSpPr>
        <p:spPr>
          <a:xfrm xmlns:a="http://schemas.openxmlformats.org/drawingml/2006/main">
            <a:off x="45339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5171A"/>
                </a:solidFill>
              </a:defRPr>
            </a:pPr>
            <a:r>
              <a:rPr sz="1725" b="1">
                <a:solidFill>
                  <a:srgbClr val="25171A"/>
                </a:solidFill>
              </a:rPr>
              <a:t>CAD modelling, materials and manufacturing</a:t>
            </a:r>
          </a:p>
        </p:txBody>
      </p:sp>
      <p:sp>
        <p:nvSpPr>
          <p:cNvPr id="10" name="">
            <a:extLst xmlns:a="http://schemas.openxmlformats.org/drawingml/2006/main">
              <a:ext uri="{FF2B5EF4-FFF2-40B4-BE49-F238E27FC236}">
                <a16:creationId xmlns:a16="http://schemas.microsoft.com/office/drawing/2014/main" id="{F28930EE-6048-481C-BB24-E8BED5F6752F}"/>
              </a:ext>
            </a:extLst>
          </p:cNvPr>
          <p:cNvSpPr>
            <a:spLocks xmlns:a="http://schemas.openxmlformats.org/drawingml/2006/main" noGrp="1"/>
          </p:cNvSpPr>
          <p:nvPr/>
        </p:nvSpPr>
        <p:spPr>
          <a:xfrm xmlns:a="http://schemas.openxmlformats.org/drawingml/2006/main">
            <a:off x="86868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B7E7348-E308-40CB-A65C-571B378F425F}"/>
              </a:ext>
            </a:extLst>
          </p:cNvPr>
          <p:cNvSpPr>
            <a:spLocks xmlns:a="http://schemas.openxmlformats.org/drawingml/2006/main" noGrp="1"/>
          </p:cNvSpPr>
          <p:nvPr/>
        </p:nvSpPr>
        <p:spPr>
          <a:xfrm xmlns:a="http://schemas.openxmlformats.org/drawingml/2006/main">
            <a:off x="86868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3</a:t>
            </a:r>
          </a:p>
        </p:txBody>
      </p:sp>
      <p:sp>
        <p:nvSpPr>
          <p:cNvPr id="12" name="">
            <a:extLst xmlns:a="http://schemas.openxmlformats.org/drawingml/2006/main">
              <a:ext uri="{FF2B5EF4-FFF2-40B4-BE49-F238E27FC236}">
                <a16:creationId xmlns:a16="http://schemas.microsoft.com/office/drawing/2014/main" id="{1512A3B9-B766-4DD1-A738-C5FD89B12B21}"/>
              </a:ext>
            </a:extLst>
          </p:cNvPr>
          <p:cNvSpPr>
            <a:spLocks xmlns:a="http://schemas.openxmlformats.org/drawingml/2006/main" noGrp="1"/>
          </p:cNvSpPr>
          <p:nvPr/>
        </p:nvSpPr>
        <p:spPr>
          <a:xfrm xmlns:a="http://schemas.openxmlformats.org/drawingml/2006/main">
            <a:off x="81915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5171A"/>
                </a:solidFill>
              </a:defRPr>
            </a:pPr>
            <a:r>
              <a:rPr sz="1725" b="1">
                <a:solidFill>
                  <a:srgbClr val="25171A"/>
                </a:solidFill>
              </a:rPr>
              <a:t>Dimensioning, standards, assemblies and animation</a:t>
            </a:r>
          </a:p>
        </p:txBody>
      </p:sp>
      <p:sp>
        <p:nvSpPr>
          <p:cNvPr id="13" name="">
            <a:extLst xmlns:a="http://schemas.openxmlformats.org/drawingml/2006/main">
              <a:ext uri="{FF2B5EF4-FFF2-40B4-BE49-F238E27FC236}">
                <a16:creationId xmlns:a16="http://schemas.microsoft.com/office/drawing/2014/main" id="{8005AA1A-847C-43A4-B58D-DA25219881AE}"/>
              </a:ext>
            </a:extLst>
          </p:cNvPr>
          <p:cNvSpPr>
            <a:spLocks xmlns:a="http://schemas.openxmlformats.org/drawingml/2006/main" noGrp="1"/>
          </p:cNvSpPr>
          <p:nvPr/>
        </p:nvSpPr>
        <p:spPr>
          <a:xfrm xmlns:a="http://schemas.openxmlformats.org/drawingml/2006/main">
            <a:off x="2381250" y="546735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8B2433"/>
                </a:solidFill>
              </a:defRPr>
            </a:pPr>
            <a:r>
              <a:rPr sz="1500" b="1">
                <a:solidFill>
                  <a:srgbClr val="8B2433"/>
                </a:solidFill>
              </a:rPr>
              <a:t>Retrieval prompt  •  Which idea depends most on the one before it?</a:t>
            </a:r>
          </a:p>
        </p:txBody>
      </p:sp>
      <p:sp>
        <p:nvSpPr>
          <p:cNvPr id="14" name="">
            <a:extLst xmlns:a="http://schemas.openxmlformats.org/drawingml/2006/main">
              <a:ext uri="{FF2B5EF4-FFF2-40B4-BE49-F238E27FC236}">
                <a16:creationId xmlns:a16="http://schemas.microsoft.com/office/drawing/2014/main" id="{972ADFE9-DC82-4A05-9A90-1F152D0986CD}"/>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08A59F2-4318-47BD-8BFD-FA2ECBF85C07}"/>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3</a:t>
            </a:r>
          </a:p>
        </p:txBody>
      </p:sp>
      <p:sp>
        <p:nvSpPr>
          <p:cNvPr id="16" name="">
            <a:extLst xmlns:a="http://schemas.openxmlformats.org/drawingml/2006/main">
              <a:ext uri="{FF2B5EF4-FFF2-40B4-BE49-F238E27FC236}">
                <a16:creationId xmlns:a16="http://schemas.microsoft.com/office/drawing/2014/main" id="{5073CC35-1CF6-4226-A233-B1A43BC3803D}"/>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02</a:t>
            </a:r>
          </a:p>
        </p:txBody>
      </p:sp>
    </p:spTree>
    <p:extLst>
      <p:ext uri="{BB962C8B-B14F-4D97-AF65-F5344CB8AC3E}">
        <p14:creationId xmlns:p14="http://schemas.microsoft.com/office/powerpoint/2010/main" val="721605833"/>
      </p:ext>
    </p:extLst>
  </p:cSld>
</p:sld>
</file>

<file path=ppt/slides/slide3.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fce56042aaf4700"/>
          <a:stretch xmlns:a="http://schemas.openxmlformats.org/drawingml/2006/main"/>
        </p:blipFill>
        <p:spPr>
          <a:xfrm xmlns:a="http://schemas.openxmlformats.org/drawingml/2006/main">
            <a:off x="685800" y="1959589"/>
            <a:ext cx="4953000" cy="2672123"/>
          </a:xfrm>
          <a:prstGeom xmlns:a="http://schemas.openxmlformats.org/drawingml/2006/main" prst="roundRect">
            <a:avLst>
              <a:gd name="adj" fmla="val 2830"/>
            </a:avLst>
          </a:prstGeom>
        </p:spPr>
      </p:pic>
      <p:sp>
        <p:nvSpPr>
          <p:cNvPr id="2" name="">
            <a:extLst xmlns:a="http://schemas.openxmlformats.org/drawingml/2006/main">
              <a:ext uri="{FF2B5EF4-FFF2-40B4-BE49-F238E27FC236}">
                <a16:creationId xmlns:a16="http://schemas.microsoft.com/office/drawing/2014/main" id="{8E08DEE2-CBF3-4B66-B1DE-166E583677C3}"/>
              </a:ext>
            </a:extLst>
          </p:cNvPr>
          <p:cNvSpPr>
            <a:spLocks xmlns:a="http://schemas.openxmlformats.org/drawingml/2006/main" noGrp="1"/>
          </p:cNvSpPr>
          <p:nvPr/>
        </p:nvSpPr>
        <p:spPr>
          <a:xfrm xmlns:a="http://schemas.openxmlformats.org/drawingml/2006/main">
            <a:off x="6858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9D889204-A24A-4086-ABCF-04B1D3290B2D}"/>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3B1118"/>
                </a:solidFill>
              </a:defRPr>
            </a:pPr>
            <a:r>
              <a:rPr sz="2700" b="1">
                <a:solidFill>
                  <a:srgbClr val="3B1118"/>
                </a:solidFill>
              </a:rPr>
              <a:t>Projection systems turn three-dimensional form into readable evidence</a:t>
            </a:r>
          </a:p>
        </p:txBody>
      </p:sp>
      <p:sp>
        <p:nvSpPr>
          <p:cNvPr id="4" name="">
            <a:extLst xmlns:a="http://schemas.openxmlformats.org/drawingml/2006/main">
              <a:ext uri="{FF2B5EF4-FFF2-40B4-BE49-F238E27FC236}">
                <a16:creationId xmlns:a16="http://schemas.microsoft.com/office/drawing/2014/main" id="{6F40E5EB-1B63-46EE-8315-DE96A0029F9E}"/>
              </a:ext>
            </a:extLst>
          </p:cNvPr>
          <p:cNvSpPr>
            <a:spLocks xmlns:a="http://schemas.openxmlformats.org/drawingml/2006/main" noGrp="1"/>
          </p:cNvSpPr>
          <p:nvPr/>
        </p:nvSpPr>
        <p:spPr>
          <a:xfrm xmlns:a="http://schemas.openxmlformats.org/drawingml/2006/main">
            <a:off x="60960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25171A"/>
                </a:solidFill>
              </a:defRPr>
            </a:pPr>
            <a:r>
              <a:rPr sz="1500">
                <a:solidFill>
                  <a:srgbClr val="25171A"/>
                </a:solidFill>
              </a:rPr>
              <a:t>Orthogonal and pictorial views solve different communication problems. View selection matters because one view can hide a feature that another reveals. Freehand sketches remain useful when they preserve proportion, alignment and visible relationships. They are thinking tools, not permission to estimate dimensions missing from the controlled source.</a:t>
            </a:r>
          </a:p>
        </p:txBody>
      </p:sp>
      <p:sp>
        <p:nvSpPr>
          <p:cNvPr id="5" name="">
            <a:extLst xmlns:a="http://schemas.openxmlformats.org/drawingml/2006/main">
              <a:ext uri="{FF2B5EF4-FFF2-40B4-BE49-F238E27FC236}">
                <a16:creationId xmlns:a16="http://schemas.microsoft.com/office/drawing/2014/main" id="{C607129A-72EA-4688-B664-93D7D0CEE8D4}"/>
              </a:ext>
            </a:extLst>
          </p:cNvPr>
          <p:cNvSpPr>
            <a:spLocks xmlns:a="http://schemas.openxmlformats.org/drawingml/2006/main" noGrp="1"/>
          </p:cNvSpPr>
          <p:nvPr/>
        </p:nvSpPr>
        <p:spPr>
          <a:xfrm xmlns:a="http://schemas.openxmlformats.org/drawingml/2006/main">
            <a:off x="60960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08B613C-3BE2-43E9-B502-DB32076D7255}"/>
              </a:ext>
            </a:extLst>
          </p:cNvPr>
          <p:cNvSpPr>
            <a:spLocks xmlns:a="http://schemas.openxmlformats.org/drawingml/2006/main" noGrp="1"/>
          </p:cNvSpPr>
          <p:nvPr/>
        </p:nvSpPr>
        <p:spPr>
          <a:xfrm xmlns:a="http://schemas.openxmlformats.org/drawingml/2006/main">
            <a:off x="60960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8B2433"/>
                </a:solidFill>
              </a:defRPr>
            </a:pPr>
            <a:r>
              <a:rPr sz="1575" b="1">
                <a:solidFill>
                  <a:srgbClr val="8B2433"/>
                </a:solidFill>
              </a:rPr>
              <a:t>Choose → Which additional view would remove the greatest ambiguity, and what feature would it reveal?</a:t>
            </a:r>
          </a:p>
        </p:txBody>
      </p:sp>
      <p:sp>
        <p:nvSpPr>
          <p:cNvPr id="7" name="">
            <a:extLst xmlns:a="http://schemas.openxmlformats.org/drawingml/2006/main">
              <a:ext uri="{FF2B5EF4-FFF2-40B4-BE49-F238E27FC236}">
                <a16:creationId xmlns:a16="http://schemas.microsoft.com/office/drawing/2014/main" id="{CEDEC10B-558C-46FE-9C9F-60B6D45A4568}"/>
              </a:ext>
            </a:extLst>
          </p:cNvPr>
          <p:cNvSpPr>
            <a:spLocks xmlns:a="http://schemas.openxmlformats.org/drawingml/2006/main" noGrp="1"/>
          </p:cNvSpPr>
          <p:nvPr/>
        </p:nvSpPr>
        <p:spPr>
          <a:xfrm xmlns:a="http://schemas.openxmlformats.org/drawingml/2006/main">
            <a:off x="60960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6585B"/>
                </a:solidFill>
              </a:defRPr>
            </a:pPr>
            <a:r>
              <a:rPr sz="1200">
                <a:solidFill>
                  <a:srgbClr val="66585B"/>
                </a:solidFill>
              </a:rPr>
              <a:t>Use the views to infer shape relationships, never missing measurements. The controlled drawing remains the authority.</a:t>
            </a:r>
          </a:p>
        </p:txBody>
      </p:sp>
      <p:sp>
        <p:nvSpPr>
          <p:cNvPr id="8" name="">
            <a:extLst xmlns:a="http://schemas.openxmlformats.org/drawingml/2006/main">
              <a:ext uri="{FF2B5EF4-FFF2-40B4-BE49-F238E27FC236}">
                <a16:creationId xmlns:a16="http://schemas.microsoft.com/office/drawing/2014/main" id="{46491442-7AA7-4CD9-8D5F-5258CAB30AC4}"/>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DF44A9-9541-4385-BC31-B2AFF6E836B6}"/>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3</a:t>
            </a:r>
          </a:p>
        </p:txBody>
      </p:sp>
      <p:sp>
        <p:nvSpPr>
          <p:cNvPr id="10" name="">
            <a:extLst xmlns:a="http://schemas.openxmlformats.org/drawingml/2006/main">
              <a:ext uri="{FF2B5EF4-FFF2-40B4-BE49-F238E27FC236}">
                <a16:creationId xmlns:a16="http://schemas.microsoft.com/office/drawing/2014/main" id="{47502F54-3C95-4C23-B5AC-F1429E5BCF76}"/>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03</a:t>
            </a:r>
          </a:p>
        </p:txBody>
      </p:sp>
    </p:spTree>
    <p:extLst>
      <p:ext uri="{BB962C8B-B14F-4D97-AF65-F5344CB8AC3E}">
        <p14:creationId xmlns:p14="http://schemas.microsoft.com/office/powerpoint/2010/main" val="651395575"/>
      </p:ext>
    </p:extLst>
  </p:cSld>
</p:sld>
</file>

<file path=ppt/slides/slide4.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6f9529c462f46af"/>
          <a:stretch xmlns:a="http://schemas.openxmlformats.org/drawingml/2006/main"/>
        </p:blipFill>
        <p:spPr>
          <a:xfrm xmlns:a="http://schemas.openxmlformats.org/drawingml/2006/main">
            <a:off x="6736375" y="1276350"/>
            <a:ext cx="4586649" cy="4038600"/>
          </a:xfrm>
          <a:prstGeom xmlns:a="http://schemas.openxmlformats.org/drawingml/2006/main" prst="roundRect">
            <a:avLst>
              <a:gd name="adj" fmla="val 2830"/>
            </a:avLst>
          </a:prstGeom>
        </p:spPr>
      </p:pic>
      <p:sp>
        <p:nvSpPr>
          <p:cNvPr id="2" name="">
            <a:extLst xmlns:a="http://schemas.openxmlformats.org/drawingml/2006/main">
              <a:ext uri="{FF2B5EF4-FFF2-40B4-BE49-F238E27FC236}">
                <a16:creationId xmlns:a16="http://schemas.microsoft.com/office/drawing/2014/main" id="{B2BD8CCD-4B3B-4090-B2F4-AC4A12679D5F}"/>
              </a:ext>
            </a:extLst>
          </p:cNvPr>
          <p:cNvSpPr>
            <a:spLocks xmlns:a="http://schemas.openxmlformats.org/drawingml/2006/main" noGrp="1"/>
          </p:cNvSpPr>
          <p:nvPr/>
        </p:nvSpPr>
        <p:spPr>
          <a:xfrm xmlns:a="http://schemas.openxmlformats.org/drawingml/2006/main">
            <a:off x="65532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95828C7B-EE04-411F-8638-6A53062FC960}"/>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3B1118"/>
                </a:solidFill>
              </a:defRPr>
            </a:pPr>
            <a:r>
              <a:rPr sz="2700" b="1">
                <a:solidFill>
                  <a:srgbClr val="3B1118"/>
                </a:solidFill>
              </a:rPr>
              <a:t>A useful CAD model preserves design intent when something changes</a:t>
            </a:r>
          </a:p>
        </p:txBody>
      </p:sp>
      <p:sp>
        <p:nvSpPr>
          <p:cNvPr id="4" name="">
            <a:extLst xmlns:a="http://schemas.openxmlformats.org/drawingml/2006/main">
              <a:ext uri="{FF2B5EF4-FFF2-40B4-BE49-F238E27FC236}">
                <a16:creationId xmlns:a16="http://schemas.microsoft.com/office/drawing/2014/main" id="{2ED1A98D-FD71-4ED0-BC74-FE5446949DB4}"/>
              </a:ext>
            </a:extLst>
          </p:cNvPr>
          <p:cNvSpPr>
            <a:spLocks xmlns:a="http://schemas.openxmlformats.org/drawingml/2006/main" noGrp="1"/>
          </p:cNvSpPr>
          <p:nvPr/>
        </p:nvSpPr>
        <p:spPr>
          <a:xfrm xmlns:a="http://schemas.openxmlformats.org/drawingml/2006/main">
            <a:off x="6858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25171A"/>
                </a:solidFill>
              </a:defRPr>
            </a:pPr>
            <a:r>
              <a:rPr sz="1500">
                <a:solidFill>
                  <a:srgbClr val="25171A"/>
                </a:solidFill>
              </a:rPr>
              <a:t>Sketch constraints, dimensions, features and references create dependencies. A fully constrained sketch can still encode a poor decision; design intent is shown when important relationships update predictably. Material and manufacturing thinking influence geometry and documentation, but CAD does not choose a grade, method, cost or load for an actual component.</a:t>
            </a:r>
          </a:p>
        </p:txBody>
      </p:sp>
      <p:sp>
        <p:nvSpPr>
          <p:cNvPr id="5" name="">
            <a:extLst xmlns:a="http://schemas.openxmlformats.org/drawingml/2006/main">
              <a:ext uri="{FF2B5EF4-FFF2-40B4-BE49-F238E27FC236}">
                <a16:creationId xmlns:a16="http://schemas.microsoft.com/office/drawing/2014/main" id="{22CCFA43-9A97-44D6-93D2-15185EA5AB7D}"/>
              </a:ext>
            </a:extLst>
          </p:cNvPr>
          <p:cNvSpPr>
            <a:spLocks xmlns:a="http://schemas.openxmlformats.org/drawingml/2006/main" noGrp="1"/>
          </p:cNvSpPr>
          <p:nvPr/>
        </p:nvSpPr>
        <p:spPr>
          <a:xfrm xmlns:a="http://schemas.openxmlformats.org/drawingml/2006/main">
            <a:off x="6858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48F74AD-3F38-49FB-9D9E-C789049BB8C2}"/>
              </a:ext>
            </a:extLst>
          </p:cNvPr>
          <p:cNvSpPr>
            <a:spLocks xmlns:a="http://schemas.openxmlformats.org/drawingml/2006/main" noGrp="1"/>
          </p:cNvSpPr>
          <p:nvPr/>
        </p:nvSpPr>
        <p:spPr>
          <a:xfrm xmlns:a="http://schemas.openxmlformats.org/drawingml/2006/main">
            <a:off x="6858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8B2433"/>
                </a:solidFill>
              </a:defRPr>
            </a:pPr>
            <a:r>
              <a:rPr sz="1575" b="1">
                <a:solidFill>
                  <a:srgbClr val="8B2433"/>
                </a:solidFill>
              </a:rPr>
              <a:t>Test → If one authorised dimension changes, which dependent feature should move or resize, and why?</a:t>
            </a:r>
          </a:p>
        </p:txBody>
      </p:sp>
      <p:sp>
        <p:nvSpPr>
          <p:cNvPr id="7" name="">
            <a:extLst xmlns:a="http://schemas.openxmlformats.org/drawingml/2006/main">
              <a:ext uri="{FF2B5EF4-FFF2-40B4-BE49-F238E27FC236}">
                <a16:creationId xmlns:a16="http://schemas.microsoft.com/office/drawing/2014/main" id="{B9123569-53F3-4C1F-81A5-83E14515D2DB}"/>
              </a:ext>
            </a:extLst>
          </p:cNvPr>
          <p:cNvSpPr>
            <a:spLocks xmlns:a="http://schemas.openxmlformats.org/drawingml/2006/main" noGrp="1"/>
          </p:cNvSpPr>
          <p:nvPr/>
        </p:nvSpPr>
        <p:spPr>
          <a:xfrm xmlns:a="http://schemas.openxmlformats.org/drawingml/2006/main">
            <a:off x="6858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6585B"/>
                </a:solidFill>
              </a:defRPr>
            </a:pPr>
            <a:r>
              <a:rPr sz="1200">
                <a:solidFill>
                  <a:srgbClr val="66585B"/>
                </a:solidFill>
              </a:rPr>
              <a:t>Each supplied dimension has a communication job. Model from the source and test whether dependencies preserve the intended relationships.</a:t>
            </a:r>
          </a:p>
        </p:txBody>
      </p:sp>
      <p:sp>
        <p:nvSpPr>
          <p:cNvPr id="8" name="">
            <a:extLst xmlns:a="http://schemas.openxmlformats.org/drawingml/2006/main">
              <a:ext uri="{FF2B5EF4-FFF2-40B4-BE49-F238E27FC236}">
                <a16:creationId xmlns:a16="http://schemas.microsoft.com/office/drawing/2014/main" id="{FDEF26D5-8636-4696-96EC-A66615C2624A}"/>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06F3470-BE85-48B2-8AAE-E91CFC61179C}"/>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3</a:t>
            </a:r>
          </a:p>
        </p:txBody>
      </p:sp>
      <p:sp>
        <p:nvSpPr>
          <p:cNvPr id="10" name="">
            <a:extLst xmlns:a="http://schemas.openxmlformats.org/drawingml/2006/main">
              <a:ext uri="{FF2B5EF4-FFF2-40B4-BE49-F238E27FC236}">
                <a16:creationId xmlns:a16="http://schemas.microsoft.com/office/drawing/2014/main" id="{F31B1797-4FE2-466A-A369-79FDD068B049}"/>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04</a:t>
            </a:r>
          </a:p>
        </p:txBody>
      </p:sp>
    </p:spTree>
    <p:extLst>
      <p:ext uri="{BB962C8B-B14F-4D97-AF65-F5344CB8AC3E}">
        <p14:creationId xmlns:p14="http://schemas.microsoft.com/office/powerpoint/2010/main" val="510104103"/>
      </p:ext>
    </p:extLst>
  </p:cSld>
</p:sld>
</file>

<file path=ppt/slides/slide5.xml><?xml version="1.0" encoding="utf-8"?>
<p:sld xmlns:p="http://schemas.openxmlformats.org/presentationml/2006/main">
  <p:cSld>
    <p:bg>
      <p:bgPr>
        <a:solidFill xmlns:a="http://schemas.openxmlformats.org/drawingml/2006/main">
          <a:srgbClr val="1B1718"/>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f3344e6cd1c42b6"/>
          <a:srcRect xmlns:a="http://schemas.openxmlformats.org/drawingml/2006/main" l="0" t="30078" r="0" b="30078"/>
          <a:stretch xmlns:a="http://schemas.openxmlformats.org/drawingml/2006/main">
            <a:fillRect l="0" t="0" r="0" b="0"/>
          </a:stretch>
        </p:blipFill>
        <p:spPr>
          <a:xfrm xmlns:a="http://schemas.openxmlformats.org/drawingml/2006/main">
            <a:off x="0" y="0"/>
            <a:ext cx="12192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0E0D67-856B-44A5-8F33-B096E149E72A}"/>
              </a:ext>
            </a:extLst>
          </p:cNvPr>
          <p:cNvSpPr>
            <a:spLocks xmlns:a="http://schemas.openxmlformats.org/drawingml/2006/main" noGrp="1"/>
          </p:cNvSpPr>
          <p:nvPr/>
        </p:nvSpPr>
        <p:spPr>
          <a:xfrm xmlns:a="http://schemas.openxmlformats.org/drawingml/2006/main">
            <a:off x="0" y="3028950"/>
            <a:ext cx="12192000" cy="3829050"/>
          </a:xfrm>
          <a:prstGeom xmlns:a="http://schemas.openxmlformats.org/drawingml/2006/main" prst="rect">
            <a:avLst/>
          </a:prstGeom>
          <a:solidFill xmlns:a="http://schemas.openxmlformats.org/drawingml/2006/main">
            <a:srgbClr val="1B171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ABCE9CC-6F07-48CA-A4C4-901C04F56017}"/>
              </a:ext>
            </a:extLst>
          </p:cNvPr>
          <p:cNvSpPr>
            <a:spLocks xmlns:a="http://schemas.openxmlformats.org/drawingml/2006/main" noGrp="1"/>
          </p:cNvSpPr>
          <p:nvPr/>
        </p:nvSpPr>
        <p:spPr>
          <a:xfrm xmlns:a="http://schemas.openxmlformats.org/drawingml/2006/main">
            <a:off x="685800" y="33528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FFFFFF"/>
                </a:solidFill>
              </a:defRPr>
            </a:pPr>
            <a:r>
              <a:rPr sz="2700" b="1">
                <a:solidFill>
                  <a:srgbClr val="FFFFFF"/>
                </a:solidFill>
              </a:rPr>
              <a:t>Digital motion communicates intent, not physical proof</a:t>
            </a:r>
          </a:p>
        </p:txBody>
      </p:sp>
      <p:sp>
        <p:nvSpPr>
          <p:cNvPr id="4" name="">
            <a:extLst xmlns:a="http://schemas.openxmlformats.org/drawingml/2006/main">
              <a:ext uri="{FF2B5EF4-FFF2-40B4-BE49-F238E27FC236}">
                <a16:creationId xmlns:a16="http://schemas.microsoft.com/office/drawing/2014/main" id="{334BCBA3-8B36-4324-8C85-1F35859EA6BA}"/>
              </a:ext>
            </a:extLst>
          </p:cNvPr>
          <p:cNvSpPr>
            <a:spLocks xmlns:a="http://schemas.openxmlformats.org/drawingml/2006/main" noGrp="1"/>
          </p:cNvSpPr>
          <p:nvPr/>
        </p:nvSpPr>
        <p:spPr>
          <a:xfrm xmlns:a="http://schemas.openxmlformats.org/drawingml/2006/main">
            <a:off x="685800" y="4114800"/>
            <a:ext cx="6838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F7EDEF"/>
                </a:solidFill>
              </a:defRPr>
            </a:pPr>
            <a:r>
              <a:rPr sz="1425">
                <a:solidFill>
                  <a:srgbClr val="F7EDEF"/>
                </a:solidFill>
              </a:rPr>
              <a:t>Dimensions define necessary size and location. Tolerances and fits describe controlled relationships. Part drawings, assemblies and animation can expose coordination or interference, but smooth motion does not prove physical performance, safe manufacture or compliance.</a:t>
            </a:r>
          </a:p>
        </p:txBody>
      </p:sp>
      <p:sp>
        <p:nvSpPr>
          <p:cNvPr id="5" name="">
            <a:extLst xmlns:a="http://schemas.openxmlformats.org/drawingml/2006/main">
              <a:ext uri="{FF2B5EF4-FFF2-40B4-BE49-F238E27FC236}">
                <a16:creationId xmlns:a16="http://schemas.microsoft.com/office/drawing/2014/main" id="{DAA5C239-5337-45C3-AC5F-A1DB35B616DC}"/>
              </a:ext>
            </a:extLst>
          </p:cNvPr>
          <p:cNvSpPr>
            <a:spLocks xmlns:a="http://schemas.openxmlformats.org/drawingml/2006/main" noGrp="1"/>
          </p:cNvSpPr>
          <p:nvPr/>
        </p:nvSpPr>
        <p:spPr>
          <a:xfrm xmlns:a="http://schemas.openxmlformats.org/drawingml/2006/main">
            <a:off x="7962900" y="4114800"/>
            <a:ext cx="3543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FFD8DF"/>
                </a:solidFill>
              </a:defRPr>
            </a:pPr>
            <a:r>
              <a:rPr sz="1575" b="1">
                <a:solidFill>
                  <a:srgbClr val="FFD8DF"/>
                </a:solidFill>
              </a:rPr>
              <a:t>Release-check → What does the drawing or animation demonstrate, and what important claim remains unproven?</a:t>
            </a:r>
          </a:p>
        </p:txBody>
      </p:sp>
      <p:sp>
        <p:nvSpPr>
          <p:cNvPr id="6" name="">
            <a:extLst xmlns:a="http://schemas.openxmlformats.org/drawingml/2006/main">
              <a:ext uri="{FF2B5EF4-FFF2-40B4-BE49-F238E27FC236}">
                <a16:creationId xmlns:a16="http://schemas.microsoft.com/office/drawing/2014/main" id="{AA960910-28C5-46A9-86AC-E00E35E14757}"/>
              </a:ext>
            </a:extLst>
          </p:cNvPr>
          <p:cNvSpPr>
            <a:spLocks xmlns:a="http://schemas.openxmlformats.org/drawingml/2006/main" noGrp="1"/>
          </p:cNvSpPr>
          <p:nvPr/>
        </p:nvSpPr>
        <p:spPr>
          <a:xfrm xmlns:a="http://schemas.openxmlformats.org/drawingml/2006/main">
            <a:off x="7962900" y="5467350"/>
            <a:ext cx="354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D7C9CC"/>
                </a:solidFill>
              </a:defRPr>
            </a:pPr>
            <a:r>
              <a:rPr sz="1200">
                <a:solidFill>
                  <a:srgbClr val="D7C9CC"/>
                </a:solidFill>
              </a:rPr>
              <a:t>The motion arc exposes clearance and interference questions. It communicates intended movement without proving strength, manufacture or safe real-world performance.</a:t>
            </a:r>
          </a:p>
        </p:txBody>
      </p:sp>
      <p:sp>
        <p:nvSpPr>
          <p:cNvPr id="7" name="">
            <a:extLst xmlns:a="http://schemas.openxmlformats.org/drawingml/2006/main">
              <a:ext uri="{FF2B5EF4-FFF2-40B4-BE49-F238E27FC236}">
                <a16:creationId xmlns:a16="http://schemas.microsoft.com/office/drawing/2014/main" id="{DCDC4AD8-A126-4BA9-96C2-6EEEC9D35F0C}"/>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7AE9D34-E839-47E1-9850-7BCAC16D94B9}"/>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3</a:t>
            </a:r>
          </a:p>
        </p:txBody>
      </p:sp>
      <p:sp>
        <p:nvSpPr>
          <p:cNvPr id="9" name="">
            <a:extLst xmlns:a="http://schemas.openxmlformats.org/drawingml/2006/main">
              <a:ext uri="{FF2B5EF4-FFF2-40B4-BE49-F238E27FC236}">
                <a16:creationId xmlns:a16="http://schemas.microsoft.com/office/drawing/2014/main" id="{A057D0B8-BE5F-4771-8D71-09FD7D3B7591}"/>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05</a:t>
            </a:r>
          </a:p>
        </p:txBody>
      </p:sp>
    </p:spTree>
    <p:extLst>
      <p:ext uri="{BB962C8B-B14F-4D97-AF65-F5344CB8AC3E}">
        <p14:creationId xmlns:p14="http://schemas.microsoft.com/office/powerpoint/2010/main" val="1509524673"/>
      </p:ext>
    </p:extLst>
  </p:cSld>
</p:sld>
</file>

<file path=ppt/slides/slide6.xml><?xml version="1.0" encoding="utf-8"?>
<p:sld xmlns:p="http://schemas.openxmlformats.org/presentationml/2006/main">
  <p:cSld>
    <p:bg>
      <p:bgPr>
        <a:solidFill xmlns:a="http://schemas.openxmlformats.org/drawingml/2006/main">
          <a:srgbClr val="3B111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996B6DE-AD52-461A-93E0-E8F43C585090}"/>
              </a:ext>
            </a:extLst>
          </p:cNvPr>
          <p:cNvSpPr>
            <a:spLocks xmlns:a="http://schemas.openxmlformats.org/drawingml/2006/main" noGrp="1"/>
          </p:cNvSpPr>
          <p:nvPr/>
        </p:nvSpPr>
        <p:spPr>
          <a:xfrm xmlns:a="http://schemas.openxmlformats.org/drawingml/2006/main">
            <a:off x="685800" y="552450"/>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Retrieve before you look back</a:t>
            </a:r>
          </a:p>
        </p:txBody>
      </p:sp>
      <p:sp>
        <p:nvSpPr>
          <p:cNvPr id="2" name="">
            <a:extLst xmlns:a="http://schemas.openxmlformats.org/drawingml/2006/main">
              <a:ext uri="{FF2B5EF4-FFF2-40B4-BE49-F238E27FC236}">
                <a16:creationId xmlns:a16="http://schemas.microsoft.com/office/drawing/2014/main" id="{662C6B0C-C34B-4396-97C2-0F748BC4743C}"/>
              </a:ext>
            </a:extLst>
          </p:cNvPr>
          <p:cNvSpPr>
            <a:spLocks xmlns:a="http://schemas.openxmlformats.org/drawingml/2006/main" noGrp="1"/>
          </p:cNvSpPr>
          <p:nvPr/>
        </p:nvSpPr>
        <p:spPr>
          <a:xfrm xmlns:a="http://schemas.openxmlformats.org/drawingml/2006/main">
            <a:off x="685800" y="1200150"/>
            <a:ext cx="742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F1D8DE"/>
                </a:solidFill>
              </a:defRPr>
            </a:pPr>
            <a:r>
              <a:rPr sz="1500">
                <a:solidFill>
                  <a:srgbClr val="F1D8DE"/>
                </a:solidFill>
              </a:rPr>
              <a:t>Answer in a phrase first. Then add the because.</a:t>
            </a:r>
          </a:p>
        </p:txBody>
      </p:sp>
      <p:sp>
        <p:nvSpPr>
          <p:cNvPr id="3" name="">
            <a:extLst xmlns:a="http://schemas.openxmlformats.org/drawingml/2006/main">
              <a:ext uri="{FF2B5EF4-FFF2-40B4-BE49-F238E27FC236}">
                <a16:creationId xmlns:a16="http://schemas.microsoft.com/office/drawing/2014/main" id="{CE585A9A-4A88-4C5B-9042-5B3CC3251281}"/>
              </a:ext>
            </a:extLst>
          </p:cNvPr>
          <p:cNvSpPr>
            <a:spLocks xmlns:a="http://schemas.openxmlformats.org/drawingml/2006/main" noGrp="1"/>
          </p:cNvSpPr>
          <p:nvPr/>
        </p:nvSpPr>
        <p:spPr>
          <a:xfrm xmlns:a="http://schemas.openxmlformats.org/drawingml/2006/main">
            <a:off x="876300" y="19812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01</a:t>
            </a:r>
          </a:p>
        </p:txBody>
      </p:sp>
      <p:sp>
        <p:nvSpPr>
          <p:cNvPr id="4" name="">
            <a:extLst xmlns:a="http://schemas.openxmlformats.org/drawingml/2006/main">
              <a:ext uri="{FF2B5EF4-FFF2-40B4-BE49-F238E27FC236}">
                <a16:creationId xmlns:a16="http://schemas.microsoft.com/office/drawing/2014/main" id="{6F423157-9318-4EE5-A6CD-1AA73304B109}"/>
              </a:ext>
            </a:extLst>
          </p:cNvPr>
          <p:cNvSpPr>
            <a:spLocks xmlns:a="http://schemas.openxmlformats.org/drawingml/2006/main" noGrp="1"/>
          </p:cNvSpPr>
          <p:nvPr/>
        </p:nvSpPr>
        <p:spPr>
          <a:xfrm xmlns:a="http://schemas.openxmlformats.org/drawingml/2006/main">
            <a:off x="1638300" y="19812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Why can one view be insufficient to communicate a part?</a:t>
            </a:r>
          </a:p>
        </p:txBody>
      </p:sp>
      <p:sp>
        <p:nvSpPr>
          <p:cNvPr id="5" name="">
            <a:extLst xmlns:a="http://schemas.openxmlformats.org/drawingml/2006/main">
              <a:ext uri="{FF2B5EF4-FFF2-40B4-BE49-F238E27FC236}">
                <a16:creationId xmlns:a16="http://schemas.microsoft.com/office/drawing/2014/main" id="{8004C6D9-3AB1-496F-817C-E8B432060AF1}"/>
              </a:ext>
            </a:extLst>
          </p:cNvPr>
          <p:cNvSpPr>
            <a:spLocks xmlns:a="http://schemas.openxmlformats.org/drawingml/2006/main" noGrp="1"/>
          </p:cNvSpPr>
          <p:nvPr/>
        </p:nvSpPr>
        <p:spPr>
          <a:xfrm xmlns:a="http://schemas.openxmlformats.org/drawingml/2006/main">
            <a:off x="876300" y="28575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02</a:t>
            </a:r>
          </a:p>
        </p:txBody>
      </p:sp>
      <p:sp>
        <p:nvSpPr>
          <p:cNvPr id="6" name="">
            <a:extLst xmlns:a="http://schemas.openxmlformats.org/drawingml/2006/main">
              <a:ext uri="{FF2B5EF4-FFF2-40B4-BE49-F238E27FC236}">
                <a16:creationId xmlns:a16="http://schemas.microsoft.com/office/drawing/2014/main" id="{DAF8358E-59D1-4F7B-9436-2689763A4CA2}"/>
              </a:ext>
            </a:extLst>
          </p:cNvPr>
          <p:cNvSpPr>
            <a:spLocks xmlns:a="http://schemas.openxmlformats.org/drawingml/2006/main" noGrp="1"/>
          </p:cNvSpPr>
          <p:nvPr/>
        </p:nvSpPr>
        <p:spPr>
          <a:xfrm xmlns:a="http://schemas.openxmlformats.org/drawingml/2006/main">
            <a:off x="1638300" y="28575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What is the difference between a constrained sketch and sound design intent?</a:t>
            </a:r>
          </a:p>
        </p:txBody>
      </p:sp>
      <p:sp>
        <p:nvSpPr>
          <p:cNvPr id="7" name="">
            <a:extLst xmlns:a="http://schemas.openxmlformats.org/drawingml/2006/main">
              <a:ext uri="{FF2B5EF4-FFF2-40B4-BE49-F238E27FC236}">
                <a16:creationId xmlns:a16="http://schemas.microsoft.com/office/drawing/2014/main" id="{9EB107F9-6AC2-4EE4-AF69-9CD252B46447}"/>
              </a:ext>
            </a:extLst>
          </p:cNvPr>
          <p:cNvSpPr>
            <a:spLocks xmlns:a="http://schemas.openxmlformats.org/drawingml/2006/main" noGrp="1"/>
          </p:cNvSpPr>
          <p:nvPr/>
        </p:nvSpPr>
        <p:spPr>
          <a:xfrm xmlns:a="http://schemas.openxmlformats.org/drawingml/2006/main">
            <a:off x="876300" y="37338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03</a:t>
            </a:r>
          </a:p>
        </p:txBody>
      </p:sp>
      <p:sp>
        <p:nvSpPr>
          <p:cNvPr id="8" name="">
            <a:extLst xmlns:a="http://schemas.openxmlformats.org/drawingml/2006/main">
              <a:ext uri="{FF2B5EF4-FFF2-40B4-BE49-F238E27FC236}">
                <a16:creationId xmlns:a16="http://schemas.microsoft.com/office/drawing/2014/main" id="{78626491-4206-4DAE-ACCA-FA90B07AD623}"/>
              </a:ext>
            </a:extLst>
          </p:cNvPr>
          <p:cNvSpPr>
            <a:spLocks xmlns:a="http://schemas.openxmlformats.org/drawingml/2006/main" noGrp="1"/>
          </p:cNvSpPr>
          <p:nvPr/>
        </p:nvSpPr>
        <p:spPr>
          <a:xfrm xmlns:a="http://schemas.openxmlformats.org/drawingml/2006/main">
            <a:off x="1638300" y="37338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Why should dimensions not be estimated from an image?</a:t>
            </a:r>
          </a:p>
        </p:txBody>
      </p:sp>
      <p:sp>
        <p:nvSpPr>
          <p:cNvPr id="9" name="">
            <a:extLst xmlns:a="http://schemas.openxmlformats.org/drawingml/2006/main">
              <a:ext uri="{FF2B5EF4-FFF2-40B4-BE49-F238E27FC236}">
                <a16:creationId xmlns:a16="http://schemas.microsoft.com/office/drawing/2014/main" id="{A643D83F-F384-47E1-8F6B-0056B0067917}"/>
              </a:ext>
            </a:extLst>
          </p:cNvPr>
          <p:cNvSpPr>
            <a:spLocks xmlns:a="http://schemas.openxmlformats.org/drawingml/2006/main" noGrp="1"/>
          </p:cNvSpPr>
          <p:nvPr/>
        </p:nvSpPr>
        <p:spPr>
          <a:xfrm xmlns:a="http://schemas.openxmlformats.org/drawingml/2006/main">
            <a:off x="876300" y="46101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04</a:t>
            </a:r>
          </a:p>
        </p:txBody>
      </p:sp>
      <p:sp>
        <p:nvSpPr>
          <p:cNvPr id="10" name="">
            <a:extLst xmlns:a="http://schemas.openxmlformats.org/drawingml/2006/main">
              <a:ext uri="{FF2B5EF4-FFF2-40B4-BE49-F238E27FC236}">
                <a16:creationId xmlns:a16="http://schemas.microsoft.com/office/drawing/2014/main" id="{514E4C03-2807-4F15-BBF7-B25FF0F24E95}"/>
              </a:ext>
            </a:extLst>
          </p:cNvPr>
          <p:cNvSpPr>
            <a:spLocks xmlns:a="http://schemas.openxmlformats.org/drawingml/2006/main" noGrp="1"/>
          </p:cNvSpPr>
          <p:nvPr/>
        </p:nvSpPr>
        <p:spPr>
          <a:xfrm xmlns:a="http://schemas.openxmlformats.org/drawingml/2006/main">
            <a:off x="1638300" y="46101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What can animation reveal, and what can it not prove?</a:t>
            </a:r>
          </a:p>
        </p:txBody>
      </p:sp>
      <p:sp>
        <p:nvSpPr>
          <p:cNvPr id="11" name="">
            <a:extLst xmlns:a="http://schemas.openxmlformats.org/drawingml/2006/main">
              <a:ext uri="{FF2B5EF4-FFF2-40B4-BE49-F238E27FC236}">
                <a16:creationId xmlns:a16="http://schemas.microsoft.com/office/drawing/2014/main" id="{CF065674-7FB5-42C1-AC3B-250FA7EBC36D}"/>
              </a:ext>
            </a:extLst>
          </p:cNvPr>
          <p:cNvSpPr>
            <a:spLocks xmlns:a="http://schemas.openxmlformats.org/drawingml/2006/main" noGrp="1"/>
          </p:cNvSpPr>
          <p:nvPr/>
        </p:nvSpPr>
        <p:spPr>
          <a:xfrm xmlns:a="http://schemas.openxmlformats.org/drawingml/2006/main">
            <a:off x="1638300" y="5676900"/>
            <a:ext cx="902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A9B8"/>
                </a:solidFill>
              </a:defRPr>
            </a:pPr>
            <a:r>
              <a:rPr sz="1350" b="1">
                <a:solidFill>
                  <a:srgbClr val="F4A9B8"/>
                </a:solidFill>
              </a:rPr>
              <a:t>Check: can your partner point to the slide evidence that supports the answer?</a:t>
            </a:r>
          </a:p>
        </p:txBody>
      </p:sp>
      <p:sp>
        <p:nvSpPr>
          <p:cNvPr id="12" name="">
            <a:extLst xmlns:a="http://schemas.openxmlformats.org/drawingml/2006/main">
              <a:ext uri="{FF2B5EF4-FFF2-40B4-BE49-F238E27FC236}">
                <a16:creationId xmlns:a16="http://schemas.microsoft.com/office/drawing/2014/main" id="{555C8382-49ED-43B3-87EC-6A9828B4DFCF}"/>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8461E24-0469-498A-9D52-25C5FC9EC0DC}"/>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3</a:t>
            </a:r>
          </a:p>
        </p:txBody>
      </p:sp>
      <p:sp>
        <p:nvSpPr>
          <p:cNvPr id="14" name="">
            <a:extLst xmlns:a="http://schemas.openxmlformats.org/drawingml/2006/main">
              <a:ext uri="{FF2B5EF4-FFF2-40B4-BE49-F238E27FC236}">
                <a16:creationId xmlns:a16="http://schemas.microsoft.com/office/drawing/2014/main" id="{E4E7F402-292C-4E6F-803E-F2BAD3B42575}"/>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06</a:t>
            </a:r>
          </a:p>
        </p:txBody>
      </p:sp>
    </p:spTree>
    <p:extLst>
      <p:ext uri="{BB962C8B-B14F-4D97-AF65-F5344CB8AC3E}">
        <p14:creationId xmlns:p14="http://schemas.microsoft.com/office/powerpoint/2010/main" val="15446262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8D80B30-A5D6-4485-BDF6-802A483FE432}"/>
              </a:ext>
            </a:extLst>
          </p:cNvPr>
          <p:cNvSpPr>
            <a:spLocks xmlns:a="http://schemas.openxmlformats.org/drawingml/2006/main" noGrp="1"/>
          </p:cNvSpPr>
          <p:nvPr/>
        </p:nvSpPr>
        <p:spPr>
          <a:xfrm xmlns:a="http://schemas.openxmlformats.org/drawingml/2006/main">
            <a:off x="685800" y="5334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3B1118"/>
                </a:solidFill>
              </a:defRPr>
            </a:pPr>
            <a:r>
              <a:rPr sz="2850" b="1">
                <a:solidFill>
                  <a:srgbClr val="3B1118"/>
                </a:solidFill>
              </a:rPr>
              <a:t>Build evidence: Read → Select → Explain → Check</a:t>
            </a:r>
          </a:p>
        </p:txBody>
      </p:sp>
      <p:sp>
        <p:nvSpPr>
          <p:cNvPr id="2" name="">
            <a:extLst xmlns:a="http://schemas.openxmlformats.org/drawingml/2006/main">
              <a:ext uri="{FF2B5EF4-FFF2-40B4-BE49-F238E27FC236}">
                <a16:creationId xmlns:a16="http://schemas.microsoft.com/office/drawing/2014/main" id="{E4652757-5385-4C44-9630-2FFD685FDAB3}"/>
              </a:ext>
            </a:extLst>
          </p:cNvPr>
          <p:cNvSpPr>
            <a:spLocks xmlns:a="http://schemas.openxmlformats.org/drawingml/2006/main" noGrp="1"/>
          </p:cNvSpPr>
          <p:nvPr/>
        </p:nvSpPr>
        <p:spPr>
          <a:xfrm xmlns:a="http://schemas.openxmlformats.org/drawingml/2006/main">
            <a:off x="6858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1692B8F3-7B2C-467E-AFFF-43EF564D1FC4}"/>
              </a:ext>
            </a:extLst>
          </p:cNvPr>
          <p:cNvSpPr>
            <a:spLocks xmlns:a="http://schemas.openxmlformats.org/drawingml/2006/main" noGrp="1"/>
          </p:cNvSpPr>
          <p:nvPr/>
        </p:nvSpPr>
        <p:spPr>
          <a:xfrm xmlns:a="http://schemas.openxmlformats.org/drawingml/2006/main">
            <a:off x="8953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READ</a:t>
            </a:r>
          </a:p>
        </p:txBody>
      </p:sp>
      <p:sp>
        <p:nvSpPr>
          <p:cNvPr id="4" name="">
            <a:extLst xmlns:a="http://schemas.openxmlformats.org/drawingml/2006/main">
              <a:ext uri="{FF2B5EF4-FFF2-40B4-BE49-F238E27FC236}">
                <a16:creationId xmlns:a16="http://schemas.microsoft.com/office/drawing/2014/main" id="{20279CF7-D76A-46D6-8CE2-567C754B2497}"/>
              </a:ext>
            </a:extLst>
          </p:cNvPr>
          <p:cNvSpPr>
            <a:spLocks xmlns:a="http://schemas.openxmlformats.org/drawingml/2006/main" noGrp="1"/>
          </p:cNvSpPr>
          <p:nvPr/>
        </p:nvSpPr>
        <p:spPr>
          <a:xfrm xmlns:a="http://schemas.openxmlformats.org/drawingml/2006/main">
            <a:off x="8953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Name the brief, source or criterion.</a:t>
            </a:r>
          </a:p>
        </p:txBody>
      </p:sp>
      <p:sp>
        <p:nvSpPr>
          <p:cNvPr id="5" name="">
            <a:extLst xmlns:a="http://schemas.openxmlformats.org/drawingml/2006/main">
              <a:ext uri="{FF2B5EF4-FFF2-40B4-BE49-F238E27FC236}">
                <a16:creationId xmlns:a16="http://schemas.microsoft.com/office/drawing/2014/main" id="{9B0C9C08-BFDA-44BA-821A-A82A5EAB2C65}"/>
              </a:ext>
            </a:extLst>
          </p:cNvPr>
          <p:cNvSpPr>
            <a:spLocks xmlns:a="http://schemas.openxmlformats.org/drawingml/2006/main" noGrp="1"/>
          </p:cNvSpPr>
          <p:nvPr/>
        </p:nvSpPr>
        <p:spPr>
          <a:xfrm xmlns:a="http://schemas.openxmlformats.org/drawingml/2006/main">
            <a:off x="30384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8B2433"/>
                </a:solidFill>
              </a:defRPr>
            </a:pPr>
            <a:r>
              <a:rPr sz="2250" b="1">
                <a:solidFill>
                  <a:srgbClr val="8B2433"/>
                </a:solidFill>
              </a:rPr>
              <a:t>→</a:t>
            </a:r>
          </a:p>
        </p:txBody>
      </p:sp>
      <p:sp>
        <p:nvSpPr>
          <p:cNvPr id="6" name="">
            <a:extLst xmlns:a="http://schemas.openxmlformats.org/drawingml/2006/main">
              <a:ext uri="{FF2B5EF4-FFF2-40B4-BE49-F238E27FC236}">
                <a16:creationId xmlns:a16="http://schemas.microsoft.com/office/drawing/2014/main" id="{29E2AA03-FC90-40CB-B8FC-604FE246AB3D}"/>
              </a:ext>
            </a:extLst>
          </p:cNvPr>
          <p:cNvSpPr>
            <a:spLocks xmlns:a="http://schemas.openxmlformats.org/drawingml/2006/main" noGrp="1"/>
          </p:cNvSpPr>
          <p:nvPr/>
        </p:nvSpPr>
        <p:spPr>
          <a:xfrm xmlns:a="http://schemas.openxmlformats.org/drawingml/2006/main">
            <a:off x="34671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7" name="">
            <a:extLst xmlns:a="http://schemas.openxmlformats.org/drawingml/2006/main">
              <a:ext uri="{FF2B5EF4-FFF2-40B4-BE49-F238E27FC236}">
                <a16:creationId xmlns:a16="http://schemas.microsoft.com/office/drawing/2014/main" id="{6C28EECD-AA63-4E1A-BBAC-2BE366DB4F1B}"/>
              </a:ext>
            </a:extLst>
          </p:cNvPr>
          <p:cNvSpPr>
            <a:spLocks xmlns:a="http://schemas.openxmlformats.org/drawingml/2006/main" noGrp="1"/>
          </p:cNvSpPr>
          <p:nvPr/>
        </p:nvSpPr>
        <p:spPr>
          <a:xfrm xmlns:a="http://schemas.openxmlformats.org/drawingml/2006/main">
            <a:off x="36766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SELECT</a:t>
            </a:r>
          </a:p>
        </p:txBody>
      </p:sp>
      <p:sp>
        <p:nvSpPr>
          <p:cNvPr id="8" name="">
            <a:extLst xmlns:a="http://schemas.openxmlformats.org/drawingml/2006/main">
              <a:ext uri="{FF2B5EF4-FFF2-40B4-BE49-F238E27FC236}">
                <a16:creationId xmlns:a16="http://schemas.microsoft.com/office/drawing/2014/main" id="{5BE015C2-61E6-420F-87DF-08C0FA7804D3}"/>
              </a:ext>
            </a:extLst>
          </p:cNvPr>
          <p:cNvSpPr>
            <a:spLocks xmlns:a="http://schemas.openxmlformats.org/drawingml/2006/main" noGrp="1"/>
          </p:cNvSpPr>
          <p:nvPr/>
        </p:nvSpPr>
        <p:spPr>
          <a:xfrm xmlns:a="http://schemas.openxmlformats.org/drawingml/2006/main">
            <a:off x="36766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Choose one drawing, image or decision.</a:t>
            </a:r>
          </a:p>
        </p:txBody>
      </p:sp>
      <p:sp>
        <p:nvSpPr>
          <p:cNvPr id="9" name="">
            <a:extLst xmlns:a="http://schemas.openxmlformats.org/drawingml/2006/main">
              <a:ext uri="{FF2B5EF4-FFF2-40B4-BE49-F238E27FC236}">
                <a16:creationId xmlns:a16="http://schemas.microsoft.com/office/drawing/2014/main" id="{116A6610-A161-4274-A620-1C5E451B5524}"/>
              </a:ext>
            </a:extLst>
          </p:cNvPr>
          <p:cNvSpPr>
            <a:spLocks xmlns:a="http://schemas.openxmlformats.org/drawingml/2006/main" noGrp="1"/>
          </p:cNvSpPr>
          <p:nvPr/>
        </p:nvSpPr>
        <p:spPr>
          <a:xfrm xmlns:a="http://schemas.openxmlformats.org/drawingml/2006/main">
            <a:off x="58197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8B2433"/>
                </a:solidFill>
              </a:defRPr>
            </a:pPr>
            <a:r>
              <a:rPr sz="2250" b="1">
                <a:solidFill>
                  <a:srgbClr val="8B2433"/>
                </a:solidFill>
              </a:rPr>
              <a:t>→</a:t>
            </a:r>
          </a:p>
        </p:txBody>
      </p:sp>
      <p:sp>
        <p:nvSpPr>
          <p:cNvPr id="10" name="">
            <a:extLst xmlns:a="http://schemas.openxmlformats.org/drawingml/2006/main">
              <a:ext uri="{FF2B5EF4-FFF2-40B4-BE49-F238E27FC236}">
                <a16:creationId xmlns:a16="http://schemas.microsoft.com/office/drawing/2014/main" id="{BE4CE93C-5A17-4E79-ABB6-2DDA21C653D4}"/>
              </a:ext>
            </a:extLst>
          </p:cNvPr>
          <p:cNvSpPr>
            <a:spLocks xmlns:a="http://schemas.openxmlformats.org/drawingml/2006/main" noGrp="1"/>
          </p:cNvSpPr>
          <p:nvPr/>
        </p:nvSpPr>
        <p:spPr>
          <a:xfrm xmlns:a="http://schemas.openxmlformats.org/drawingml/2006/main">
            <a:off x="6248400" y="1752600"/>
            <a:ext cx="2324100" cy="1676400"/>
          </a:xfrm>
          <a:prstGeom xmlns:a="http://schemas.openxmlformats.org/drawingml/2006/main" prst="roundRect">
            <a:avLst>
              <a:gd name="adj" fmla="val 9091"/>
            </a:avLst>
          </a:prstGeom>
          <a:solidFill xmlns:a="http://schemas.openxmlformats.org/drawingml/2006/main">
            <a:srgbClr val="FBEAEC"/>
          </a:solidFill>
          <a:ln xmlns:a="http://schemas.openxmlformats.org/drawingml/2006/main" w="19050">
            <a:solidFill>
              <a:srgbClr val="8B2433"/>
            </a:solidFill>
            <a:prstDash val="solid"/>
          </a:ln>
        </p:spPr>
      </p:sp>
      <p:sp>
        <p:nvSpPr>
          <p:cNvPr id="11" name="">
            <a:extLst xmlns:a="http://schemas.openxmlformats.org/drawingml/2006/main">
              <a:ext uri="{FF2B5EF4-FFF2-40B4-BE49-F238E27FC236}">
                <a16:creationId xmlns:a16="http://schemas.microsoft.com/office/drawing/2014/main" id="{E20C2BD4-0511-4A76-89D6-290BBB17931D}"/>
              </a:ext>
            </a:extLst>
          </p:cNvPr>
          <p:cNvSpPr>
            <a:spLocks xmlns:a="http://schemas.openxmlformats.org/drawingml/2006/main" noGrp="1"/>
          </p:cNvSpPr>
          <p:nvPr/>
        </p:nvSpPr>
        <p:spPr>
          <a:xfrm xmlns:a="http://schemas.openxmlformats.org/drawingml/2006/main">
            <a:off x="64579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EXPLAIN</a:t>
            </a:r>
          </a:p>
        </p:txBody>
      </p:sp>
      <p:sp>
        <p:nvSpPr>
          <p:cNvPr id="12" name="">
            <a:extLst xmlns:a="http://schemas.openxmlformats.org/drawingml/2006/main">
              <a:ext uri="{FF2B5EF4-FFF2-40B4-BE49-F238E27FC236}">
                <a16:creationId xmlns:a16="http://schemas.microsoft.com/office/drawing/2014/main" id="{4DF36F02-708C-451F-A1FE-752CD4861CCB}"/>
              </a:ext>
            </a:extLst>
          </p:cNvPr>
          <p:cNvSpPr>
            <a:spLocks xmlns:a="http://schemas.openxmlformats.org/drawingml/2006/main" noGrp="1"/>
          </p:cNvSpPr>
          <p:nvPr/>
        </p:nvSpPr>
        <p:spPr>
          <a:xfrm xmlns:a="http://schemas.openxmlformats.org/drawingml/2006/main">
            <a:off x="64579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State what it proves and why it matters.</a:t>
            </a:r>
          </a:p>
        </p:txBody>
      </p:sp>
      <p:sp>
        <p:nvSpPr>
          <p:cNvPr id="13" name="">
            <a:extLst xmlns:a="http://schemas.openxmlformats.org/drawingml/2006/main">
              <a:ext uri="{FF2B5EF4-FFF2-40B4-BE49-F238E27FC236}">
                <a16:creationId xmlns:a16="http://schemas.microsoft.com/office/drawing/2014/main" id="{B1B7EADD-2573-49FB-B6AE-A419FE0D7448}"/>
              </a:ext>
            </a:extLst>
          </p:cNvPr>
          <p:cNvSpPr>
            <a:spLocks xmlns:a="http://schemas.openxmlformats.org/drawingml/2006/main" noGrp="1"/>
          </p:cNvSpPr>
          <p:nvPr/>
        </p:nvSpPr>
        <p:spPr>
          <a:xfrm xmlns:a="http://schemas.openxmlformats.org/drawingml/2006/main">
            <a:off x="86010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8B2433"/>
                </a:solidFill>
              </a:defRPr>
            </a:pPr>
            <a:r>
              <a:rPr sz="2250" b="1">
                <a:solidFill>
                  <a:srgbClr val="8B2433"/>
                </a:solidFill>
              </a:rPr>
              <a:t>→</a:t>
            </a:r>
          </a:p>
        </p:txBody>
      </p:sp>
      <p:sp>
        <p:nvSpPr>
          <p:cNvPr id="14" name="">
            <a:extLst xmlns:a="http://schemas.openxmlformats.org/drawingml/2006/main">
              <a:ext uri="{FF2B5EF4-FFF2-40B4-BE49-F238E27FC236}">
                <a16:creationId xmlns:a16="http://schemas.microsoft.com/office/drawing/2014/main" id="{67FEC9CD-C4F5-4540-812C-DEE81EE7BAD4}"/>
              </a:ext>
            </a:extLst>
          </p:cNvPr>
          <p:cNvSpPr>
            <a:spLocks xmlns:a="http://schemas.openxmlformats.org/drawingml/2006/main" noGrp="1"/>
          </p:cNvSpPr>
          <p:nvPr/>
        </p:nvSpPr>
        <p:spPr>
          <a:xfrm xmlns:a="http://schemas.openxmlformats.org/drawingml/2006/main">
            <a:off x="90297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15" name="">
            <a:extLst xmlns:a="http://schemas.openxmlformats.org/drawingml/2006/main">
              <a:ext uri="{FF2B5EF4-FFF2-40B4-BE49-F238E27FC236}">
                <a16:creationId xmlns:a16="http://schemas.microsoft.com/office/drawing/2014/main" id="{1052E7C8-EDD3-49A9-B281-4271A1781AA9}"/>
              </a:ext>
            </a:extLst>
          </p:cNvPr>
          <p:cNvSpPr>
            <a:spLocks xmlns:a="http://schemas.openxmlformats.org/drawingml/2006/main" noGrp="1"/>
          </p:cNvSpPr>
          <p:nvPr/>
        </p:nvSpPr>
        <p:spPr>
          <a:xfrm xmlns:a="http://schemas.openxmlformats.org/drawingml/2006/main">
            <a:off x="92392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CHECK</a:t>
            </a:r>
          </a:p>
        </p:txBody>
      </p:sp>
      <p:sp>
        <p:nvSpPr>
          <p:cNvPr id="16" name="">
            <a:extLst xmlns:a="http://schemas.openxmlformats.org/drawingml/2006/main">
              <a:ext uri="{FF2B5EF4-FFF2-40B4-BE49-F238E27FC236}">
                <a16:creationId xmlns:a16="http://schemas.microsoft.com/office/drawing/2014/main" id="{C08B0CDE-4A7C-4F6E-9F51-8A0EE20DDF88}"/>
              </a:ext>
            </a:extLst>
          </p:cNvPr>
          <p:cNvSpPr>
            <a:spLocks xmlns:a="http://schemas.openxmlformats.org/drawingml/2006/main" noGrp="1"/>
          </p:cNvSpPr>
          <p:nvPr/>
        </p:nvSpPr>
        <p:spPr>
          <a:xfrm xmlns:a="http://schemas.openxmlformats.org/drawingml/2006/main">
            <a:off x="92392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Limit the claim to the actual evidence.</a:t>
            </a:r>
          </a:p>
        </p:txBody>
      </p:sp>
      <p:sp>
        <p:nvSpPr>
          <p:cNvPr id="17" name="">
            <a:extLst xmlns:a="http://schemas.openxmlformats.org/drawingml/2006/main">
              <a:ext uri="{FF2B5EF4-FFF2-40B4-BE49-F238E27FC236}">
                <a16:creationId xmlns:a16="http://schemas.microsoft.com/office/drawing/2014/main" id="{C06D0AC0-24FB-4CD2-88D9-38E577A58AE6}"/>
              </a:ext>
            </a:extLst>
          </p:cNvPr>
          <p:cNvSpPr>
            <a:spLocks xmlns:a="http://schemas.openxmlformats.org/drawingml/2006/main" noGrp="1"/>
          </p:cNvSpPr>
          <p:nvPr/>
        </p:nvSpPr>
        <p:spPr>
          <a:xfrm xmlns:a="http://schemas.openxmlformats.org/drawingml/2006/main">
            <a:off x="1257300" y="4114800"/>
            <a:ext cx="9677400" cy="1295400"/>
          </a:xfrm>
          <a:prstGeom xmlns:a="http://schemas.openxmlformats.org/drawingml/2006/main" prst="roundRect">
            <a:avLst>
              <a:gd name="adj" fmla="val 11765"/>
            </a:avLst>
          </a:prstGeom>
          <a:solidFill xmlns:a="http://schemas.openxmlformats.org/drawingml/2006/main">
            <a:srgbClr val="3B111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3A7BB2C-5286-486B-8663-3F8D906271EE}"/>
              </a:ext>
            </a:extLst>
          </p:cNvPr>
          <p:cNvSpPr>
            <a:spLocks xmlns:a="http://schemas.openxmlformats.org/drawingml/2006/main" noGrp="1"/>
          </p:cNvSpPr>
          <p:nvPr/>
        </p:nvSpPr>
        <p:spPr>
          <a:xfrm xmlns:a="http://schemas.openxmlformats.org/drawingml/2006/main">
            <a:off x="1562100" y="43434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A9B8"/>
                </a:solidFill>
              </a:defRPr>
            </a:pPr>
            <a:r>
              <a:rPr sz="1350" b="1">
                <a:solidFill>
                  <a:srgbClr val="F4A9B8"/>
                </a:solidFill>
              </a:rPr>
              <a:t>Sentence support</a:t>
            </a:r>
          </a:p>
        </p:txBody>
      </p:sp>
      <p:sp>
        <p:nvSpPr>
          <p:cNvPr id="19" name="">
            <a:extLst xmlns:a="http://schemas.openxmlformats.org/drawingml/2006/main">
              <a:ext uri="{FF2B5EF4-FFF2-40B4-BE49-F238E27FC236}">
                <a16:creationId xmlns:a16="http://schemas.microsoft.com/office/drawing/2014/main" id="{46B913D8-4C5C-495E-A364-55F0020F8C2A}"/>
              </a:ext>
            </a:extLst>
          </p:cNvPr>
          <p:cNvSpPr>
            <a:spLocks xmlns:a="http://schemas.openxmlformats.org/drawingml/2006/main" noGrp="1"/>
          </p:cNvSpPr>
          <p:nvPr/>
        </p:nvSpPr>
        <p:spPr>
          <a:xfrm xmlns:a="http://schemas.openxmlformats.org/drawingml/2006/main">
            <a:off x="1562100" y="47244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FFFFFF"/>
                </a:solidFill>
              </a:defRPr>
            </a:pPr>
            <a:r>
              <a:rPr sz="1575">
                <a:solidFill>
                  <a:srgbClr val="FFFFFF"/>
                </a:solidFill>
              </a:rPr>
              <a:t>The controlled source shows ___. I represented it using ___. My cross-check found ___. This demonstrates ___, but it does not prove ___.</a:t>
            </a:r>
          </a:p>
        </p:txBody>
      </p:sp>
      <p:sp>
        <p:nvSpPr>
          <p:cNvPr id="20" name="">
            <a:extLst xmlns:a="http://schemas.openxmlformats.org/drawingml/2006/main">
              <a:ext uri="{FF2B5EF4-FFF2-40B4-BE49-F238E27FC236}">
                <a16:creationId xmlns:a16="http://schemas.microsoft.com/office/drawing/2014/main" id="{1E230AC4-03DB-49E2-909E-7F3CE77EBAB8}"/>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4C9C8E5-9517-44BB-A2F7-CD89B3F9B863}"/>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3</a:t>
            </a:r>
          </a:p>
        </p:txBody>
      </p:sp>
      <p:sp>
        <p:nvSpPr>
          <p:cNvPr id="22" name="">
            <a:extLst xmlns:a="http://schemas.openxmlformats.org/drawingml/2006/main">
              <a:ext uri="{FF2B5EF4-FFF2-40B4-BE49-F238E27FC236}">
                <a16:creationId xmlns:a16="http://schemas.microsoft.com/office/drawing/2014/main" id="{3FFB9569-47E6-4D2C-8FC1-B4E7F117FB9C}"/>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07</a:t>
            </a:r>
          </a:p>
        </p:txBody>
      </p:sp>
    </p:spTree>
    <p:extLst>
      <p:ext uri="{BB962C8B-B14F-4D97-AF65-F5344CB8AC3E}">
        <p14:creationId xmlns:p14="http://schemas.microsoft.com/office/powerpoint/2010/main" val="1979128287"/>
      </p:ext>
    </p:extLst>
  </p:cSld>
</p:sld>
</file>

<file path=ppt/slides/slide8.xml><?xml version="1.0" encoding="utf-8"?>
<p:sld xmlns:p="http://schemas.openxmlformats.org/presentationml/2006/main">
  <p:cSld>
    <p:bg>
      <p:bgPr>
        <a:solidFill xmlns:a="http://schemas.openxmlformats.org/drawingml/2006/main">
          <a:srgbClr val="FBEA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4E2A7B1-8A2E-4C94-AB97-9A1CE7499B85}"/>
              </a:ext>
            </a:extLst>
          </p:cNvPr>
          <p:cNvSpPr>
            <a:spLocks xmlns:a="http://schemas.openxmlformats.org/drawingml/2006/main" noGrp="1"/>
          </p:cNvSpPr>
          <p:nvPr/>
        </p:nvSpPr>
        <p:spPr>
          <a:xfrm xmlns:a="http://schemas.openxmlformats.org/drawingml/2006/main">
            <a:off x="0" y="0"/>
            <a:ext cx="278130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B392A2-E54E-46DF-9069-7E62FD826671}"/>
              </a:ext>
            </a:extLst>
          </p:cNvPr>
          <p:cNvSpPr>
            <a:spLocks xmlns:a="http://schemas.openxmlformats.org/drawingml/2006/main" noGrp="1"/>
          </p:cNvSpPr>
          <p:nvPr/>
        </p:nvSpPr>
        <p:spPr>
          <a:xfrm xmlns:a="http://schemas.openxmlformats.org/drawingml/2006/main">
            <a:off x="552450" y="8572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D8DF"/>
                </a:solidFill>
              </a:defRPr>
            </a:pPr>
            <a:r>
              <a:rPr sz="1275" b="1">
                <a:solidFill>
                  <a:srgbClr val="FFD8DF"/>
                </a:solidFill>
              </a:rPr>
              <a:t>MODULE 3</a:t>
            </a:r>
          </a:p>
        </p:txBody>
      </p:sp>
      <p:sp>
        <p:nvSpPr>
          <p:cNvPr id="3" name="">
            <a:extLst xmlns:a="http://schemas.openxmlformats.org/drawingml/2006/main">
              <a:ext uri="{FF2B5EF4-FFF2-40B4-BE49-F238E27FC236}">
                <a16:creationId xmlns:a16="http://schemas.microsoft.com/office/drawing/2014/main" id="{E81EBFEA-F172-4212-A55A-49F67C350639}"/>
              </a:ext>
            </a:extLst>
          </p:cNvPr>
          <p:cNvSpPr>
            <a:spLocks xmlns:a="http://schemas.openxmlformats.org/drawingml/2006/main" noGrp="1"/>
          </p:cNvSpPr>
          <p:nvPr/>
        </p:nvSpPr>
        <p:spPr>
          <a:xfrm xmlns:a="http://schemas.openxmlformats.org/drawingml/2006/main">
            <a:off x="457200" y="1676400"/>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4350" b="1">
                <a:solidFill>
                  <a:srgbClr val="FFFFFF"/>
                </a:solidFill>
              </a:defRPr>
            </a:pPr>
            <a:r>
              <a:rPr sz="4350" b="1">
                <a:solidFill>
                  <a:srgbClr val="FFFFFF"/>
                </a:solidFill>
              </a:rPr>
              <a:t>EXIT</a:t>
            </a:r>
          </a:p>
        </p:txBody>
      </p:sp>
      <p:sp>
        <p:nvSpPr>
          <p:cNvPr id="4" name="">
            <a:extLst xmlns:a="http://schemas.openxmlformats.org/drawingml/2006/main">
              <a:ext uri="{FF2B5EF4-FFF2-40B4-BE49-F238E27FC236}">
                <a16:creationId xmlns:a16="http://schemas.microsoft.com/office/drawing/2014/main" id="{A843B30E-F67C-459F-BFDF-4420640DC61C}"/>
              </a:ext>
            </a:extLst>
          </p:cNvPr>
          <p:cNvSpPr>
            <a:spLocks xmlns:a="http://schemas.openxmlformats.org/drawingml/2006/main" noGrp="1"/>
          </p:cNvSpPr>
          <p:nvPr/>
        </p:nvSpPr>
        <p:spPr>
          <a:xfrm xmlns:a="http://schemas.openxmlformats.org/drawingml/2006/main">
            <a:off x="361950" y="24003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FFFFF"/>
                </a:solidFill>
              </a:defRPr>
            </a:pPr>
            <a:r>
              <a:rPr sz="1950" b="1">
                <a:solidFill>
                  <a:srgbClr val="FFFFFF"/>
                </a:solidFill>
              </a:rPr>
              <a:t>EVIDENCE</a:t>
            </a:r>
          </a:p>
        </p:txBody>
      </p:sp>
      <p:sp>
        <p:nvSpPr>
          <p:cNvPr id="5" name="">
            <a:extLst xmlns:a="http://schemas.openxmlformats.org/drawingml/2006/main">
              <a:ext uri="{FF2B5EF4-FFF2-40B4-BE49-F238E27FC236}">
                <a16:creationId xmlns:a16="http://schemas.microsoft.com/office/drawing/2014/main" id="{E994F905-28B2-46B5-9B80-92FC13012577}"/>
              </a:ext>
            </a:extLst>
          </p:cNvPr>
          <p:cNvSpPr>
            <a:spLocks xmlns:a="http://schemas.openxmlformats.org/drawingml/2006/main" noGrp="1"/>
          </p:cNvSpPr>
          <p:nvPr/>
        </p:nvSpPr>
        <p:spPr>
          <a:xfrm xmlns:a="http://schemas.openxmlformats.org/drawingml/2006/main">
            <a:off x="3390900" y="97155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3B1118"/>
                </a:solidFill>
              </a:defRPr>
            </a:pPr>
            <a:r>
              <a:rPr sz="1950" b="1">
                <a:solidFill>
                  <a:srgbClr val="3B1118"/>
                </a:solidFill>
              </a:rPr>
              <a:t>1  One idea I can now explain</a:t>
            </a:r>
          </a:p>
        </p:txBody>
      </p:sp>
      <p:sp>
        <p:nvSpPr>
          <p:cNvPr id="6" name="">
            <a:extLst xmlns:a="http://schemas.openxmlformats.org/drawingml/2006/main">
              <a:ext uri="{FF2B5EF4-FFF2-40B4-BE49-F238E27FC236}">
                <a16:creationId xmlns:a16="http://schemas.microsoft.com/office/drawing/2014/main" id="{FD8B85C4-6E94-4B62-AB75-D9BC18C966A2}"/>
              </a:ext>
            </a:extLst>
          </p:cNvPr>
          <p:cNvSpPr>
            <a:spLocks xmlns:a="http://schemas.openxmlformats.org/drawingml/2006/main" noGrp="1"/>
          </p:cNvSpPr>
          <p:nvPr/>
        </p:nvSpPr>
        <p:spPr>
          <a:xfrm xmlns:a="http://schemas.openxmlformats.org/drawingml/2006/main">
            <a:off x="3390900" y="1847850"/>
            <a:ext cx="762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3B1118"/>
                </a:solidFill>
              </a:defRPr>
            </a:pPr>
            <a:r>
              <a:rPr sz="1950" b="1">
                <a:solidFill>
                  <a:srgbClr val="3B1118"/>
                </a:solidFill>
              </a:rPr>
              <a:t>2  One visual feature or relationship I can point to</a:t>
            </a:r>
          </a:p>
        </p:txBody>
      </p:sp>
      <p:sp>
        <p:nvSpPr>
          <p:cNvPr id="7" name="">
            <a:extLst xmlns:a="http://schemas.openxmlformats.org/drawingml/2006/main">
              <a:ext uri="{FF2B5EF4-FFF2-40B4-BE49-F238E27FC236}">
                <a16:creationId xmlns:a16="http://schemas.microsoft.com/office/drawing/2014/main" id="{419AD4B8-9848-4115-9BB8-2D8813F3B343}"/>
              </a:ext>
            </a:extLst>
          </p:cNvPr>
          <p:cNvSpPr>
            <a:spLocks xmlns:a="http://schemas.openxmlformats.org/drawingml/2006/main" noGrp="1"/>
          </p:cNvSpPr>
          <p:nvPr/>
        </p:nvSpPr>
        <p:spPr>
          <a:xfrm xmlns:a="http://schemas.openxmlformats.org/drawingml/2006/main">
            <a:off x="3390900" y="28765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3B1118"/>
                </a:solidFill>
              </a:defRPr>
            </a:pPr>
            <a:r>
              <a:rPr sz="1950" b="1">
                <a:solidFill>
                  <a:srgbClr val="3B1118"/>
                </a:solidFill>
              </a:rPr>
              <a:t>3  One claim I must keep within the evidence</a:t>
            </a:r>
          </a:p>
        </p:txBody>
      </p:sp>
      <p:sp>
        <p:nvSpPr>
          <p:cNvPr id="8" name="">
            <a:extLst xmlns:a="http://schemas.openxmlformats.org/drawingml/2006/main">
              <a:ext uri="{FF2B5EF4-FFF2-40B4-BE49-F238E27FC236}">
                <a16:creationId xmlns:a16="http://schemas.microsoft.com/office/drawing/2014/main" id="{73898055-3E92-427A-B2DD-6D0446A28E8E}"/>
              </a:ext>
            </a:extLst>
          </p:cNvPr>
          <p:cNvSpPr>
            <a:spLocks xmlns:a="http://schemas.openxmlformats.org/drawingml/2006/main" noGrp="1"/>
          </p:cNvSpPr>
          <p:nvPr/>
        </p:nvSpPr>
        <p:spPr>
          <a:xfrm xmlns:a="http://schemas.openxmlformats.org/drawingml/2006/main">
            <a:off x="3390900" y="4000500"/>
            <a:ext cx="750570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D8C9CC"/>
            </a:solidFill>
            <a:prstDash val="solid"/>
          </a:ln>
        </p:spPr>
      </p:sp>
      <p:sp>
        <p:nvSpPr>
          <p:cNvPr id="9" name="">
            <a:extLst xmlns:a="http://schemas.openxmlformats.org/drawingml/2006/main">
              <a:ext uri="{FF2B5EF4-FFF2-40B4-BE49-F238E27FC236}">
                <a16:creationId xmlns:a16="http://schemas.microsoft.com/office/drawing/2014/main" id="{BBD7382B-FBA1-47CF-9A2F-5BAA1B0381F7}"/>
              </a:ext>
            </a:extLst>
          </p:cNvPr>
          <p:cNvSpPr>
            <a:spLocks xmlns:a="http://schemas.openxmlformats.org/drawingml/2006/main" noGrp="1"/>
          </p:cNvSpPr>
          <p:nvPr/>
        </p:nvSpPr>
        <p:spPr>
          <a:xfrm xmlns:a="http://schemas.openxmlformats.org/drawingml/2006/main">
            <a:off x="3676650" y="4248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SAVE TO MY FOLIO</a:t>
            </a:r>
          </a:p>
        </p:txBody>
      </p:sp>
      <p:sp>
        <p:nvSpPr>
          <p:cNvPr id="10" name="">
            <a:extLst xmlns:a="http://schemas.openxmlformats.org/drawingml/2006/main">
              <a:ext uri="{FF2B5EF4-FFF2-40B4-BE49-F238E27FC236}">
                <a16:creationId xmlns:a16="http://schemas.microsoft.com/office/drawing/2014/main" id="{064E2F73-E0F7-4951-810B-EC8CC41DBEEF}"/>
              </a:ext>
            </a:extLst>
          </p:cNvPr>
          <p:cNvSpPr>
            <a:spLocks xmlns:a="http://schemas.openxmlformats.org/drawingml/2006/main" noGrp="1"/>
          </p:cNvSpPr>
          <p:nvPr/>
        </p:nvSpPr>
        <p:spPr>
          <a:xfrm xmlns:a="http://schemas.openxmlformats.org/drawingml/2006/main">
            <a:off x="3676650" y="4667250"/>
            <a:ext cx="6800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25171A"/>
                </a:solidFill>
              </a:defRPr>
            </a:pPr>
            <a:r>
              <a:rPr sz="1500">
                <a:solidFill>
                  <a:srgbClr val="25171A"/>
                </a:solidFill>
              </a:rPr>
              <a:t>One dated drawing, process image or decision record; a caption explaining what it proves; and your reasoned reflection.</a:t>
            </a:r>
          </a:p>
        </p:txBody>
      </p:sp>
      <p:sp>
        <p:nvSpPr>
          <p:cNvPr id="11" name="">
            <a:extLst xmlns:a="http://schemas.openxmlformats.org/drawingml/2006/main">
              <a:ext uri="{FF2B5EF4-FFF2-40B4-BE49-F238E27FC236}">
                <a16:creationId xmlns:a16="http://schemas.microsoft.com/office/drawing/2014/main" id="{60E7B04D-6283-483D-9A6D-D0E422BFCF5B}"/>
              </a:ext>
            </a:extLst>
          </p:cNvPr>
          <p:cNvSpPr>
            <a:spLocks xmlns:a="http://schemas.openxmlformats.org/drawingml/2006/main" noGrp="1"/>
          </p:cNvSpPr>
          <p:nvPr/>
        </p:nvSpPr>
        <p:spPr>
          <a:xfrm xmlns:a="http://schemas.openxmlformats.org/drawingml/2006/main">
            <a:off x="3390900" y="5791200"/>
            <a:ext cx="750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66585B"/>
                </a:solidFill>
              </a:defRPr>
            </a:pPr>
            <a:r>
              <a:rPr sz="1350" b="1">
                <a:solidFill>
                  <a:srgbClr val="66585B"/>
                </a:solidFill>
              </a:rPr>
              <a:t>Next: open the matching section package for feedback, then save the stronger response—not every draft.</a:t>
            </a:r>
          </a:p>
        </p:txBody>
      </p:sp>
      <p:sp>
        <p:nvSpPr>
          <p:cNvPr id="12" name="">
            <a:extLst xmlns:a="http://schemas.openxmlformats.org/drawingml/2006/main">
              <a:ext uri="{FF2B5EF4-FFF2-40B4-BE49-F238E27FC236}">
                <a16:creationId xmlns:a16="http://schemas.microsoft.com/office/drawing/2014/main" id="{F032FE64-EEF2-4590-BA42-CC03D6CEB8ED}"/>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6546312-6D9C-43CD-A0B7-E56C9B0ED0B5}"/>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3</a:t>
            </a:r>
          </a:p>
        </p:txBody>
      </p:sp>
      <p:sp>
        <p:nvSpPr>
          <p:cNvPr id="14" name="">
            <a:extLst xmlns:a="http://schemas.openxmlformats.org/drawingml/2006/main">
              <a:ext uri="{FF2B5EF4-FFF2-40B4-BE49-F238E27FC236}">
                <a16:creationId xmlns:a16="http://schemas.microsoft.com/office/drawing/2014/main" id="{40F0BB3D-97EE-46BA-BDD6-101E7E7B965C}"/>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08</a:t>
            </a:r>
          </a:p>
        </p:txBody>
      </p:sp>
    </p:spTree>
    <p:extLst>
      <p:ext uri="{BB962C8B-B14F-4D97-AF65-F5344CB8AC3E}">
        <p14:creationId xmlns:p14="http://schemas.microsoft.com/office/powerpoint/2010/main" val="20920101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2026-08-30T01:40:58.9540000Z</dcterms:created>
  <dcterms:modified xsi:type="dcterms:W3CDTF">2026-08-30T01:40:58.9540000Z</dcterms:modified>
</coreProperties>
</file>